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Part One of the RCC onboarding curriculum. This lesson is designed for biomedical researchers who may be very experienced in their scientific domain but new to Linux clusters. We will build a mental model before using any commands. You will see what runs on your own computer, what runs on the cluster, why secure shell is used, how Visual Studio Code connects, how data transfer differs from interactive login, and why Slurm controls compute jobs. By the end, you should be able to connect, move a small test file, submit a batch job, and verify where it ran. The examples are intentionally small and contain no sensitive research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 RCC as a shared scientific instrument rather than a faster desktop computer. The login host is the reception desk. It authenticates you and lets you prepare work, but it is not intended for heavy analysis. Compute nodes are the instruments that run CPU, memory, or GPU intensive jobs. Shared storage holds project data and results. Slurm is the booking and scheduling system that decides when and where a job can run. This separation protects other users and makes large analyses repeatable. A command typed in the wrong place can affect many people, so every tutorial will tell you where a command runs and what success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major source of confusion is the local and remote split. Your keyboard, web browser, and normal desktop applications are local. When secure shell is connected, the terminal prompt is remote and commands execute on the RCC. Visual Studio Code also has two sides: the graphical application remains on your laptop, while its remote extension starts helper processes on the cluster and opens remote files. Always inspect the hostname, current directory, and prompt before deleting or moving files. A file in Downloads on Windows or macOS is not automatically visible on RCC storage. It must be transferred through an approved transfer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Secure Shell, usually called S S H, provides an encrypted channel between your computer and the cluster. Encryption protects credentials and commands while they travel across networks. An SSH key pair has a private key and a public key. The private key stays on your own computer. The public key can be registered with RCC. During login, the two sides prove that the correct private key is present without sending that private key to the server. A passphrase protects the private key if the laptop is lost. Store that passphrase in an approved password manager before you finish creating the key. Never email or upload the private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Windows, use a current supported version with the built-in OpenSSH client. PowerShell is the simplest terminal for the first test. On macOS, the Terminal application already includes an SSH client. Install the desktop version of Visual Studio Code and then install the Microsoft Remote - SSH extension. The sequence matters. First prove that the command line connection works. Only then configure VS Code, because the editor uses the same SSH configuration underneath. This makes errors easier to diagnose. Keep your operating system updated and do not install keys or configuration files from untrusted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RCC connection may use a gateway before reaching the submission host. ProxyJump tells SSH to authenticate through the gateway while preserving end-to-end SSH behavior. A small configuration file gives the route a memorable alias such as R C C. The exact hostnames and official host-key fingerprints must come from RCC administrators. Do not accept a changed fingerprint merely because a dialog appears. A changed key can indicate a rebuilt host, a configuration issue, or an attack. Test the route in a normal terminal and record the exact error message if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Studio Code is not itself the cluster. The window runs locally, but the Remote - SSH extension opens a workspace on the RCC submission host. A colored remote indicator shows the active connection. The Explorer then lists remote files, and the integrated terminal starts remotely. Extensions may need a remote installation because some code runs near the files. Before editing, verify the remote indicator, run hostname in the terminal, and open the intended project directory rather than your entire home directory. Do not launch long analyses in the integrated terminal. Use Slurm, and use tmux only to protect the lightweight workflow controller or monitoring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SSH is optimized for commands, not for moving large biomedical datasets. The approved browser transfer service provides a managed path for uploads and downloads. Use a project directory agreed with your group, not a random folder in your home directory. Transfer only data permitted by the project and institutional policy. For a small training file, calculate a SHA two fifty-six checksum locally, upload the file, calculate the checksum on RCC, and compare the values. Matching checksums show that the bytes are identical. For clinical or identifiable data, follow the approved data-protection process rather than improvising with personal cloud storage or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Slurm is the resource manager. Instead of choosing a compute node yourself, you describe the resources required by a job: time, CPUs, memory, and sometimes a GPU. Slurm queues the job, finds a suitable node, starts the job, records its state, and releases resources afterwards. The request should be realistic. Too little memory can kill the job; too much memory can delay scheduling and waste capacity. A batch script is a plain text record of the command and requested resources. That makes it easier to repeat, audit, and share than an undocumented interactive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job should be deliberately simple. Create a working directory and a batch script that requests one CPU, a small amount of memory, and a few minutes. The script prints the hostname, creates a few numbers, and calculates a mean using standard tools. Submit it with s batch. Slurm returns a job identifier. Use s queue to see whether it is pending or running, and s acct after completion to inspect the final state. Open the output log and confirm that the hostname belongs to a compute node. The important lesson is the job lifecycle, not the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SSH connection ends when the laptop sleeps, the network changes, or the terminal closes. T mux creates a persistent terminal session on the remote host. You can detach, disconnect, reconnect later, and reattach. This is useful for editing, monitoring, or running a Snakemake controller that submits jobs to Slurm. It does not grant more compute resources and it does not make it acceptable to run heavy analysis on the login host. A good mental model is that tmux preserves the steering wheel, while Slurm provides the engine. Name sessions clearly and close them when the work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ready to continue when you can demonstrate each outcome rather than merely following the steps once. You can identify whether a terminal is local or remote. You can explain the difference between your private and public keys. You have verified the official server fingerprint. Command-line SSH works before Visual Studio Code. You can open the correct remote project directory. You can transfer a small non-sensitive file and match its checksum. You can submit a batch script, observe its job identifier, and confirm that it completed on a compute node. Keep the commands and logs; they are useful evidence when asking for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6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7C83"/>
          </a:solidFill>
          <a:ln w="12700">
            <a:solidFill>
              <a:srgbClr val="007C83">
                <a:alpha val="0"/>
              </a:srgbClr>
            </a:solidFill>
            <a:prstDash val="solid"/>
          </a:ln>
        </p:spPr>
      </p:sp>
      <p:sp>
        <p:nvSpPr>
          <p:cNvPr id="3" name="Shape 1"/>
          <p:cNvSpPr/>
          <p:nvPr/>
        </p:nvSpPr>
        <p:spPr>
          <a:xfrm>
            <a:off x="228600" y="228600"/>
            <a:ext cx="11734495" cy="6400800"/>
          </a:xfrm>
          <a:prstGeom prst="rect">
            <a:avLst/>
          </a:prstGeom>
          <a:solidFill>
            <a:srgbClr val="FFFFFF">
              <a:alpha val="0"/>
            </a:srgbClr>
          </a:solidFill>
          <a:ln w="12700">
            <a:solidFill>
              <a:srgbClr val="FFFFFF">
                <a:alpha val="0"/>
              </a:srgbClr>
            </a:solidFill>
            <a:prstDash val="solid"/>
          </a:ln>
        </p:spPr>
      </p:sp>
      <p:sp>
        <p:nvSpPr>
          <p:cNvPr id="4" name="Text 2"/>
          <p:cNvSpPr/>
          <p:nvPr/>
        </p:nvSpPr>
        <p:spPr>
          <a:xfrm>
            <a:off x="914400" y="685800"/>
            <a:ext cx="2011680" cy="347472"/>
          </a:xfrm>
          <a:prstGeom prst="rect">
            <a:avLst/>
          </a:prstGeom>
          <a:noFill/>
          <a:ln/>
        </p:spPr>
        <p:txBody>
          <a:bodyPr wrap="square" lIns="0" tIns="0" rIns="0" bIns="0" rtlCol="0" anchor="ctr">
            <a:normAutofit/>
          </a:bodyPr>
          <a:lstStyle/>
          <a:p>
            <a:pPr algn="l" indent="0" marL="0">
              <a:buNone/>
            </a:pPr>
            <a:r>
              <a:rPr lang="en-US" sz="1600" b="1" spc="250" kern="0" dirty="0">
                <a:solidFill>
                  <a:srgbClr val="FFFFFF"/>
                </a:solidFill>
                <a:latin typeface="Liberation Sans" pitchFamily="34" charset="0"/>
                <a:ea typeface="Liberation Sans" pitchFamily="34" charset="-122"/>
                <a:cs typeface="Liberation Sans" pitchFamily="34" charset="-120"/>
              </a:rPr>
              <a:t>PART 1</a:t>
            </a:r>
            <a:endParaRPr lang="en-US" sz="1600" dirty="0"/>
          </a:p>
        </p:txBody>
      </p:sp>
      <p:sp>
        <p:nvSpPr>
          <p:cNvPr id="5" name="Text 3"/>
          <p:cNvSpPr/>
          <p:nvPr/>
        </p:nvSpPr>
        <p:spPr>
          <a:xfrm>
            <a:off x="914400" y="1234440"/>
            <a:ext cx="9966960" cy="1097280"/>
          </a:xfrm>
          <a:prstGeom prst="rect">
            <a:avLst/>
          </a:prstGeom>
          <a:noFill/>
          <a:ln/>
        </p:spPr>
        <p:txBody>
          <a:bodyPr wrap="square" lIns="0" tIns="0" rIns="0" bIns="0" rtlCol="0" anchor="t">
            <a:normAutofit/>
          </a:bodyPr>
          <a:lstStyle/>
          <a:p>
            <a:pPr algn="l" indent="0" marL="0">
              <a:buNone/>
            </a:pPr>
            <a:r>
              <a:rPr lang="en-US" sz="3400" b="1" dirty="0">
                <a:solidFill>
                  <a:srgbClr val="FFFFFF"/>
                </a:solidFill>
                <a:latin typeface="Liberation Sans" pitchFamily="34" charset="0"/>
                <a:ea typeface="Liberation Sans" pitchFamily="34" charset="-122"/>
                <a:cs typeface="Liberation Sans" pitchFamily="34" charset="-120"/>
              </a:rPr>
              <a:t>Your first day on the RCC cluster</a:t>
            </a:r>
            <a:endParaRPr lang="en-US" sz="3400" dirty="0"/>
          </a:p>
        </p:txBody>
      </p:sp>
      <p:sp>
        <p:nvSpPr>
          <p:cNvPr id="6" name="Text 4"/>
          <p:cNvSpPr/>
          <p:nvPr/>
        </p:nvSpPr>
        <p:spPr>
          <a:xfrm>
            <a:off x="932688" y="2487168"/>
            <a:ext cx="9601200" cy="822960"/>
          </a:xfrm>
          <a:prstGeom prst="rect">
            <a:avLst/>
          </a:prstGeom>
          <a:noFill/>
          <a:ln/>
        </p:spPr>
        <p:txBody>
          <a:bodyPr wrap="square" lIns="0" tIns="0" rIns="0" bIns="0" rtlCol="0" anchor="t">
            <a:normAutofit/>
          </a:bodyPr>
          <a:lstStyle/>
          <a:p>
            <a:pPr algn="l" indent="0" marL="0">
              <a:buNone/>
            </a:pPr>
            <a:r>
              <a:rPr lang="en-US" sz="1900" dirty="0">
                <a:solidFill>
                  <a:srgbClr val="FFFFFF"/>
                </a:solidFill>
                <a:latin typeface="Liberation Sans" pitchFamily="34" charset="0"/>
                <a:ea typeface="Liberation Sans" pitchFamily="34" charset="-122"/>
                <a:cs typeface="Liberation Sans" pitchFamily="34" charset="-120"/>
              </a:rPr>
              <a:t>Understand the cluster, connect safely, transfer data, and run a first Slurm job.</a:t>
            </a:r>
            <a:endParaRPr lang="en-US" sz="1900" dirty="0"/>
          </a:p>
        </p:txBody>
      </p:sp>
      <p:sp>
        <p:nvSpPr>
          <p:cNvPr id="7" name="Shape 5"/>
          <p:cNvSpPr/>
          <p:nvPr/>
        </p:nvSpPr>
        <p:spPr>
          <a:xfrm>
            <a:off x="914400" y="3977640"/>
            <a:ext cx="5120640" cy="1051560"/>
          </a:xfrm>
          <a:prstGeom prst="roundRect">
            <a:avLst/>
          </a:prstGeom>
          <a:solidFill>
            <a:srgbClr val="FFFFFF">
              <a:alpha val="12000"/>
            </a:srgbClr>
          </a:solidFill>
          <a:ln w="12700">
            <a:solidFill>
              <a:srgbClr val="FFFFFF">
                <a:alpha val="25000"/>
              </a:srgbClr>
            </a:solidFill>
            <a:prstDash val="solid"/>
          </a:ln>
        </p:spPr>
      </p:sp>
      <p:sp>
        <p:nvSpPr>
          <p:cNvPr id="8" name="Text 6"/>
          <p:cNvSpPr/>
          <p:nvPr/>
        </p:nvSpPr>
        <p:spPr>
          <a:xfrm>
            <a:off x="1170432" y="4187952"/>
            <a:ext cx="4617720" cy="658368"/>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Liberation Sans" pitchFamily="34" charset="0"/>
                <a:ea typeface="Liberation Sans" pitchFamily="34" charset="-122"/>
                <a:cs typeface="Liberation Sans" pitchFamily="34" charset="-120"/>
              </a:rPr>
              <a:t>Outcome: a verified remote session and a completed batch job - without treating the login node as a workstation.</a:t>
            </a:r>
            <a:endParaRPr lang="en-US" sz="1600" dirty="0"/>
          </a:p>
        </p:txBody>
      </p:sp>
      <p:sp>
        <p:nvSpPr>
          <p:cNvPr id="9" name="Text 7"/>
          <p:cNvSpPr/>
          <p:nvPr/>
        </p:nvSpPr>
        <p:spPr>
          <a:xfrm>
            <a:off x="932688" y="5852160"/>
            <a:ext cx="7955280" cy="320040"/>
          </a:xfrm>
          <a:prstGeom prst="rect">
            <a:avLst/>
          </a:prstGeom>
          <a:noFill/>
          <a:ln/>
        </p:spPr>
        <p:txBody>
          <a:bodyPr wrap="square" lIns="0" tIns="0" rIns="0" bIns="0" rtlCol="0" anchor="ctr">
            <a:normAutofit/>
          </a:bodyPr>
          <a:lstStyle/>
          <a:p>
            <a:pPr algn="l" indent="0" marL="0">
              <a:buNone/>
            </a:pPr>
            <a:r>
              <a:rPr lang="en-US" sz="1300" dirty="0">
                <a:solidFill>
                  <a:srgbClr val="FFFFFF"/>
                </a:solidFill>
                <a:latin typeface="Liberation Sans" pitchFamily="34" charset="0"/>
                <a:ea typeface="Liberation Sans" pitchFamily="34" charset="-122"/>
                <a:cs typeface="Liberation Sans" pitchFamily="34" charset="-120"/>
              </a:rPr>
              <a:t>For biomedical researchers new to distributed computing</a:t>
            </a:r>
            <a:endParaRPr lang="en-US" sz="1300" dirty="0"/>
          </a:p>
        </p:txBody>
      </p:sp>
      <p:sp>
        <p:nvSpPr>
          <p:cNvPr id="10" name="Text 8"/>
          <p:cNvSpPr/>
          <p:nvPr/>
        </p:nvSpPr>
        <p:spPr>
          <a:xfrm>
            <a:off x="9326880" y="5852160"/>
            <a:ext cx="1920240" cy="320040"/>
          </a:xfrm>
          <a:prstGeom prst="rect">
            <a:avLst/>
          </a:prstGeom>
          <a:noFill/>
          <a:ln/>
        </p:spPr>
        <p:txBody>
          <a:bodyPr wrap="square" lIns="0" tIns="0" rIns="0" bIns="0" rtlCol="0" anchor="ctr">
            <a:normAutofit/>
          </a:bodyPr>
          <a:lstStyle/>
          <a:p>
            <a:pPr algn="r" indent="0" marL="0">
              <a:buNone/>
            </a:pPr>
            <a:r>
              <a:rPr lang="en-US" sz="1100" dirty="0">
                <a:solidFill>
                  <a:srgbClr val="FFFFFF"/>
                </a:solidFill>
                <a:latin typeface="Liberation Sans" pitchFamily="34" charset="0"/>
                <a:ea typeface="Liberation Sans" pitchFamily="34" charset="-122"/>
                <a:cs typeface="Liberation Sans" pitchFamily="34" charset="-120"/>
              </a:rPr>
              <a:t>RCC onboarding curriculum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 A cluster is a shared scientific instrument</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Many computers, one coordinated service</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2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502920" y="1874520"/>
            <a:ext cx="1920240" cy="2057400"/>
          </a:xfrm>
          <a:prstGeom prst="roundRect">
            <a:avLst>
              <a:gd name="adj" fmla="val 3810"/>
            </a:avLst>
          </a:prstGeom>
          <a:solidFill>
            <a:srgbClr val="FFFFFF"/>
          </a:solidFill>
          <a:ln w="12700">
            <a:solidFill>
              <a:srgbClr val="D7E0E7"/>
            </a:solidFill>
            <a:prstDash val="solid"/>
          </a:ln>
        </p:spPr>
      </p:sp>
      <p:sp>
        <p:nvSpPr>
          <p:cNvPr id="9" name="Shape 7"/>
          <p:cNvSpPr/>
          <p:nvPr/>
        </p:nvSpPr>
        <p:spPr>
          <a:xfrm>
            <a:off x="502920" y="1874520"/>
            <a:ext cx="64008" cy="2057400"/>
          </a:xfrm>
          <a:prstGeom prst="rect">
            <a:avLst/>
          </a:prstGeom>
          <a:solidFill>
            <a:srgbClr val="007C83"/>
          </a:solidFill>
          <a:ln w="12700">
            <a:solidFill>
              <a:srgbClr val="007C83">
                <a:alpha val="0"/>
              </a:srgbClr>
            </a:solidFill>
            <a:prstDash val="solid"/>
          </a:ln>
        </p:spPr>
      </p:sp>
      <p:sp>
        <p:nvSpPr>
          <p:cNvPr id="10" name="Text 8"/>
          <p:cNvSpPr/>
          <p:nvPr/>
        </p:nvSpPr>
        <p:spPr>
          <a:xfrm>
            <a:off x="704088" y="2020824"/>
            <a:ext cx="1572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Your laptop</a:t>
            </a:r>
            <a:endParaRPr lang="en-US" sz="1700" dirty="0"/>
          </a:p>
        </p:txBody>
      </p:sp>
      <p:sp>
        <p:nvSpPr>
          <p:cNvPr id="11" name="Text 9"/>
          <p:cNvSpPr/>
          <p:nvPr/>
        </p:nvSpPr>
        <p:spPr>
          <a:xfrm>
            <a:off x="704088" y="2404872"/>
            <a:ext cx="1572768" cy="139903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Editor, terminal</a:t>
            </a:r>
            <a:endParaRPr lang="en-US" sz="1500" dirty="0"/>
          </a:p>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and local files</a:t>
            </a:r>
            <a:endParaRPr lang="en-US" sz="1500" dirty="0"/>
          </a:p>
        </p:txBody>
      </p:sp>
      <p:sp>
        <p:nvSpPr>
          <p:cNvPr id="12" name="Shape 10"/>
          <p:cNvSpPr/>
          <p:nvPr/>
        </p:nvSpPr>
        <p:spPr>
          <a:xfrm>
            <a:off x="2423160" y="2889504"/>
            <a:ext cx="393192" cy="0"/>
          </a:xfrm>
          <a:prstGeom prst="line">
            <a:avLst/>
          </a:prstGeom>
          <a:noFill/>
          <a:ln w="25400">
            <a:solidFill>
              <a:srgbClr val="5E6B78"/>
            </a:solidFill>
            <a:prstDash val="solid"/>
            <a:headEnd type="none"/>
            <a:tailEnd type="triangle"/>
          </a:ln>
        </p:spPr>
      </p:sp>
      <p:sp>
        <p:nvSpPr>
          <p:cNvPr id="13" name="Shape 11"/>
          <p:cNvSpPr/>
          <p:nvPr/>
        </p:nvSpPr>
        <p:spPr>
          <a:xfrm>
            <a:off x="2816352" y="1874520"/>
            <a:ext cx="1920240" cy="2057400"/>
          </a:xfrm>
          <a:prstGeom prst="roundRect">
            <a:avLst>
              <a:gd name="adj" fmla="val 3810"/>
            </a:avLst>
          </a:prstGeom>
          <a:solidFill>
            <a:srgbClr val="FFFFFF"/>
          </a:solidFill>
          <a:ln w="12700">
            <a:solidFill>
              <a:srgbClr val="D7E0E7"/>
            </a:solidFill>
            <a:prstDash val="solid"/>
          </a:ln>
        </p:spPr>
      </p:sp>
      <p:sp>
        <p:nvSpPr>
          <p:cNvPr id="14" name="Shape 12"/>
          <p:cNvSpPr/>
          <p:nvPr/>
        </p:nvSpPr>
        <p:spPr>
          <a:xfrm>
            <a:off x="2816352" y="1874520"/>
            <a:ext cx="64008" cy="2057400"/>
          </a:xfrm>
          <a:prstGeom prst="rect">
            <a:avLst/>
          </a:prstGeom>
          <a:solidFill>
            <a:srgbClr val="007C83"/>
          </a:solidFill>
          <a:ln w="12700">
            <a:solidFill>
              <a:srgbClr val="007C83">
                <a:alpha val="0"/>
              </a:srgbClr>
            </a:solidFill>
            <a:prstDash val="solid"/>
          </a:ln>
        </p:spPr>
      </p:sp>
      <p:sp>
        <p:nvSpPr>
          <p:cNvPr id="15" name="Text 13"/>
          <p:cNvSpPr/>
          <p:nvPr/>
        </p:nvSpPr>
        <p:spPr>
          <a:xfrm>
            <a:off x="3017520" y="2020824"/>
            <a:ext cx="1572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Login host</a:t>
            </a:r>
            <a:endParaRPr lang="en-US" sz="1700" dirty="0"/>
          </a:p>
        </p:txBody>
      </p:sp>
      <p:sp>
        <p:nvSpPr>
          <p:cNvPr id="16" name="Text 14"/>
          <p:cNvSpPr/>
          <p:nvPr/>
        </p:nvSpPr>
        <p:spPr>
          <a:xfrm>
            <a:off x="3017520" y="2404872"/>
            <a:ext cx="1572768" cy="139903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Authentication</a:t>
            </a:r>
            <a:endParaRPr lang="en-US" sz="1500" dirty="0"/>
          </a:p>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and preparation</a:t>
            </a:r>
            <a:endParaRPr lang="en-US" sz="1500" dirty="0"/>
          </a:p>
        </p:txBody>
      </p:sp>
      <p:sp>
        <p:nvSpPr>
          <p:cNvPr id="17" name="Shape 15"/>
          <p:cNvSpPr/>
          <p:nvPr/>
        </p:nvSpPr>
        <p:spPr>
          <a:xfrm>
            <a:off x="4736592" y="2889504"/>
            <a:ext cx="393192" cy="0"/>
          </a:xfrm>
          <a:prstGeom prst="line">
            <a:avLst/>
          </a:prstGeom>
          <a:noFill/>
          <a:ln w="25400">
            <a:solidFill>
              <a:srgbClr val="D15B47"/>
            </a:solidFill>
            <a:prstDash val="solid"/>
            <a:headEnd type="none"/>
            <a:tailEnd type="triangle"/>
          </a:ln>
        </p:spPr>
      </p:sp>
      <p:sp>
        <p:nvSpPr>
          <p:cNvPr id="18" name="Shape 16"/>
          <p:cNvSpPr/>
          <p:nvPr/>
        </p:nvSpPr>
        <p:spPr>
          <a:xfrm>
            <a:off x="5129784" y="1874520"/>
            <a:ext cx="1920240" cy="2057400"/>
          </a:xfrm>
          <a:prstGeom prst="roundRect">
            <a:avLst>
              <a:gd name="adj" fmla="val 3810"/>
            </a:avLst>
          </a:prstGeom>
          <a:solidFill>
            <a:srgbClr val="FFFFFF"/>
          </a:solidFill>
          <a:ln w="12700">
            <a:solidFill>
              <a:srgbClr val="D7E0E7"/>
            </a:solidFill>
            <a:prstDash val="solid"/>
          </a:ln>
        </p:spPr>
      </p:sp>
      <p:sp>
        <p:nvSpPr>
          <p:cNvPr id="19" name="Shape 17"/>
          <p:cNvSpPr/>
          <p:nvPr/>
        </p:nvSpPr>
        <p:spPr>
          <a:xfrm>
            <a:off x="5129784" y="1874520"/>
            <a:ext cx="64008" cy="2057400"/>
          </a:xfrm>
          <a:prstGeom prst="rect">
            <a:avLst/>
          </a:prstGeom>
          <a:solidFill>
            <a:srgbClr val="D15B47"/>
          </a:solidFill>
          <a:ln w="12700">
            <a:solidFill>
              <a:srgbClr val="D15B47">
                <a:alpha val="0"/>
              </a:srgbClr>
            </a:solidFill>
            <a:prstDash val="solid"/>
          </a:ln>
        </p:spPr>
      </p:sp>
      <p:sp>
        <p:nvSpPr>
          <p:cNvPr id="20" name="Text 18"/>
          <p:cNvSpPr/>
          <p:nvPr/>
        </p:nvSpPr>
        <p:spPr>
          <a:xfrm>
            <a:off x="5330952" y="2020824"/>
            <a:ext cx="1572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Slurm</a:t>
            </a:r>
            <a:endParaRPr lang="en-US" sz="1700" dirty="0"/>
          </a:p>
        </p:txBody>
      </p:sp>
      <p:sp>
        <p:nvSpPr>
          <p:cNvPr id="21" name="Text 19"/>
          <p:cNvSpPr/>
          <p:nvPr/>
        </p:nvSpPr>
        <p:spPr>
          <a:xfrm>
            <a:off x="5330952" y="2404872"/>
            <a:ext cx="1572768" cy="139903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Queues and</a:t>
            </a:r>
            <a:endParaRPr lang="en-US" sz="1500" dirty="0"/>
          </a:p>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resource allocation</a:t>
            </a:r>
            <a:endParaRPr lang="en-US" sz="1500" dirty="0"/>
          </a:p>
        </p:txBody>
      </p:sp>
      <p:sp>
        <p:nvSpPr>
          <p:cNvPr id="22" name="Shape 20"/>
          <p:cNvSpPr/>
          <p:nvPr/>
        </p:nvSpPr>
        <p:spPr>
          <a:xfrm>
            <a:off x="7050024" y="2889504"/>
            <a:ext cx="393192" cy="0"/>
          </a:xfrm>
          <a:prstGeom prst="line">
            <a:avLst/>
          </a:prstGeom>
          <a:noFill/>
          <a:ln w="25400">
            <a:solidFill>
              <a:srgbClr val="5E6B78"/>
            </a:solidFill>
            <a:prstDash val="solid"/>
            <a:headEnd type="none"/>
            <a:tailEnd type="triangle"/>
          </a:ln>
        </p:spPr>
      </p:sp>
      <p:sp>
        <p:nvSpPr>
          <p:cNvPr id="23" name="Shape 21"/>
          <p:cNvSpPr/>
          <p:nvPr/>
        </p:nvSpPr>
        <p:spPr>
          <a:xfrm>
            <a:off x="7443216" y="1874520"/>
            <a:ext cx="1920240" cy="2057400"/>
          </a:xfrm>
          <a:prstGeom prst="roundRect">
            <a:avLst>
              <a:gd name="adj" fmla="val 3810"/>
            </a:avLst>
          </a:prstGeom>
          <a:solidFill>
            <a:srgbClr val="FFFFFF"/>
          </a:solidFill>
          <a:ln w="12700">
            <a:solidFill>
              <a:srgbClr val="D7E0E7"/>
            </a:solidFill>
            <a:prstDash val="solid"/>
          </a:ln>
        </p:spPr>
      </p:sp>
      <p:sp>
        <p:nvSpPr>
          <p:cNvPr id="24" name="Shape 22"/>
          <p:cNvSpPr/>
          <p:nvPr/>
        </p:nvSpPr>
        <p:spPr>
          <a:xfrm>
            <a:off x="7443216" y="1874520"/>
            <a:ext cx="64008" cy="2057400"/>
          </a:xfrm>
          <a:prstGeom prst="rect">
            <a:avLst/>
          </a:prstGeom>
          <a:solidFill>
            <a:srgbClr val="007C83"/>
          </a:solidFill>
          <a:ln w="12700">
            <a:solidFill>
              <a:srgbClr val="007C83">
                <a:alpha val="0"/>
              </a:srgbClr>
            </a:solidFill>
            <a:prstDash val="solid"/>
          </a:ln>
        </p:spPr>
      </p:sp>
      <p:sp>
        <p:nvSpPr>
          <p:cNvPr id="25" name="Text 23"/>
          <p:cNvSpPr/>
          <p:nvPr/>
        </p:nvSpPr>
        <p:spPr>
          <a:xfrm>
            <a:off x="7644384" y="2020824"/>
            <a:ext cx="1572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Compute node</a:t>
            </a:r>
            <a:endParaRPr lang="en-US" sz="1700" dirty="0"/>
          </a:p>
        </p:txBody>
      </p:sp>
      <p:sp>
        <p:nvSpPr>
          <p:cNvPr id="26" name="Text 24"/>
          <p:cNvSpPr/>
          <p:nvPr/>
        </p:nvSpPr>
        <p:spPr>
          <a:xfrm>
            <a:off x="7644384" y="2404872"/>
            <a:ext cx="1572768" cy="139903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Analysis runs</a:t>
            </a:r>
            <a:endParaRPr lang="en-US" sz="1500" dirty="0"/>
          </a:p>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here</a:t>
            </a:r>
            <a:endParaRPr lang="en-US" sz="1500" dirty="0"/>
          </a:p>
        </p:txBody>
      </p:sp>
      <p:sp>
        <p:nvSpPr>
          <p:cNvPr id="27" name="Shape 25"/>
          <p:cNvSpPr/>
          <p:nvPr/>
        </p:nvSpPr>
        <p:spPr>
          <a:xfrm>
            <a:off x="9363456" y="2889504"/>
            <a:ext cx="393192" cy="0"/>
          </a:xfrm>
          <a:prstGeom prst="line">
            <a:avLst/>
          </a:prstGeom>
          <a:noFill/>
          <a:ln w="25400">
            <a:solidFill>
              <a:srgbClr val="5E6B78"/>
            </a:solidFill>
            <a:prstDash val="solid"/>
            <a:headEnd type="none"/>
            <a:tailEnd type="triangle"/>
          </a:ln>
        </p:spPr>
      </p:sp>
      <p:sp>
        <p:nvSpPr>
          <p:cNvPr id="28" name="Shape 26"/>
          <p:cNvSpPr/>
          <p:nvPr/>
        </p:nvSpPr>
        <p:spPr>
          <a:xfrm>
            <a:off x="9756648" y="1874520"/>
            <a:ext cx="1920240" cy="2057400"/>
          </a:xfrm>
          <a:prstGeom prst="roundRect">
            <a:avLst>
              <a:gd name="adj" fmla="val 3810"/>
            </a:avLst>
          </a:prstGeom>
          <a:solidFill>
            <a:srgbClr val="FFFFFF"/>
          </a:solidFill>
          <a:ln w="12700">
            <a:solidFill>
              <a:srgbClr val="D7E0E7"/>
            </a:solidFill>
            <a:prstDash val="solid"/>
          </a:ln>
        </p:spPr>
      </p:sp>
      <p:sp>
        <p:nvSpPr>
          <p:cNvPr id="29" name="Shape 27"/>
          <p:cNvSpPr/>
          <p:nvPr/>
        </p:nvSpPr>
        <p:spPr>
          <a:xfrm>
            <a:off x="9756648" y="1874520"/>
            <a:ext cx="64008" cy="2057400"/>
          </a:xfrm>
          <a:prstGeom prst="rect">
            <a:avLst/>
          </a:prstGeom>
          <a:solidFill>
            <a:srgbClr val="007C83"/>
          </a:solidFill>
          <a:ln w="12700">
            <a:solidFill>
              <a:srgbClr val="007C83">
                <a:alpha val="0"/>
              </a:srgbClr>
            </a:solidFill>
            <a:prstDash val="solid"/>
          </a:ln>
        </p:spPr>
      </p:sp>
      <p:sp>
        <p:nvSpPr>
          <p:cNvPr id="30" name="Text 28"/>
          <p:cNvSpPr/>
          <p:nvPr/>
        </p:nvSpPr>
        <p:spPr>
          <a:xfrm>
            <a:off x="9957816" y="2020824"/>
            <a:ext cx="1572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Shared storage</a:t>
            </a:r>
            <a:endParaRPr lang="en-US" sz="1700" dirty="0"/>
          </a:p>
        </p:txBody>
      </p:sp>
      <p:sp>
        <p:nvSpPr>
          <p:cNvPr id="31" name="Text 29"/>
          <p:cNvSpPr/>
          <p:nvPr/>
        </p:nvSpPr>
        <p:spPr>
          <a:xfrm>
            <a:off x="9957816" y="2404872"/>
            <a:ext cx="1572768" cy="139903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Project data</a:t>
            </a:r>
            <a:endParaRPr lang="en-US" sz="1500" dirty="0"/>
          </a:p>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and results</a:t>
            </a:r>
            <a:endParaRPr lang="en-US" sz="1500" dirty="0"/>
          </a:p>
        </p:txBody>
      </p:sp>
      <p:sp>
        <p:nvSpPr>
          <p:cNvPr id="32" name="Shape 30"/>
          <p:cNvSpPr/>
          <p:nvPr/>
        </p:nvSpPr>
        <p:spPr>
          <a:xfrm>
            <a:off x="1828800" y="4617720"/>
            <a:ext cx="8595360" cy="658368"/>
          </a:xfrm>
          <a:prstGeom prst="roundRect">
            <a:avLst/>
          </a:prstGeom>
          <a:solidFill>
            <a:srgbClr val="007C83">
              <a:alpha val="8000"/>
            </a:srgbClr>
          </a:solidFill>
          <a:ln w="12700">
            <a:solidFill>
              <a:srgbClr val="007C83">
                <a:alpha val="0"/>
              </a:srgbClr>
            </a:solidFill>
            <a:prstDash val="solid"/>
          </a:ln>
        </p:spPr>
      </p:sp>
      <p:sp>
        <p:nvSpPr>
          <p:cNvPr id="33" name="Text 31"/>
          <p:cNvSpPr/>
          <p:nvPr/>
        </p:nvSpPr>
        <p:spPr>
          <a:xfrm>
            <a:off x="2057400" y="4773168"/>
            <a:ext cx="8138160" cy="329184"/>
          </a:xfrm>
          <a:prstGeom prst="rect">
            <a:avLst/>
          </a:prstGeom>
          <a:noFill/>
          <a:ln/>
        </p:spPr>
        <p:txBody>
          <a:bodyPr wrap="square" lIns="0" tIns="0" rIns="0" bIns="0" rtlCol="0" anchor="ctr">
            <a:normAutofit/>
          </a:bodyPr>
          <a:lstStyle/>
          <a:p>
            <a:pPr algn="ctr" indent="0" marL="0">
              <a:buNone/>
            </a:pPr>
            <a:r>
              <a:rPr lang="en-US" sz="1800" b="1" dirty="0">
                <a:solidFill>
                  <a:srgbClr val="007C83"/>
                </a:solidFill>
                <a:latin typeface="Liberation Sans" pitchFamily="34" charset="0"/>
                <a:ea typeface="Liberation Sans" pitchFamily="34" charset="-122"/>
                <a:cs typeface="Liberation Sans" pitchFamily="34" charset="-120"/>
              </a:rPr>
              <a:t>Rule of thumb: prepare on the login host; compute through Slurm; keep data in approved storage.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2. Local and remote: know where you are</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The same screen can show two different computers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3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594360" y="1325880"/>
            <a:ext cx="5166360" cy="4343400"/>
          </a:xfrm>
          <a:prstGeom prst="roundRect">
            <a:avLst>
              <a:gd name="adj" fmla="val 1684"/>
            </a:avLst>
          </a:prstGeom>
          <a:solidFill>
            <a:srgbClr val="F8FAFC"/>
          </a:solidFill>
          <a:ln w="12700">
            <a:solidFill>
              <a:srgbClr val="D7E0E7"/>
            </a:solidFill>
            <a:prstDash val="solid"/>
          </a:ln>
        </p:spPr>
      </p:sp>
      <p:sp>
        <p:nvSpPr>
          <p:cNvPr id="9" name="Shape 7"/>
          <p:cNvSpPr/>
          <p:nvPr/>
        </p:nvSpPr>
        <p:spPr>
          <a:xfrm>
            <a:off x="594360" y="1325880"/>
            <a:ext cx="64008" cy="4343400"/>
          </a:xfrm>
          <a:prstGeom prst="rect">
            <a:avLst/>
          </a:prstGeom>
          <a:solidFill>
            <a:srgbClr val="2C6EAF"/>
          </a:solidFill>
          <a:ln w="12700">
            <a:solidFill>
              <a:srgbClr val="2C6EAF">
                <a:alpha val="0"/>
              </a:srgbClr>
            </a:solidFill>
            <a:prstDash val="solid"/>
          </a:ln>
        </p:spPr>
      </p:sp>
      <p:sp>
        <p:nvSpPr>
          <p:cNvPr id="10" name="Text 8"/>
          <p:cNvSpPr/>
          <p:nvPr/>
        </p:nvSpPr>
        <p:spPr>
          <a:xfrm>
            <a:off x="795528" y="1472184"/>
            <a:ext cx="48188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LOCAL - your computer</a:t>
            </a:r>
            <a:endParaRPr lang="en-US" sz="1700" dirty="0"/>
          </a:p>
        </p:txBody>
      </p:sp>
      <p:sp>
        <p:nvSpPr>
          <p:cNvPr id="11" name="Text 9"/>
          <p:cNvSpPr/>
          <p:nvPr/>
        </p:nvSpPr>
        <p:spPr>
          <a:xfrm>
            <a:off x="795528" y="1856232"/>
            <a:ext cx="4818888" cy="368503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Browser and password manager</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VS Code interface</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Downloads folder</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Private SSH key</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Network connection</a:t>
            </a:r>
            <a:endParaRPr lang="en-US" sz="1800" dirty="0"/>
          </a:p>
        </p:txBody>
      </p:sp>
      <p:sp>
        <p:nvSpPr>
          <p:cNvPr id="12" name="Shape 10"/>
          <p:cNvSpPr/>
          <p:nvPr/>
        </p:nvSpPr>
        <p:spPr>
          <a:xfrm>
            <a:off x="6419088" y="1325880"/>
            <a:ext cx="5166360" cy="4343400"/>
          </a:xfrm>
          <a:prstGeom prst="roundRect">
            <a:avLst>
              <a:gd name="adj" fmla="val 1684"/>
            </a:avLst>
          </a:prstGeom>
          <a:solidFill>
            <a:srgbClr val="F8FAFC"/>
          </a:solidFill>
          <a:ln w="12700">
            <a:solidFill>
              <a:srgbClr val="D7E0E7"/>
            </a:solidFill>
            <a:prstDash val="solid"/>
          </a:ln>
        </p:spPr>
      </p:sp>
      <p:sp>
        <p:nvSpPr>
          <p:cNvPr id="13" name="Shape 11"/>
          <p:cNvSpPr/>
          <p:nvPr/>
        </p:nvSpPr>
        <p:spPr>
          <a:xfrm>
            <a:off x="6419088" y="1325880"/>
            <a:ext cx="64008" cy="4343400"/>
          </a:xfrm>
          <a:prstGeom prst="rect">
            <a:avLst/>
          </a:prstGeom>
          <a:solidFill>
            <a:srgbClr val="007C83"/>
          </a:solidFill>
          <a:ln w="12700">
            <a:solidFill>
              <a:srgbClr val="007C83">
                <a:alpha val="0"/>
              </a:srgbClr>
            </a:solidFill>
            <a:prstDash val="solid"/>
          </a:ln>
        </p:spPr>
      </p:sp>
      <p:sp>
        <p:nvSpPr>
          <p:cNvPr id="14" name="Text 12"/>
          <p:cNvSpPr/>
          <p:nvPr/>
        </p:nvSpPr>
        <p:spPr>
          <a:xfrm>
            <a:off x="6620256" y="1472184"/>
            <a:ext cx="48188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REMOTE - RCC</a:t>
            </a:r>
            <a:endParaRPr lang="en-US" sz="1700" dirty="0"/>
          </a:p>
        </p:txBody>
      </p:sp>
      <p:sp>
        <p:nvSpPr>
          <p:cNvPr id="15" name="Text 13"/>
          <p:cNvSpPr/>
          <p:nvPr/>
        </p:nvSpPr>
        <p:spPr>
          <a:xfrm>
            <a:off x="6620256" y="1856232"/>
            <a:ext cx="4818888" cy="368503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Shell prompt and Linux commands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Project and home directories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VS Code remote workspace</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Slurm commands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 Compute jobs</a:t>
            </a:r>
            <a:endParaRPr lang="en-US" sz="1800" dirty="0"/>
          </a:p>
        </p:txBody>
      </p:sp>
      <p:sp>
        <p:nvSpPr>
          <p:cNvPr id="16" name="Shape 14"/>
          <p:cNvSpPr/>
          <p:nvPr/>
        </p:nvSpPr>
        <p:spPr>
          <a:xfrm>
            <a:off x="5440680" y="2889504"/>
            <a:ext cx="1280160" cy="0"/>
          </a:xfrm>
          <a:prstGeom prst="line">
            <a:avLst/>
          </a:prstGeom>
          <a:noFill/>
          <a:ln w="38100">
            <a:solidFill>
              <a:srgbClr val="D15B47"/>
            </a:solidFill>
            <a:prstDash val="solid"/>
            <a:headEnd type="none"/>
            <a:tailEnd type="triangle"/>
          </a:ln>
        </p:spPr>
      </p:sp>
      <p:sp>
        <p:nvSpPr>
          <p:cNvPr id="17" name="Shape 15"/>
          <p:cNvSpPr/>
          <p:nvPr/>
        </p:nvSpPr>
        <p:spPr>
          <a:xfrm>
            <a:off x="5303520" y="2450592"/>
            <a:ext cx="1600200" cy="310896"/>
          </a:xfrm>
          <a:prstGeom prst="roundRect">
            <a:avLst/>
          </a:prstGeom>
          <a:solidFill>
            <a:srgbClr val="D15B47">
              <a:alpha val="12000"/>
            </a:srgbClr>
          </a:solidFill>
          <a:ln w="12700">
            <a:solidFill>
              <a:srgbClr val="D15B47">
                <a:alpha val="0"/>
              </a:srgbClr>
            </a:solidFill>
            <a:prstDash val="solid"/>
          </a:ln>
        </p:spPr>
      </p:sp>
      <p:sp>
        <p:nvSpPr>
          <p:cNvPr id="18" name="Text 16"/>
          <p:cNvSpPr/>
          <p:nvPr/>
        </p:nvSpPr>
        <p:spPr>
          <a:xfrm>
            <a:off x="5376672" y="2468880"/>
            <a:ext cx="1453896" cy="256032"/>
          </a:xfrm>
          <a:prstGeom prst="rect">
            <a:avLst/>
          </a:prstGeom>
          <a:noFill/>
          <a:ln/>
        </p:spPr>
        <p:txBody>
          <a:bodyPr wrap="square" lIns="0" tIns="0" rIns="0" bIns="0" rtlCol="0" anchor="ctr">
            <a:normAutofit/>
          </a:bodyPr>
          <a:lstStyle/>
          <a:p>
            <a:pPr algn="ctr" indent="0" marL="0">
              <a:buNone/>
            </a:pPr>
            <a:r>
              <a:rPr lang="en-US" sz="1100" b="1" dirty="0">
                <a:solidFill>
                  <a:srgbClr val="D15B47"/>
                </a:solidFill>
                <a:latin typeface="Liberation Sans" pitchFamily="34" charset="0"/>
                <a:ea typeface="Liberation Sans" pitchFamily="34" charset="-122"/>
                <a:cs typeface="Liberation Sans" pitchFamily="34" charset="-120"/>
              </a:rPr>
              <a:t>SSH connection</a:t>
            </a:r>
            <a:endParaRPr lang="en-US" sz="1100" dirty="0"/>
          </a:p>
        </p:txBody>
      </p:sp>
      <p:sp>
        <p:nvSpPr>
          <p:cNvPr id="19" name="Text 17"/>
          <p:cNvSpPr/>
          <p:nvPr/>
        </p:nvSpPr>
        <p:spPr>
          <a:xfrm>
            <a:off x="4041648" y="5815584"/>
            <a:ext cx="4114800" cy="310896"/>
          </a:xfrm>
          <a:prstGeom prst="rect">
            <a:avLst/>
          </a:prstGeom>
          <a:noFill/>
          <a:ln/>
        </p:spPr>
        <p:txBody>
          <a:bodyPr wrap="square" lIns="0" tIns="0" rIns="0" bIns="0" rtlCol="0" anchor="ctr">
            <a:normAutofit/>
          </a:bodyPr>
          <a:lstStyle/>
          <a:p>
            <a:pPr algn="ctr" indent="0" marL="0">
              <a:buNone/>
            </a:pPr>
            <a:r>
              <a:rPr lang="en-US" sz="1500" b="1" dirty="0">
                <a:solidFill>
                  <a:srgbClr val="17324D"/>
                </a:solidFill>
                <a:latin typeface="Liberation Mono" pitchFamily="34" charset="0"/>
                <a:ea typeface="Liberation Mono" pitchFamily="34" charset="-122"/>
                <a:cs typeface="Liberation Mono" pitchFamily="34" charset="-120"/>
              </a:rPr>
              <a:t>Check:  hostname   pwd   whoami</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3. Why SSH and why keys?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Encrypted access with a machine-verifiable identity</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4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502920" y="1078992"/>
            <a:ext cx="11155680" cy="530352"/>
          </a:xfrm>
          <a:prstGeom prst="roundRect">
            <a:avLst/>
          </a:prstGeom>
          <a:solidFill>
            <a:srgbClr val="007C83">
              <a:alpha val="8000"/>
            </a:srgbClr>
          </a:solidFill>
          <a:ln w="12700">
            <a:solidFill>
              <a:srgbClr val="007C83">
                <a:alpha val="0"/>
              </a:srgbClr>
            </a:solidFill>
            <a:prstDash val="solid"/>
          </a:ln>
        </p:spPr>
      </p:sp>
      <p:sp>
        <p:nvSpPr>
          <p:cNvPr id="9" name="Shape 7"/>
          <p:cNvSpPr/>
          <p:nvPr/>
        </p:nvSpPr>
        <p:spPr>
          <a:xfrm>
            <a:off x="630936" y="1152144"/>
            <a:ext cx="384048" cy="384048"/>
          </a:xfrm>
          <a:prstGeom prst="ellipse">
            <a:avLst/>
          </a:prstGeom>
          <a:solidFill>
            <a:srgbClr val="007C83"/>
          </a:solidFill>
          <a:ln w="12700">
            <a:solidFill>
              <a:srgbClr val="007C83">
                <a:alpha val="0"/>
              </a:srgbClr>
            </a:solidFill>
            <a:prstDash val="solid"/>
          </a:ln>
        </p:spPr>
      </p:sp>
      <p:sp>
        <p:nvSpPr>
          <p:cNvPr id="10" name="Text 8"/>
          <p:cNvSpPr/>
          <p:nvPr/>
        </p:nvSpPr>
        <p:spPr>
          <a:xfrm>
            <a:off x="630936" y="1170432"/>
            <a:ext cx="384048" cy="329184"/>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Liberation Sans" pitchFamily="34" charset="0"/>
                <a:ea typeface="Liberation Sans" pitchFamily="34" charset="-122"/>
                <a:cs typeface="Liberation Sans" pitchFamily="34" charset="-120"/>
              </a:rPr>
              <a:t>1</a:t>
            </a:r>
            <a:endParaRPr lang="en-US" sz="1300" dirty="0"/>
          </a:p>
        </p:txBody>
      </p:sp>
      <p:sp>
        <p:nvSpPr>
          <p:cNvPr id="11" name="Text 9"/>
          <p:cNvSpPr/>
          <p:nvPr/>
        </p:nvSpPr>
        <p:spPr>
          <a:xfrm>
            <a:off x="1133856" y="1152144"/>
            <a:ext cx="10396728" cy="365760"/>
          </a:xfrm>
          <a:prstGeom prst="rect">
            <a:avLst/>
          </a:prstGeom>
          <a:noFill/>
          <a:ln/>
        </p:spPr>
        <p:txBody>
          <a:bodyPr wrap="square" lIns="0" tIns="0" rIns="0" bIns="0" rtlCol="0" anchor="ctr">
            <a:normAutofit/>
          </a:bodyPr>
          <a:lstStyle/>
          <a:p>
            <a:pPr algn="l" indent="0" marL="0">
              <a:buNone/>
            </a:pPr>
            <a:r>
              <a:rPr lang="en-US" sz="1700" b="1" dirty="0">
                <a:solidFill>
                  <a:srgbClr val="007C83"/>
                </a:solidFill>
                <a:latin typeface="Liberation Sans" pitchFamily="34" charset="0"/>
                <a:ea typeface="Liberation Sans" pitchFamily="34" charset="-122"/>
                <a:cs typeface="Liberation Sans" pitchFamily="34" charset="-120"/>
              </a:rPr>
              <a:t>SSH protects the connection</a:t>
            </a:r>
            <a:endParaRPr lang="en-US" sz="1700" dirty="0"/>
          </a:p>
        </p:txBody>
      </p:sp>
      <p:sp>
        <p:nvSpPr>
          <p:cNvPr id="12" name="Shape 10"/>
          <p:cNvSpPr/>
          <p:nvPr/>
        </p:nvSpPr>
        <p:spPr>
          <a:xfrm>
            <a:off x="731520" y="1874520"/>
            <a:ext cx="3337560" cy="2560320"/>
          </a:xfrm>
          <a:prstGeom prst="roundRect">
            <a:avLst>
              <a:gd name="adj" fmla="val 2857"/>
            </a:avLst>
          </a:prstGeom>
          <a:solidFill>
            <a:srgbClr val="FFFFFF"/>
          </a:solidFill>
          <a:ln w="12700">
            <a:solidFill>
              <a:srgbClr val="D7E0E7"/>
            </a:solidFill>
            <a:prstDash val="solid"/>
          </a:ln>
        </p:spPr>
      </p:sp>
      <p:sp>
        <p:nvSpPr>
          <p:cNvPr id="13" name="Shape 11"/>
          <p:cNvSpPr/>
          <p:nvPr/>
        </p:nvSpPr>
        <p:spPr>
          <a:xfrm>
            <a:off x="731520" y="1874520"/>
            <a:ext cx="64008" cy="2560320"/>
          </a:xfrm>
          <a:prstGeom prst="rect">
            <a:avLst/>
          </a:prstGeom>
          <a:solidFill>
            <a:srgbClr val="D15B47"/>
          </a:solidFill>
          <a:ln w="12700">
            <a:solidFill>
              <a:srgbClr val="D15B47">
                <a:alpha val="0"/>
              </a:srgbClr>
            </a:solidFill>
            <a:prstDash val="solid"/>
          </a:ln>
        </p:spPr>
      </p:sp>
      <p:sp>
        <p:nvSpPr>
          <p:cNvPr id="14" name="Text 12"/>
          <p:cNvSpPr/>
          <p:nvPr/>
        </p:nvSpPr>
        <p:spPr>
          <a:xfrm>
            <a:off x="932688" y="2020824"/>
            <a:ext cx="29900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Private key</a:t>
            </a:r>
            <a:endParaRPr lang="en-US" sz="1700" dirty="0"/>
          </a:p>
        </p:txBody>
      </p:sp>
      <p:sp>
        <p:nvSpPr>
          <p:cNvPr id="15" name="Text 13"/>
          <p:cNvSpPr/>
          <p:nvPr/>
        </p:nvSpPr>
        <p:spPr>
          <a:xfrm>
            <a:off x="932688" y="2404872"/>
            <a:ext cx="2990088" cy="190195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Stays on your laptop.</a:t>
            </a: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Back it up only through an approved secure mechanism.</a:t>
            </a: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Never send it to support.</a:t>
            </a:r>
            <a:endParaRPr lang="en-US" sz="1600" dirty="0"/>
          </a:p>
        </p:txBody>
      </p:sp>
      <p:sp>
        <p:nvSpPr>
          <p:cNvPr id="16" name="Shape 14"/>
          <p:cNvSpPr/>
          <p:nvPr/>
        </p:nvSpPr>
        <p:spPr>
          <a:xfrm>
            <a:off x="4434840" y="1874520"/>
            <a:ext cx="3337560" cy="2560320"/>
          </a:xfrm>
          <a:prstGeom prst="roundRect">
            <a:avLst>
              <a:gd name="adj" fmla="val 2857"/>
            </a:avLst>
          </a:prstGeom>
          <a:solidFill>
            <a:srgbClr val="FFFFFF"/>
          </a:solidFill>
          <a:ln w="12700">
            <a:solidFill>
              <a:srgbClr val="D7E0E7"/>
            </a:solidFill>
            <a:prstDash val="solid"/>
          </a:ln>
        </p:spPr>
      </p:sp>
      <p:sp>
        <p:nvSpPr>
          <p:cNvPr id="17" name="Shape 15"/>
          <p:cNvSpPr/>
          <p:nvPr/>
        </p:nvSpPr>
        <p:spPr>
          <a:xfrm>
            <a:off x="4434840" y="1874520"/>
            <a:ext cx="64008" cy="2560320"/>
          </a:xfrm>
          <a:prstGeom prst="rect">
            <a:avLst/>
          </a:prstGeom>
          <a:solidFill>
            <a:srgbClr val="007C83"/>
          </a:solidFill>
          <a:ln w="12700">
            <a:solidFill>
              <a:srgbClr val="007C83">
                <a:alpha val="0"/>
              </a:srgbClr>
            </a:solidFill>
            <a:prstDash val="solid"/>
          </a:ln>
        </p:spPr>
      </p:sp>
      <p:sp>
        <p:nvSpPr>
          <p:cNvPr id="18" name="Text 16"/>
          <p:cNvSpPr/>
          <p:nvPr/>
        </p:nvSpPr>
        <p:spPr>
          <a:xfrm>
            <a:off x="4636008" y="2020824"/>
            <a:ext cx="29900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Encrypted channel</a:t>
            </a:r>
            <a:endParaRPr lang="en-US" sz="1700" dirty="0"/>
          </a:p>
        </p:txBody>
      </p:sp>
      <p:sp>
        <p:nvSpPr>
          <p:cNvPr id="19" name="Text 17"/>
          <p:cNvSpPr/>
          <p:nvPr/>
        </p:nvSpPr>
        <p:spPr>
          <a:xfrm>
            <a:off x="4636008" y="2404872"/>
            <a:ext cx="2990088" cy="190195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Commands, file metadata, and authentication travel through a protected connection.</a:t>
            </a:r>
            <a:endParaRPr lang="en-US" sz="1600" dirty="0"/>
          </a:p>
        </p:txBody>
      </p:sp>
      <p:sp>
        <p:nvSpPr>
          <p:cNvPr id="20" name="Shape 18"/>
          <p:cNvSpPr/>
          <p:nvPr/>
        </p:nvSpPr>
        <p:spPr>
          <a:xfrm>
            <a:off x="8138160" y="1874520"/>
            <a:ext cx="3337560" cy="2560320"/>
          </a:xfrm>
          <a:prstGeom prst="roundRect">
            <a:avLst>
              <a:gd name="adj" fmla="val 2857"/>
            </a:avLst>
          </a:prstGeom>
          <a:solidFill>
            <a:srgbClr val="FFFFFF"/>
          </a:solidFill>
          <a:ln w="12700">
            <a:solidFill>
              <a:srgbClr val="D7E0E7"/>
            </a:solidFill>
            <a:prstDash val="solid"/>
          </a:ln>
        </p:spPr>
      </p:sp>
      <p:sp>
        <p:nvSpPr>
          <p:cNvPr id="21" name="Shape 19"/>
          <p:cNvSpPr/>
          <p:nvPr/>
        </p:nvSpPr>
        <p:spPr>
          <a:xfrm>
            <a:off x="8138160" y="1874520"/>
            <a:ext cx="64008" cy="2560320"/>
          </a:xfrm>
          <a:prstGeom prst="rect">
            <a:avLst/>
          </a:prstGeom>
          <a:solidFill>
            <a:srgbClr val="3A8D63"/>
          </a:solidFill>
          <a:ln w="12700">
            <a:solidFill>
              <a:srgbClr val="3A8D63">
                <a:alpha val="0"/>
              </a:srgbClr>
            </a:solidFill>
            <a:prstDash val="solid"/>
          </a:ln>
        </p:spPr>
      </p:sp>
      <p:sp>
        <p:nvSpPr>
          <p:cNvPr id="22" name="Text 20"/>
          <p:cNvSpPr/>
          <p:nvPr/>
        </p:nvSpPr>
        <p:spPr>
          <a:xfrm>
            <a:off x="8339328" y="2020824"/>
            <a:ext cx="29900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Public key</a:t>
            </a:r>
            <a:endParaRPr lang="en-US" sz="1700" dirty="0"/>
          </a:p>
        </p:txBody>
      </p:sp>
      <p:sp>
        <p:nvSpPr>
          <p:cNvPr id="23" name="Text 21"/>
          <p:cNvSpPr/>
          <p:nvPr/>
        </p:nvSpPr>
        <p:spPr>
          <a:xfrm>
            <a:off x="8339328" y="2404872"/>
            <a:ext cx="2990088" cy="190195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Registered on RCC.</a:t>
            </a: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Safe to share for account setup.</a:t>
            </a: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Cannot be used as the private key.</a:t>
            </a:r>
            <a:endParaRPr lang="en-US" sz="1600" dirty="0"/>
          </a:p>
        </p:txBody>
      </p:sp>
      <p:sp>
        <p:nvSpPr>
          <p:cNvPr id="24" name="Shape 22"/>
          <p:cNvSpPr/>
          <p:nvPr/>
        </p:nvSpPr>
        <p:spPr>
          <a:xfrm>
            <a:off x="4041648" y="3072384"/>
            <a:ext cx="411480" cy="0"/>
          </a:xfrm>
          <a:prstGeom prst="line">
            <a:avLst/>
          </a:prstGeom>
          <a:noFill/>
          <a:ln w="25400">
            <a:solidFill>
              <a:srgbClr val="007C83"/>
            </a:solidFill>
            <a:prstDash val="solid"/>
            <a:headEnd type="none"/>
            <a:tailEnd type="triangle"/>
          </a:ln>
        </p:spPr>
      </p:sp>
      <p:sp>
        <p:nvSpPr>
          <p:cNvPr id="25" name="Shape 23"/>
          <p:cNvSpPr/>
          <p:nvPr/>
        </p:nvSpPr>
        <p:spPr>
          <a:xfrm>
            <a:off x="7754112" y="3072384"/>
            <a:ext cx="393192" cy="0"/>
          </a:xfrm>
          <a:prstGeom prst="line">
            <a:avLst/>
          </a:prstGeom>
          <a:noFill/>
          <a:ln w="25400">
            <a:solidFill>
              <a:srgbClr val="007C83"/>
            </a:solidFill>
            <a:prstDash val="solid"/>
            <a:headEnd type="none"/>
            <a:tailEnd type="triangle"/>
          </a:ln>
        </p:spPr>
      </p:sp>
      <p:sp>
        <p:nvSpPr>
          <p:cNvPr id="26" name="Shape 24"/>
          <p:cNvSpPr/>
          <p:nvPr/>
        </p:nvSpPr>
        <p:spPr>
          <a:xfrm>
            <a:off x="2057400" y="4892040"/>
            <a:ext cx="8092440" cy="658368"/>
          </a:xfrm>
          <a:prstGeom prst="roundRect">
            <a:avLst/>
          </a:prstGeom>
          <a:solidFill>
            <a:srgbClr val="B23B3B">
              <a:alpha val="8000"/>
            </a:srgbClr>
          </a:solidFill>
          <a:ln w="12700">
            <a:solidFill>
              <a:srgbClr val="B23B3B">
                <a:alpha val="0"/>
              </a:srgbClr>
            </a:solidFill>
            <a:prstDash val="solid"/>
          </a:ln>
        </p:spPr>
      </p:sp>
      <p:sp>
        <p:nvSpPr>
          <p:cNvPr id="27" name="Text 25"/>
          <p:cNvSpPr/>
          <p:nvPr/>
        </p:nvSpPr>
        <p:spPr>
          <a:xfrm>
            <a:off x="2286000" y="5056632"/>
            <a:ext cx="7635240" cy="310896"/>
          </a:xfrm>
          <a:prstGeom prst="rect">
            <a:avLst/>
          </a:prstGeom>
          <a:noFill/>
          <a:ln/>
        </p:spPr>
        <p:txBody>
          <a:bodyPr wrap="square" lIns="0" tIns="0" rIns="0" bIns="0" rtlCol="0" anchor="ctr">
            <a:normAutofit/>
          </a:bodyPr>
          <a:lstStyle/>
          <a:p>
            <a:pPr algn="ctr" indent="0" marL="0">
              <a:buNone/>
            </a:pPr>
            <a:r>
              <a:rPr lang="en-US" sz="1800" b="1" dirty="0">
                <a:solidFill>
                  <a:srgbClr val="B23B3B"/>
                </a:solidFill>
                <a:latin typeface="Liberation Sans" pitchFamily="34" charset="0"/>
                <a:ea typeface="Liberation Sans" pitchFamily="34" charset="-122"/>
                <a:cs typeface="Liberation Sans" pitchFamily="34" charset="-120"/>
              </a:rPr>
              <a:t>The host-key fingerprint verifies the server; your key verifies you.</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4. Prepare Windows or macOS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Three components: OpenSSH, VS Code, and the Remote - SSH extension</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5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640080" y="1600200"/>
            <a:ext cx="566928" cy="566928"/>
          </a:xfrm>
          <a:prstGeom prst="ellipse">
            <a:avLst/>
          </a:prstGeom>
          <a:solidFill>
            <a:srgbClr val="007C83"/>
          </a:solidFill>
          <a:ln w="12700">
            <a:solidFill>
              <a:srgbClr val="007C83">
                <a:alpha val="0"/>
              </a:srgbClr>
            </a:solidFill>
            <a:prstDash val="solid"/>
          </a:ln>
        </p:spPr>
      </p:sp>
      <p:sp>
        <p:nvSpPr>
          <p:cNvPr id="9" name="Text 7"/>
          <p:cNvSpPr/>
          <p:nvPr/>
        </p:nvSpPr>
        <p:spPr>
          <a:xfrm>
            <a:off x="640080" y="1709928"/>
            <a:ext cx="566928"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Liberation Sans" pitchFamily="34" charset="0"/>
                <a:ea typeface="Liberation Sans" pitchFamily="34" charset="-122"/>
                <a:cs typeface="Liberation Sans" pitchFamily="34" charset="-120"/>
              </a:rPr>
              <a:t>1</a:t>
            </a:r>
            <a:endParaRPr lang="en-US" sz="1700" dirty="0"/>
          </a:p>
        </p:txBody>
      </p:sp>
      <p:sp>
        <p:nvSpPr>
          <p:cNvPr id="10" name="Shape 8"/>
          <p:cNvSpPr/>
          <p:nvPr/>
        </p:nvSpPr>
        <p:spPr>
          <a:xfrm>
            <a:off x="594360" y="2331720"/>
            <a:ext cx="2542032" cy="2514600"/>
          </a:xfrm>
          <a:prstGeom prst="roundRect">
            <a:avLst>
              <a:gd name="adj" fmla="val 2909"/>
            </a:avLst>
          </a:prstGeom>
          <a:solidFill>
            <a:srgbClr val="FFFFFF"/>
          </a:solidFill>
          <a:ln w="12700">
            <a:solidFill>
              <a:srgbClr val="D7E0E7"/>
            </a:solidFill>
            <a:prstDash val="solid"/>
          </a:ln>
        </p:spPr>
      </p:sp>
      <p:sp>
        <p:nvSpPr>
          <p:cNvPr id="11" name="Shape 9"/>
          <p:cNvSpPr/>
          <p:nvPr/>
        </p:nvSpPr>
        <p:spPr>
          <a:xfrm>
            <a:off x="594360" y="2331720"/>
            <a:ext cx="64008" cy="2514600"/>
          </a:xfrm>
          <a:prstGeom prst="rect">
            <a:avLst/>
          </a:prstGeom>
          <a:solidFill>
            <a:srgbClr val="007C83"/>
          </a:solidFill>
          <a:ln w="12700">
            <a:solidFill>
              <a:srgbClr val="007C83">
                <a:alpha val="0"/>
              </a:srgbClr>
            </a:solidFill>
            <a:prstDash val="solid"/>
          </a:ln>
        </p:spPr>
      </p:sp>
      <p:sp>
        <p:nvSpPr>
          <p:cNvPr id="12" name="Text 10"/>
          <p:cNvSpPr/>
          <p:nvPr/>
        </p:nvSpPr>
        <p:spPr>
          <a:xfrm>
            <a:off x="795528" y="247802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OpenSSH</a:t>
            </a:r>
            <a:endParaRPr lang="en-US" sz="1700" dirty="0"/>
          </a:p>
        </p:txBody>
      </p:sp>
      <p:sp>
        <p:nvSpPr>
          <p:cNvPr id="13" name="Text 11"/>
          <p:cNvSpPr/>
          <p:nvPr/>
        </p:nvSpPr>
        <p:spPr>
          <a:xfrm>
            <a:off x="795528" y="2862072"/>
            <a:ext cx="2194560" cy="18562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Creates and tests the secure connection.</a:t>
            </a:r>
            <a:endParaRPr lang="en-US" sz="1600" dirty="0"/>
          </a:p>
        </p:txBody>
      </p:sp>
      <p:sp>
        <p:nvSpPr>
          <p:cNvPr id="14" name="Shape 12"/>
          <p:cNvSpPr/>
          <p:nvPr/>
        </p:nvSpPr>
        <p:spPr>
          <a:xfrm>
            <a:off x="3136392" y="3593592"/>
            <a:ext cx="356616" cy="0"/>
          </a:xfrm>
          <a:prstGeom prst="line">
            <a:avLst/>
          </a:prstGeom>
          <a:noFill/>
          <a:ln w="25400">
            <a:solidFill>
              <a:srgbClr val="5E6B78"/>
            </a:solidFill>
            <a:prstDash val="solid"/>
            <a:headEnd type="none"/>
            <a:tailEnd type="triangle"/>
          </a:ln>
        </p:spPr>
      </p:sp>
      <p:sp>
        <p:nvSpPr>
          <p:cNvPr id="15" name="Shape 13"/>
          <p:cNvSpPr/>
          <p:nvPr/>
        </p:nvSpPr>
        <p:spPr>
          <a:xfrm>
            <a:off x="3520440" y="1600200"/>
            <a:ext cx="566928" cy="566928"/>
          </a:xfrm>
          <a:prstGeom prst="ellipse">
            <a:avLst/>
          </a:prstGeom>
          <a:solidFill>
            <a:srgbClr val="007C83"/>
          </a:solidFill>
          <a:ln w="12700">
            <a:solidFill>
              <a:srgbClr val="007C83">
                <a:alpha val="0"/>
              </a:srgbClr>
            </a:solidFill>
            <a:prstDash val="solid"/>
          </a:ln>
        </p:spPr>
      </p:sp>
      <p:sp>
        <p:nvSpPr>
          <p:cNvPr id="16" name="Text 14"/>
          <p:cNvSpPr/>
          <p:nvPr/>
        </p:nvSpPr>
        <p:spPr>
          <a:xfrm>
            <a:off x="3520440" y="1709928"/>
            <a:ext cx="566928"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Liberation Sans" pitchFamily="34" charset="0"/>
                <a:ea typeface="Liberation Sans" pitchFamily="34" charset="-122"/>
                <a:cs typeface="Liberation Sans" pitchFamily="34" charset="-120"/>
              </a:rPr>
              <a:t>2</a:t>
            </a:r>
            <a:endParaRPr lang="en-US" sz="1700" dirty="0"/>
          </a:p>
        </p:txBody>
      </p:sp>
      <p:sp>
        <p:nvSpPr>
          <p:cNvPr id="17" name="Shape 15"/>
          <p:cNvSpPr/>
          <p:nvPr/>
        </p:nvSpPr>
        <p:spPr>
          <a:xfrm>
            <a:off x="3474720" y="2331720"/>
            <a:ext cx="2542032" cy="2514600"/>
          </a:xfrm>
          <a:prstGeom prst="roundRect">
            <a:avLst>
              <a:gd name="adj" fmla="val 2909"/>
            </a:avLst>
          </a:prstGeom>
          <a:solidFill>
            <a:srgbClr val="FFFFFF"/>
          </a:solidFill>
          <a:ln w="12700">
            <a:solidFill>
              <a:srgbClr val="D7E0E7"/>
            </a:solidFill>
            <a:prstDash val="solid"/>
          </a:ln>
        </p:spPr>
      </p:sp>
      <p:sp>
        <p:nvSpPr>
          <p:cNvPr id="18" name="Shape 16"/>
          <p:cNvSpPr/>
          <p:nvPr/>
        </p:nvSpPr>
        <p:spPr>
          <a:xfrm>
            <a:off x="3474720" y="2331720"/>
            <a:ext cx="64008" cy="2514600"/>
          </a:xfrm>
          <a:prstGeom prst="rect">
            <a:avLst/>
          </a:prstGeom>
          <a:solidFill>
            <a:srgbClr val="007C83"/>
          </a:solidFill>
          <a:ln w="12700">
            <a:solidFill>
              <a:srgbClr val="007C83">
                <a:alpha val="0"/>
              </a:srgbClr>
            </a:solidFill>
            <a:prstDash val="solid"/>
          </a:ln>
        </p:spPr>
      </p:sp>
      <p:sp>
        <p:nvSpPr>
          <p:cNvPr id="19" name="Text 17"/>
          <p:cNvSpPr/>
          <p:nvPr/>
        </p:nvSpPr>
        <p:spPr>
          <a:xfrm>
            <a:off x="3675888" y="247802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VS Code</a:t>
            </a:r>
            <a:endParaRPr lang="en-US" sz="1700" dirty="0"/>
          </a:p>
        </p:txBody>
      </p:sp>
      <p:sp>
        <p:nvSpPr>
          <p:cNvPr id="20" name="Text 18"/>
          <p:cNvSpPr/>
          <p:nvPr/>
        </p:nvSpPr>
        <p:spPr>
          <a:xfrm>
            <a:off x="3675888" y="2862072"/>
            <a:ext cx="2194560" cy="18562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Provides the editor and integrated terminal.</a:t>
            </a:r>
            <a:endParaRPr lang="en-US" sz="1600" dirty="0"/>
          </a:p>
        </p:txBody>
      </p:sp>
      <p:sp>
        <p:nvSpPr>
          <p:cNvPr id="21" name="Shape 19"/>
          <p:cNvSpPr/>
          <p:nvPr/>
        </p:nvSpPr>
        <p:spPr>
          <a:xfrm>
            <a:off x="6016752" y="3593592"/>
            <a:ext cx="356616" cy="0"/>
          </a:xfrm>
          <a:prstGeom prst="line">
            <a:avLst/>
          </a:prstGeom>
          <a:noFill/>
          <a:ln w="25400">
            <a:solidFill>
              <a:srgbClr val="5E6B78"/>
            </a:solidFill>
            <a:prstDash val="solid"/>
            <a:headEnd type="none"/>
            <a:tailEnd type="triangle"/>
          </a:ln>
        </p:spPr>
      </p:sp>
      <p:sp>
        <p:nvSpPr>
          <p:cNvPr id="22" name="Shape 20"/>
          <p:cNvSpPr/>
          <p:nvPr/>
        </p:nvSpPr>
        <p:spPr>
          <a:xfrm>
            <a:off x="6400800" y="1600200"/>
            <a:ext cx="566928" cy="566928"/>
          </a:xfrm>
          <a:prstGeom prst="ellipse">
            <a:avLst/>
          </a:prstGeom>
          <a:solidFill>
            <a:srgbClr val="007C83"/>
          </a:solidFill>
          <a:ln w="12700">
            <a:solidFill>
              <a:srgbClr val="007C83">
                <a:alpha val="0"/>
              </a:srgbClr>
            </a:solidFill>
            <a:prstDash val="solid"/>
          </a:ln>
        </p:spPr>
      </p:sp>
      <p:sp>
        <p:nvSpPr>
          <p:cNvPr id="23" name="Text 21"/>
          <p:cNvSpPr/>
          <p:nvPr/>
        </p:nvSpPr>
        <p:spPr>
          <a:xfrm>
            <a:off x="6400800" y="1709928"/>
            <a:ext cx="566928"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Liberation Sans" pitchFamily="34" charset="0"/>
                <a:ea typeface="Liberation Sans" pitchFamily="34" charset="-122"/>
                <a:cs typeface="Liberation Sans" pitchFamily="34" charset="-120"/>
              </a:rPr>
              <a:t>3</a:t>
            </a:r>
            <a:endParaRPr lang="en-US" sz="1700" dirty="0"/>
          </a:p>
        </p:txBody>
      </p:sp>
      <p:sp>
        <p:nvSpPr>
          <p:cNvPr id="24" name="Shape 22"/>
          <p:cNvSpPr/>
          <p:nvPr/>
        </p:nvSpPr>
        <p:spPr>
          <a:xfrm>
            <a:off x="6355080" y="2331720"/>
            <a:ext cx="2542032" cy="2514600"/>
          </a:xfrm>
          <a:prstGeom prst="roundRect">
            <a:avLst>
              <a:gd name="adj" fmla="val 2909"/>
            </a:avLst>
          </a:prstGeom>
          <a:solidFill>
            <a:srgbClr val="FFFFFF"/>
          </a:solidFill>
          <a:ln w="12700">
            <a:solidFill>
              <a:srgbClr val="D7E0E7"/>
            </a:solidFill>
            <a:prstDash val="solid"/>
          </a:ln>
        </p:spPr>
      </p:sp>
      <p:sp>
        <p:nvSpPr>
          <p:cNvPr id="25" name="Shape 23"/>
          <p:cNvSpPr/>
          <p:nvPr/>
        </p:nvSpPr>
        <p:spPr>
          <a:xfrm>
            <a:off x="6355080" y="2331720"/>
            <a:ext cx="64008" cy="2514600"/>
          </a:xfrm>
          <a:prstGeom prst="rect">
            <a:avLst/>
          </a:prstGeom>
          <a:solidFill>
            <a:srgbClr val="007C83"/>
          </a:solidFill>
          <a:ln w="12700">
            <a:solidFill>
              <a:srgbClr val="007C83">
                <a:alpha val="0"/>
              </a:srgbClr>
            </a:solidFill>
            <a:prstDash val="solid"/>
          </a:ln>
        </p:spPr>
      </p:sp>
      <p:sp>
        <p:nvSpPr>
          <p:cNvPr id="26" name="Text 24"/>
          <p:cNvSpPr/>
          <p:nvPr/>
        </p:nvSpPr>
        <p:spPr>
          <a:xfrm>
            <a:off x="6556248" y="247802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Remote - SSH</a:t>
            </a:r>
            <a:endParaRPr lang="en-US" sz="1700" dirty="0"/>
          </a:p>
        </p:txBody>
      </p:sp>
      <p:sp>
        <p:nvSpPr>
          <p:cNvPr id="27" name="Text 25"/>
          <p:cNvSpPr/>
          <p:nvPr/>
        </p:nvSpPr>
        <p:spPr>
          <a:xfrm>
            <a:off x="6556248" y="2862072"/>
            <a:ext cx="2194560" cy="18562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Opens files and terminals on RCC.</a:t>
            </a:r>
            <a:endParaRPr lang="en-US" sz="1600" dirty="0"/>
          </a:p>
        </p:txBody>
      </p:sp>
      <p:sp>
        <p:nvSpPr>
          <p:cNvPr id="28" name="Shape 26"/>
          <p:cNvSpPr/>
          <p:nvPr/>
        </p:nvSpPr>
        <p:spPr>
          <a:xfrm>
            <a:off x="8897112" y="3593592"/>
            <a:ext cx="356616" cy="0"/>
          </a:xfrm>
          <a:prstGeom prst="line">
            <a:avLst/>
          </a:prstGeom>
          <a:noFill/>
          <a:ln w="25400">
            <a:solidFill>
              <a:srgbClr val="5E6B78"/>
            </a:solidFill>
            <a:prstDash val="solid"/>
            <a:headEnd type="none"/>
            <a:tailEnd type="triangle"/>
          </a:ln>
        </p:spPr>
      </p:sp>
      <p:sp>
        <p:nvSpPr>
          <p:cNvPr id="29" name="Shape 27"/>
          <p:cNvSpPr/>
          <p:nvPr/>
        </p:nvSpPr>
        <p:spPr>
          <a:xfrm>
            <a:off x="9281160" y="1600200"/>
            <a:ext cx="566928" cy="566928"/>
          </a:xfrm>
          <a:prstGeom prst="ellipse">
            <a:avLst/>
          </a:prstGeom>
          <a:solidFill>
            <a:srgbClr val="007C83"/>
          </a:solidFill>
          <a:ln w="12700">
            <a:solidFill>
              <a:srgbClr val="007C83">
                <a:alpha val="0"/>
              </a:srgbClr>
            </a:solidFill>
            <a:prstDash val="solid"/>
          </a:ln>
        </p:spPr>
      </p:sp>
      <p:sp>
        <p:nvSpPr>
          <p:cNvPr id="30" name="Text 28"/>
          <p:cNvSpPr/>
          <p:nvPr/>
        </p:nvSpPr>
        <p:spPr>
          <a:xfrm>
            <a:off x="9281160" y="1709928"/>
            <a:ext cx="566928"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Liberation Sans" pitchFamily="34" charset="0"/>
                <a:ea typeface="Liberation Sans" pitchFamily="34" charset="-122"/>
                <a:cs typeface="Liberation Sans" pitchFamily="34" charset="-120"/>
              </a:rPr>
              <a:t>4</a:t>
            </a:r>
            <a:endParaRPr lang="en-US" sz="1700" dirty="0"/>
          </a:p>
        </p:txBody>
      </p:sp>
      <p:sp>
        <p:nvSpPr>
          <p:cNvPr id="31" name="Shape 29"/>
          <p:cNvSpPr/>
          <p:nvPr/>
        </p:nvSpPr>
        <p:spPr>
          <a:xfrm>
            <a:off x="9235440" y="2331720"/>
            <a:ext cx="2542032" cy="2514600"/>
          </a:xfrm>
          <a:prstGeom prst="roundRect">
            <a:avLst>
              <a:gd name="adj" fmla="val 2909"/>
            </a:avLst>
          </a:prstGeom>
          <a:solidFill>
            <a:srgbClr val="FFFFFF"/>
          </a:solidFill>
          <a:ln w="12700">
            <a:solidFill>
              <a:srgbClr val="D7E0E7"/>
            </a:solidFill>
            <a:prstDash val="solid"/>
          </a:ln>
        </p:spPr>
      </p:sp>
      <p:sp>
        <p:nvSpPr>
          <p:cNvPr id="32" name="Shape 30"/>
          <p:cNvSpPr/>
          <p:nvPr/>
        </p:nvSpPr>
        <p:spPr>
          <a:xfrm>
            <a:off x="9235440" y="2331720"/>
            <a:ext cx="64008" cy="2514600"/>
          </a:xfrm>
          <a:prstGeom prst="rect">
            <a:avLst/>
          </a:prstGeom>
          <a:solidFill>
            <a:srgbClr val="007C83"/>
          </a:solidFill>
          <a:ln w="12700">
            <a:solidFill>
              <a:srgbClr val="007C83">
                <a:alpha val="0"/>
              </a:srgbClr>
            </a:solidFill>
            <a:prstDash val="solid"/>
          </a:ln>
        </p:spPr>
      </p:sp>
      <p:sp>
        <p:nvSpPr>
          <p:cNvPr id="33" name="Text 31"/>
          <p:cNvSpPr/>
          <p:nvPr/>
        </p:nvSpPr>
        <p:spPr>
          <a:xfrm>
            <a:off x="9436608" y="247802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Terminal test</a:t>
            </a:r>
            <a:endParaRPr lang="en-US" sz="1700" dirty="0"/>
          </a:p>
        </p:txBody>
      </p:sp>
      <p:sp>
        <p:nvSpPr>
          <p:cNvPr id="34" name="Text 32"/>
          <p:cNvSpPr/>
          <p:nvPr/>
        </p:nvSpPr>
        <p:spPr>
          <a:xfrm>
            <a:off x="9436608" y="2862072"/>
            <a:ext cx="2194560" cy="18562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Prove `ssh rcc` works before opening VS Code.</a:t>
            </a:r>
            <a:endParaRPr lang="en-US" sz="1600" dirty="0"/>
          </a:p>
        </p:txBody>
      </p:sp>
      <p:sp>
        <p:nvSpPr>
          <p:cNvPr id="35" name="Text 33"/>
          <p:cNvSpPr/>
          <p:nvPr/>
        </p:nvSpPr>
        <p:spPr>
          <a:xfrm>
            <a:off x="3474720" y="5257800"/>
            <a:ext cx="5212080" cy="347472"/>
          </a:xfrm>
          <a:prstGeom prst="rect">
            <a:avLst/>
          </a:prstGeom>
          <a:noFill/>
          <a:ln/>
        </p:spPr>
        <p:txBody>
          <a:bodyPr wrap="square" lIns="0" tIns="0" rIns="0" bIns="0" rtlCol="0" anchor="ctr">
            <a:normAutofit/>
          </a:bodyPr>
          <a:lstStyle/>
          <a:p>
            <a:pPr algn="ctr" indent="0" marL="0">
              <a:buNone/>
            </a:pPr>
            <a:r>
              <a:rPr lang="en-US" sz="1800" b="1" dirty="0">
                <a:solidFill>
                  <a:srgbClr val="17324D"/>
                </a:solidFill>
                <a:latin typeface="Liberation Sans" pitchFamily="34" charset="0"/>
                <a:ea typeface="Liberation Sans" pitchFamily="34" charset="-122"/>
                <a:cs typeface="Liberation Sans" pitchFamily="34" charset="-120"/>
              </a:rPr>
              <a:t>Windows: PowerShell  |  macOS: Terminal</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5. The SSH route: gateway, submission host, and ProxyJump</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One friendly alias can hide the multi-hop route</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6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1005840" y="1600200"/>
            <a:ext cx="2926080" cy="2103120"/>
          </a:xfrm>
          <a:prstGeom prst="roundRect">
            <a:avLst>
              <a:gd name="adj" fmla="val 3478"/>
            </a:avLst>
          </a:prstGeom>
          <a:solidFill>
            <a:srgbClr val="FFFFFF"/>
          </a:solidFill>
          <a:ln w="12700">
            <a:solidFill>
              <a:srgbClr val="D7E0E7"/>
            </a:solidFill>
            <a:prstDash val="solid"/>
          </a:ln>
        </p:spPr>
      </p:sp>
      <p:sp>
        <p:nvSpPr>
          <p:cNvPr id="9" name="Shape 7"/>
          <p:cNvSpPr/>
          <p:nvPr/>
        </p:nvSpPr>
        <p:spPr>
          <a:xfrm>
            <a:off x="1005840" y="1600200"/>
            <a:ext cx="64008" cy="2103120"/>
          </a:xfrm>
          <a:prstGeom prst="rect">
            <a:avLst/>
          </a:prstGeom>
          <a:solidFill>
            <a:srgbClr val="007C83"/>
          </a:solidFill>
          <a:ln w="12700">
            <a:solidFill>
              <a:srgbClr val="007C83">
                <a:alpha val="0"/>
              </a:srgbClr>
            </a:solidFill>
            <a:prstDash val="solid"/>
          </a:ln>
        </p:spPr>
      </p:sp>
      <p:sp>
        <p:nvSpPr>
          <p:cNvPr id="10" name="Text 8"/>
          <p:cNvSpPr/>
          <p:nvPr/>
        </p:nvSpPr>
        <p:spPr>
          <a:xfrm>
            <a:off x="1207008" y="1746504"/>
            <a:ext cx="25786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Laptop</a:t>
            </a:r>
            <a:endParaRPr lang="en-US" sz="1700" dirty="0"/>
          </a:p>
        </p:txBody>
      </p:sp>
      <p:sp>
        <p:nvSpPr>
          <p:cNvPr id="11" name="Text 9"/>
          <p:cNvSpPr/>
          <p:nvPr/>
        </p:nvSpPr>
        <p:spPr>
          <a:xfrm>
            <a:off x="1207008" y="2130552"/>
            <a:ext cx="2578608" cy="144475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ssh rcc</a:t>
            </a:r>
            <a:endParaRPr lang="en-US" sz="1700" dirty="0"/>
          </a:p>
        </p:txBody>
      </p:sp>
      <p:sp>
        <p:nvSpPr>
          <p:cNvPr id="12" name="Shape 10"/>
          <p:cNvSpPr/>
          <p:nvPr/>
        </p:nvSpPr>
        <p:spPr>
          <a:xfrm>
            <a:off x="4617720" y="1600200"/>
            <a:ext cx="2926080" cy="2103120"/>
          </a:xfrm>
          <a:prstGeom prst="roundRect">
            <a:avLst>
              <a:gd name="adj" fmla="val 3478"/>
            </a:avLst>
          </a:prstGeom>
          <a:solidFill>
            <a:srgbClr val="FFFFFF"/>
          </a:solidFill>
          <a:ln w="12700">
            <a:solidFill>
              <a:srgbClr val="D7E0E7"/>
            </a:solidFill>
            <a:prstDash val="solid"/>
          </a:ln>
        </p:spPr>
      </p:sp>
      <p:sp>
        <p:nvSpPr>
          <p:cNvPr id="13" name="Shape 11"/>
          <p:cNvSpPr/>
          <p:nvPr/>
        </p:nvSpPr>
        <p:spPr>
          <a:xfrm>
            <a:off x="4617720" y="1600200"/>
            <a:ext cx="64008" cy="2103120"/>
          </a:xfrm>
          <a:prstGeom prst="rect">
            <a:avLst/>
          </a:prstGeom>
          <a:solidFill>
            <a:srgbClr val="D15B47"/>
          </a:solidFill>
          <a:ln w="12700">
            <a:solidFill>
              <a:srgbClr val="D15B47">
                <a:alpha val="0"/>
              </a:srgbClr>
            </a:solidFill>
            <a:prstDash val="solid"/>
          </a:ln>
        </p:spPr>
      </p:sp>
      <p:sp>
        <p:nvSpPr>
          <p:cNvPr id="14" name="Text 12"/>
          <p:cNvSpPr/>
          <p:nvPr/>
        </p:nvSpPr>
        <p:spPr>
          <a:xfrm>
            <a:off x="4818888" y="1746504"/>
            <a:ext cx="25786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Gateway</a:t>
            </a:r>
            <a:endParaRPr lang="en-US" sz="1700" dirty="0"/>
          </a:p>
        </p:txBody>
      </p:sp>
      <p:sp>
        <p:nvSpPr>
          <p:cNvPr id="15" name="Text 13"/>
          <p:cNvSpPr/>
          <p:nvPr/>
        </p:nvSpPr>
        <p:spPr>
          <a:xfrm>
            <a:off x="4818888" y="2130552"/>
            <a:ext cx="2578608" cy="144475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Internet-facing</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entry point</a:t>
            </a:r>
            <a:endParaRPr lang="en-US" sz="1700" dirty="0"/>
          </a:p>
        </p:txBody>
      </p:sp>
      <p:sp>
        <p:nvSpPr>
          <p:cNvPr id="16" name="Shape 14"/>
          <p:cNvSpPr/>
          <p:nvPr/>
        </p:nvSpPr>
        <p:spPr>
          <a:xfrm>
            <a:off x="8229600" y="1600200"/>
            <a:ext cx="2926080" cy="2103120"/>
          </a:xfrm>
          <a:prstGeom prst="roundRect">
            <a:avLst>
              <a:gd name="adj" fmla="val 3478"/>
            </a:avLst>
          </a:prstGeom>
          <a:solidFill>
            <a:srgbClr val="FFFFFF"/>
          </a:solidFill>
          <a:ln w="12700">
            <a:solidFill>
              <a:srgbClr val="D7E0E7"/>
            </a:solidFill>
            <a:prstDash val="solid"/>
          </a:ln>
        </p:spPr>
      </p:sp>
      <p:sp>
        <p:nvSpPr>
          <p:cNvPr id="17" name="Shape 15"/>
          <p:cNvSpPr/>
          <p:nvPr/>
        </p:nvSpPr>
        <p:spPr>
          <a:xfrm>
            <a:off x="8229600" y="1600200"/>
            <a:ext cx="64008" cy="2103120"/>
          </a:xfrm>
          <a:prstGeom prst="rect">
            <a:avLst/>
          </a:prstGeom>
          <a:solidFill>
            <a:srgbClr val="007C83"/>
          </a:solidFill>
          <a:ln w="12700">
            <a:solidFill>
              <a:srgbClr val="007C83">
                <a:alpha val="0"/>
              </a:srgbClr>
            </a:solidFill>
            <a:prstDash val="solid"/>
          </a:ln>
        </p:spPr>
      </p:sp>
      <p:sp>
        <p:nvSpPr>
          <p:cNvPr id="18" name="Text 16"/>
          <p:cNvSpPr/>
          <p:nvPr/>
        </p:nvSpPr>
        <p:spPr>
          <a:xfrm>
            <a:off x="8430768" y="1746504"/>
            <a:ext cx="25786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Submission host</a:t>
            </a:r>
            <a:endParaRPr lang="en-US" sz="1700" dirty="0"/>
          </a:p>
        </p:txBody>
      </p:sp>
      <p:sp>
        <p:nvSpPr>
          <p:cNvPr id="19" name="Text 17"/>
          <p:cNvSpPr/>
          <p:nvPr/>
        </p:nvSpPr>
        <p:spPr>
          <a:xfrm>
            <a:off x="8430768" y="2130552"/>
            <a:ext cx="2578608" cy="144475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Prepare files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and submit jobs</a:t>
            </a:r>
            <a:endParaRPr lang="en-US" sz="1700" dirty="0"/>
          </a:p>
        </p:txBody>
      </p:sp>
      <p:sp>
        <p:nvSpPr>
          <p:cNvPr id="20" name="Shape 18"/>
          <p:cNvSpPr/>
          <p:nvPr/>
        </p:nvSpPr>
        <p:spPr>
          <a:xfrm>
            <a:off x="3931920" y="2651760"/>
            <a:ext cx="685800" cy="0"/>
          </a:xfrm>
          <a:prstGeom prst="line">
            <a:avLst/>
          </a:prstGeom>
          <a:noFill/>
          <a:ln w="38100">
            <a:solidFill>
              <a:srgbClr val="D15B47"/>
            </a:solidFill>
            <a:prstDash val="solid"/>
            <a:headEnd type="none"/>
            <a:tailEnd type="triangle"/>
          </a:ln>
        </p:spPr>
      </p:sp>
      <p:sp>
        <p:nvSpPr>
          <p:cNvPr id="21" name="Shape 19"/>
          <p:cNvSpPr/>
          <p:nvPr/>
        </p:nvSpPr>
        <p:spPr>
          <a:xfrm>
            <a:off x="7543800" y="2651760"/>
            <a:ext cx="685800" cy="0"/>
          </a:xfrm>
          <a:prstGeom prst="line">
            <a:avLst/>
          </a:prstGeom>
          <a:noFill/>
          <a:ln w="38100">
            <a:solidFill>
              <a:srgbClr val="D15B47"/>
            </a:solidFill>
            <a:prstDash val="solid"/>
            <a:headEnd type="none"/>
            <a:tailEnd type="triangle"/>
          </a:ln>
        </p:spPr>
      </p:sp>
      <p:sp>
        <p:nvSpPr>
          <p:cNvPr id="22" name="Shape 20"/>
          <p:cNvSpPr/>
          <p:nvPr/>
        </p:nvSpPr>
        <p:spPr>
          <a:xfrm>
            <a:off x="5093208" y="4069080"/>
            <a:ext cx="1874520" cy="310896"/>
          </a:xfrm>
          <a:prstGeom prst="roundRect">
            <a:avLst/>
          </a:prstGeom>
          <a:solidFill>
            <a:srgbClr val="D15B47">
              <a:alpha val="12000"/>
            </a:srgbClr>
          </a:solidFill>
          <a:ln w="12700">
            <a:solidFill>
              <a:srgbClr val="D15B47">
                <a:alpha val="0"/>
              </a:srgbClr>
            </a:solidFill>
            <a:prstDash val="solid"/>
          </a:ln>
        </p:spPr>
      </p:sp>
      <p:sp>
        <p:nvSpPr>
          <p:cNvPr id="23" name="Text 21"/>
          <p:cNvSpPr/>
          <p:nvPr/>
        </p:nvSpPr>
        <p:spPr>
          <a:xfrm>
            <a:off x="5166360" y="4087368"/>
            <a:ext cx="1728216" cy="256032"/>
          </a:xfrm>
          <a:prstGeom prst="rect">
            <a:avLst/>
          </a:prstGeom>
          <a:noFill/>
          <a:ln/>
        </p:spPr>
        <p:txBody>
          <a:bodyPr wrap="square" lIns="0" tIns="0" rIns="0" bIns="0" rtlCol="0" anchor="ctr">
            <a:normAutofit/>
          </a:bodyPr>
          <a:lstStyle/>
          <a:p>
            <a:pPr algn="ctr" indent="0" marL="0">
              <a:buNone/>
            </a:pPr>
            <a:r>
              <a:rPr lang="en-US" sz="1100" b="1" dirty="0">
                <a:solidFill>
                  <a:srgbClr val="D15B47"/>
                </a:solidFill>
                <a:latin typeface="Liberation Sans" pitchFamily="34" charset="0"/>
                <a:ea typeface="Liberation Sans" pitchFamily="34" charset="-122"/>
                <a:cs typeface="Liberation Sans" pitchFamily="34" charset="-120"/>
              </a:rPr>
              <a:t>ProxyJump</a:t>
            </a:r>
            <a:endParaRPr lang="en-US" sz="1100" dirty="0"/>
          </a:p>
        </p:txBody>
      </p:sp>
      <p:sp>
        <p:nvSpPr>
          <p:cNvPr id="24" name="Shape 22"/>
          <p:cNvSpPr/>
          <p:nvPr/>
        </p:nvSpPr>
        <p:spPr>
          <a:xfrm>
            <a:off x="1143000" y="4828032"/>
            <a:ext cx="9921240" cy="658368"/>
          </a:xfrm>
          <a:prstGeom prst="roundRect">
            <a:avLst/>
          </a:prstGeom>
          <a:solidFill>
            <a:srgbClr val="007C83">
              <a:alpha val="8000"/>
            </a:srgbClr>
          </a:solidFill>
          <a:ln w="12700">
            <a:solidFill>
              <a:srgbClr val="007C83">
                <a:alpha val="0"/>
              </a:srgbClr>
            </a:solidFill>
            <a:prstDash val="solid"/>
          </a:ln>
        </p:spPr>
      </p:sp>
      <p:sp>
        <p:nvSpPr>
          <p:cNvPr id="25" name="Text 23"/>
          <p:cNvSpPr/>
          <p:nvPr/>
        </p:nvSpPr>
        <p:spPr>
          <a:xfrm>
            <a:off x="1463040" y="4992624"/>
            <a:ext cx="9281160" cy="310896"/>
          </a:xfrm>
          <a:prstGeom prst="rect">
            <a:avLst/>
          </a:prstGeom>
          <a:noFill/>
          <a:ln/>
        </p:spPr>
        <p:txBody>
          <a:bodyPr wrap="square" lIns="0" tIns="0" rIns="0" bIns="0" rtlCol="0" anchor="ctr">
            <a:normAutofit/>
          </a:bodyPr>
          <a:lstStyle/>
          <a:p>
            <a:pPr algn="ctr" indent="0" marL="0">
              <a:buNone/>
            </a:pPr>
            <a:r>
              <a:rPr lang="en-US" sz="1800" b="1" dirty="0">
                <a:solidFill>
                  <a:srgbClr val="007C83"/>
                </a:solidFill>
                <a:latin typeface="Liberation Sans" pitchFamily="34" charset="0"/>
                <a:ea typeface="Liberation Sans" pitchFamily="34" charset="-122"/>
                <a:cs typeface="Liberation Sans" pitchFamily="34" charset="-120"/>
              </a:rPr>
              <a:t>Use only administrator-published hostnames and fingerprints.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6. VS Code is local software with a remote workspace</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The interface stays on your laptop; files and terminals can be remote</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7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685800" y="1280160"/>
            <a:ext cx="10835640" cy="4434840"/>
          </a:xfrm>
          <a:prstGeom prst="roundRect">
            <a:avLst/>
          </a:prstGeom>
          <a:solidFill>
            <a:srgbClr val="F7F9FB"/>
          </a:solidFill>
          <a:ln w="15240">
            <a:solidFill>
              <a:srgbClr val="D7E0E7"/>
            </a:solidFill>
            <a:prstDash val="solid"/>
          </a:ln>
        </p:spPr>
      </p:sp>
      <p:sp>
        <p:nvSpPr>
          <p:cNvPr id="9" name="Shape 7"/>
          <p:cNvSpPr/>
          <p:nvPr/>
        </p:nvSpPr>
        <p:spPr>
          <a:xfrm>
            <a:off x="0" y="914400"/>
            <a:ext cx="914400" cy="914400"/>
          </a:xfrm>
          <a:prstGeom prst="rect">
            <a:avLst/>
          </a:prstGeom>
          <a:solidFill>
            <a:srgbClr val="FFFFFF"/>
          </a:solidFill>
          <a:ln w="12700">
            <a:solidFill>
              <a:srgbClr val="D7E0E7"/>
            </a:solidFill>
            <a:prstDash val="solid"/>
          </a:ln>
        </p:spPr>
      </p:sp>
      <p:sp>
        <p:nvSpPr>
          <p:cNvPr id="10" name="Text 8"/>
          <p:cNvSpPr/>
          <p:nvPr/>
        </p:nvSpPr>
        <p:spPr>
          <a:xfrm>
            <a:off x="914400" y="1399032"/>
            <a:ext cx="4114800" cy="22860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Liberation Sans" pitchFamily="34" charset="0"/>
                <a:ea typeface="Liberation Sans" pitchFamily="34" charset="-122"/>
                <a:cs typeface="Liberation Sans" pitchFamily="34" charset="-120"/>
              </a:rPr>
              <a:t>VS Code - SSH: rcc</a:t>
            </a:r>
            <a:endParaRPr lang="en-US" sz="1300" dirty="0"/>
          </a:p>
        </p:txBody>
      </p:sp>
      <p:sp>
        <p:nvSpPr>
          <p:cNvPr id="11" name="Shape 9"/>
          <p:cNvSpPr/>
          <p:nvPr/>
        </p:nvSpPr>
        <p:spPr>
          <a:xfrm>
            <a:off x="0" y="914400"/>
            <a:ext cx="914400" cy="914400"/>
          </a:xfrm>
          <a:prstGeom prst="rect">
            <a:avLst/>
          </a:prstGeom>
          <a:solidFill>
            <a:srgbClr val="FFFFFF"/>
          </a:solidFill>
          <a:ln w="12700">
            <a:solidFill>
              <a:srgbClr val="D7E0E7"/>
            </a:solidFill>
            <a:prstDash val="solid"/>
          </a:ln>
        </p:spPr>
      </p:sp>
      <p:sp>
        <p:nvSpPr>
          <p:cNvPr id="12" name="Text 10"/>
          <p:cNvSpPr/>
          <p:nvPr/>
        </p:nvSpPr>
        <p:spPr>
          <a:xfrm>
            <a:off x="914400" y="1993392"/>
            <a:ext cx="1920240" cy="2194560"/>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Mono" pitchFamily="34" charset="0"/>
                <a:ea typeface="Liberation Mono" pitchFamily="34" charset="-122"/>
                <a:cs typeface="Liberation Mono" pitchFamily="34" charset="-120"/>
              </a:rPr>
              <a:t>EXPLORER</a:t>
            </a:r>
            <a:endParaRPr lang="en-US" sz="1500" dirty="0"/>
          </a:p>
          <a:p>
            <a:pPr algn="l" indent="0" marL="0">
              <a:buNone/>
            </a:pPr>
            <a:endParaRPr lang="en-US" sz="1500" dirty="0"/>
          </a:p>
          <a:p>
            <a:pPr algn="l" indent="0" marL="0">
              <a:buNone/>
            </a:pPr>
            <a:r>
              <a:rPr lang="en-US" sz="1500" dirty="0">
                <a:solidFill>
                  <a:srgbClr val="1F2937"/>
                </a:solidFill>
                <a:latin typeface="Liberation Mono" pitchFamily="34" charset="0"/>
                <a:ea typeface="Liberation Mono" pitchFamily="34" charset="-122"/>
                <a:cs typeface="Liberation Mono" pitchFamily="34" charset="-120"/>
              </a:rPr>
              <a:t>project/</a:t>
            </a:r>
            <a:endParaRPr lang="en-US" sz="1500" dirty="0"/>
          </a:p>
          <a:p>
            <a:pPr algn="l" indent="0" marL="0">
              <a:buNone/>
            </a:pPr>
            <a:r>
              <a:rPr lang="en-US" sz="1500" dirty="0">
                <a:solidFill>
                  <a:srgbClr val="1F2937"/>
                </a:solidFill>
                <a:latin typeface="Liberation Mono" pitchFamily="34" charset="0"/>
                <a:ea typeface="Liberation Mono" pitchFamily="34" charset="-122"/>
                <a:cs typeface="Liberation Mono" pitchFamily="34" charset="-120"/>
              </a:rPr>
              <a:t>  data/</a:t>
            </a:r>
            <a:endParaRPr lang="en-US" sz="1500" dirty="0"/>
          </a:p>
          <a:p>
            <a:pPr algn="l" indent="0" marL="0">
              <a:buNone/>
            </a:pPr>
            <a:r>
              <a:rPr lang="en-US" sz="1500" dirty="0">
                <a:solidFill>
                  <a:srgbClr val="1F2937"/>
                </a:solidFill>
                <a:latin typeface="Liberation Mono" pitchFamily="34" charset="0"/>
                <a:ea typeface="Liberation Mono" pitchFamily="34" charset="-122"/>
                <a:cs typeface="Liberation Mono" pitchFamily="34" charset="-120"/>
              </a:rPr>
              <a:t>  workflow/</a:t>
            </a:r>
            <a:endParaRPr lang="en-US" sz="1500" dirty="0"/>
          </a:p>
          <a:p>
            <a:pPr algn="l" indent="0" marL="0">
              <a:buNone/>
            </a:pPr>
            <a:r>
              <a:rPr lang="en-US" sz="1500" dirty="0">
                <a:solidFill>
                  <a:srgbClr val="1F2937"/>
                </a:solidFill>
                <a:latin typeface="Liberation Mono" pitchFamily="34" charset="0"/>
                <a:ea typeface="Liberation Mono" pitchFamily="34" charset="-122"/>
                <a:cs typeface="Liberation Mono" pitchFamily="34" charset="-120"/>
              </a:rPr>
              <a:t>  results/</a:t>
            </a:r>
            <a:endParaRPr lang="en-US" sz="1500" dirty="0"/>
          </a:p>
        </p:txBody>
      </p:sp>
      <p:sp>
        <p:nvSpPr>
          <p:cNvPr id="13" name="Text 11"/>
          <p:cNvSpPr/>
          <p:nvPr/>
        </p:nvSpPr>
        <p:spPr>
          <a:xfrm>
            <a:off x="3749040" y="2148840"/>
            <a:ext cx="3794760" cy="347472"/>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Liberation Sans" pitchFamily="34" charset="0"/>
                <a:ea typeface="Liberation Sans" pitchFamily="34" charset="-122"/>
                <a:cs typeface="Liberation Sans" pitchFamily="34" charset="-120"/>
              </a:rPr>
              <a:t>Remote file editor</a:t>
            </a:r>
            <a:endParaRPr lang="en-US" sz="2000" dirty="0"/>
          </a:p>
        </p:txBody>
      </p:sp>
      <p:sp>
        <p:nvSpPr>
          <p:cNvPr id="14" name="Shape 12"/>
          <p:cNvSpPr/>
          <p:nvPr/>
        </p:nvSpPr>
        <p:spPr>
          <a:xfrm>
            <a:off x="3886200" y="2743200"/>
            <a:ext cx="3520440" cy="1051560"/>
          </a:xfrm>
          <a:prstGeom prst="roundRect">
            <a:avLst/>
          </a:prstGeom>
          <a:solidFill>
            <a:srgbClr val="007C83">
              <a:alpha val="7000"/>
            </a:srgbClr>
          </a:solidFill>
          <a:ln w="19050">
            <a:solidFill>
              <a:srgbClr val="007C83"/>
            </a:solidFill>
            <a:prstDash val="solid"/>
          </a:ln>
        </p:spPr>
      </p:sp>
      <p:sp>
        <p:nvSpPr>
          <p:cNvPr id="15" name="Text 13"/>
          <p:cNvSpPr/>
          <p:nvPr/>
        </p:nvSpPr>
        <p:spPr>
          <a:xfrm>
            <a:off x="4160520" y="2926080"/>
            <a:ext cx="2971800" cy="676656"/>
          </a:xfrm>
          <a:prstGeom prst="rect">
            <a:avLst/>
          </a:prstGeom>
          <a:noFill/>
          <a:ln/>
        </p:spPr>
        <p:txBody>
          <a:bodyPr wrap="square" lIns="0" tIns="0" rIns="0" bIns="0" rtlCol="0" anchor="ctr">
            <a:normAutofit/>
          </a:bodyPr>
          <a:lstStyle/>
          <a:p>
            <a:pPr algn="ctr" indent="0" marL="0">
              <a:buNone/>
            </a:pPr>
            <a:r>
              <a:rPr lang="en-US" sz="1700" b="1" dirty="0">
                <a:solidFill>
                  <a:srgbClr val="007C83"/>
                </a:solidFill>
                <a:latin typeface="Liberation Mono" pitchFamily="34" charset="0"/>
                <a:ea typeface="Liberation Mono" pitchFamily="34" charset="-122"/>
                <a:cs typeface="Liberation Mono" pitchFamily="34" charset="-120"/>
              </a:rPr>
              <a:t>hostname</a:t>
            </a:r>
            <a:endParaRPr lang="en-US" sz="1700" dirty="0"/>
          </a:p>
          <a:p>
            <a:pPr algn="ctr" indent="0" marL="0">
              <a:buNone/>
            </a:pPr>
            <a:r>
              <a:rPr lang="en-US" sz="1700" b="1" dirty="0">
                <a:solidFill>
                  <a:srgbClr val="007C83"/>
                </a:solidFill>
                <a:latin typeface="Liberation Mono" pitchFamily="34" charset="0"/>
                <a:ea typeface="Liberation Mono" pitchFamily="34" charset="-122"/>
                <a:cs typeface="Liberation Mono" pitchFamily="34" charset="-120"/>
              </a:rPr>
              <a:t>pwd</a:t>
            </a:r>
            <a:endParaRPr lang="en-US" sz="1700" dirty="0"/>
          </a:p>
          <a:p>
            <a:pPr algn="ctr" indent="0" marL="0">
              <a:buNone/>
            </a:pPr>
            <a:r>
              <a:rPr lang="en-US" sz="1700" b="1" dirty="0">
                <a:solidFill>
                  <a:srgbClr val="007C83"/>
                </a:solidFill>
                <a:latin typeface="Liberation Mono" pitchFamily="34" charset="0"/>
                <a:ea typeface="Liberation Mono" pitchFamily="34" charset="-122"/>
                <a:cs typeface="Liberation Mono" pitchFamily="34" charset="-120"/>
              </a:rPr>
              <a:t>whoami</a:t>
            </a:r>
            <a:endParaRPr lang="en-US" sz="1700" dirty="0"/>
          </a:p>
        </p:txBody>
      </p:sp>
      <p:sp>
        <p:nvSpPr>
          <p:cNvPr id="16" name="Shape 14"/>
          <p:cNvSpPr/>
          <p:nvPr/>
        </p:nvSpPr>
        <p:spPr>
          <a:xfrm>
            <a:off x="0" y="914400"/>
            <a:ext cx="914400" cy="914400"/>
          </a:xfrm>
          <a:prstGeom prst="rect">
            <a:avLst/>
          </a:prstGeom>
          <a:solidFill>
            <a:srgbClr val="FFFFFF"/>
          </a:solidFill>
          <a:ln w="12700">
            <a:solidFill>
              <a:srgbClr val="D7E0E7"/>
            </a:solidFill>
            <a:prstDash val="solid"/>
          </a:ln>
        </p:spPr>
      </p:sp>
      <p:sp>
        <p:nvSpPr>
          <p:cNvPr id="17" name="Text 15"/>
          <p:cNvSpPr/>
          <p:nvPr/>
        </p:nvSpPr>
        <p:spPr>
          <a:xfrm>
            <a:off x="3456432" y="4553712"/>
            <a:ext cx="7680960" cy="320040"/>
          </a:xfrm>
          <a:prstGeom prst="rect">
            <a:avLst/>
          </a:prstGeom>
          <a:noFill/>
          <a:ln/>
        </p:spPr>
        <p:txBody>
          <a:bodyPr wrap="square" lIns="0" tIns="0" rIns="0" bIns="0" rtlCol="0" anchor="ctr">
            <a:normAutofit/>
          </a:bodyPr>
          <a:lstStyle/>
          <a:p>
            <a:pPr algn="l" indent="0" marL="0">
              <a:buNone/>
            </a:pPr>
            <a:r>
              <a:rPr lang="en-US" sz="1500" dirty="0">
                <a:solidFill>
                  <a:srgbClr val="B9F6CA"/>
                </a:solidFill>
                <a:latin typeface="Liberation Mono" pitchFamily="34" charset="0"/>
                <a:ea typeface="Liberation Mono" pitchFamily="34" charset="-122"/>
                <a:cs typeface="Liberation Mono" pitchFamily="34" charset="-120"/>
              </a:rPr>
              <a:t>[user@submission project]$ sbatch first_job.sh</a:t>
            </a:r>
            <a:endParaRPr lang="en-US" sz="1500" dirty="0"/>
          </a:p>
        </p:txBody>
      </p:sp>
      <p:sp>
        <p:nvSpPr>
          <p:cNvPr id="18" name="Shape 16"/>
          <p:cNvSpPr/>
          <p:nvPr/>
        </p:nvSpPr>
        <p:spPr>
          <a:xfrm>
            <a:off x="850392" y="5358384"/>
            <a:ext cx="1325880" cy="310896"/>
          </a:xfrm>
          <a:prstGeom prst="roundRect">
            <a:avLst/>
          </a:prstGeom>
          <a:solidFill>
            <a:srgbClr val="007C83">
              <a:alpha val="12000"/>
            </a:srgbClr>
          </a:solidFill>
          <a:ln w="12700">
            <a:solidFill>
              <a:srgbClr val="007C83">
                <a:alpha val="0"/>
              </a:srgbClr>
            </a:solidFill>
            <a:prstDash val="solid"/>
          </a:ln>
        </p:spPr>
      </p:sp>
      <p:sp>
        <p:nvSpPr>
          <p:cNvPr id="19" name="Text 17"/>
          <p:cNvSpPr/>
          <p:nvPr/>
        </p:nvSpPr>
        <p:spPr>
          <a:xfrm>
            <a:off x="923544" y="5376672"/>
            <a:ext cx="1179576" cy="256032"/>
          </a:xfrm>
          <a:prstGeom prst="rect">
            <a:avLst/>
          </a:prstGeom>
          <a:noFill/>
          <a:ln/>
        </p:spPr>
        <p:txBody>
          <a:bodyPr wrap="square" lIns="0" tIns="0" rIns="0" bIns="0" rtlCol="0" anchor="ctr">
            <a:normAutofit/>
          </a:bodyPr>
          <a:lstStyle/>
          <a:p>
            <a:pPr algn="ctr" indent="0" marL="0">
              <a:buNone/>
            </a:pPr>
            <a:r>
              <a:rPr lang="en-US" sz="1100" b="1" dirty="0">
                <a:solidFill>
                  <a:srgbClr val="007C83"/>
                </a:solidFill>
                <a:latin typeface="Liberation Sans" pitchFamily="34" charset="0"/>
                <a:ea typeface="Liberation Sans" pitchFamily="34" charset="-122"/>
                <a:cs typeface="Liberation Sans" pitchFamily="34" charset="-120"/>
              </a:rPr>
              <a:t>REMOTE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7. Data transfer is a separate workflow</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Move data deliberately, verify integrity, and respect data protection</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8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731520" y="1874520"/>
            <a:ext cx="658368" cy="658368"/>
          </a:xfrm>
          <a:prstGeom prst="ellipse">
            <a:avLst/>
          </a:prstGeom>
          <a:solidFill>
            <a:srgbClr val="007C83"/>
          </a:solidFill>
          <a:ln w="12700">
            <a:solidFill>
              <a:srgbClr val="007C83">
                <a:alpha val="0"/>
              </a:srgbClr>
            </a:solidFill>
            <a:prstDash val="solid"/>
          </a:ln>
        </p:spPr>
      </p:sp>
      <p:sp>
        <p:nvSpPr>
          <p:cNvPr id="9" name="Text 7"/>
          <p:cNvSpPr/>
          <p:nvPr/>
        </p:nvSpPr>
        <p:spPr>
          <a:xfrm>
            <a:off x="731520" y="2011680"/>
            <a:ext cx="658368"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1</a:t>
            </a:r>
            <a:endParaRPr lang="en-US" sz="1800" dirty="0"/>
          </a:p>
        </p:txBody>
      </p:sp>
      <p:sp>
        <p:nvSpPr>
          <p:cNvPr id="10" name="Text 8"/>
          <p:cNvSpPr/>
          <p:nvPr/>
        </p:nvSpPr>
        <p:spPr>
          <a:xfrm>
            <a:off x="292608" y="2743200"/>
            <a:ext cx="1554480" cy="310896"/>
          </a:xfrm>
          <a:prstGeom prst="rect">
            <a:avLst/>
          </a:prstGeom>
          <a:noFill/>
          <a:ln/>
        </p:spPr>
        <p:txBody>
          <a:bodyPr wrap="square" lIns="0" tIns="0" rIns="0" bIns="0" rtlCol="0" anchor="ctr">
            <a:normAutofit/>
          </a:bodyPr>
          <a:lstStyle/>
          <a:p>
            <a:pPr algn="ctr" indent="0" marL="0">
              <a:buNone/>
            </a:pPr>
            <a:r>
              <a:rPr lang="en-US" sz="1800" b="1" dirty="0">
                <a:solidFill>
                  <a:srgbClr val="17324D"/>
                </a:solidFill>
                <a:latin typeface="Liberation Sans" pitchFamily="34" charset="0"/>
                <a:ea typeface="Liberation Sans" pitchFamily="34" charset="-122"/>
                <a:cs typeface="Liberation Sans" pitchFamily="34" charset="-120"/>
              </a:rPr>
              <a:t>Select</a:t>
            </a:r>
            <a:endParaRPr lang="en-US" sz="1800" dirty="0"/>
          </a:p>
        </p:txBody>
      </p:sp>
      <p:sp>
        <p:nvSpPr>
          <p:cNvPr id="11" name="Text 9"/>
          <p:cNvSpPr/>
          <p:nvPr/>
        </p:nvSpPr>
        <p:spPr>
          <a:xfrm>
            <a:off x="164592" y="3127248"/>
            <a:ext cx="1828800" cy="512064"/>
          </a:xfrm>
          <a:prstGeom prst="rect">
            <a:avLst/>
          </a:prstGeom>
          <a:noFill/>
          <a:ln/>
        </p:spPr>
        <p:txBody>
          <a:bodyPr wrap="square" lIns="0" tIns="0" rIns="0" bIns="0" rtlCol="0" anchor="ctr">
            <a:normAutofit/>
          </a:bodyPr>
          <a:lstStyle/>
          <a:p>
            <a:pPr algn="ctr" indent="0" marL="0">
              <a:buNone/>
            </a:pPr>
            <a:r>
              <a:rPr lang="en-US" sz="1400" dirty="0">
                <a:solidFill>
                  <a:srgbClr val="5E6B78"/>
                </a:solidFill>
                <a:latin typeface="Liberation Sans" pitchFamily="34" charset="0"/>
                <a:ea typeface="Liberation Sans" pitchFamily="34" charset="-122"/>
                <a:cs typeface="Liberation Sans" pitchFamily="34" charset="-120"/>
              </a:rPr>
              <a:t>approved source</a:t>
            </a:r>
            <a:endParaRPr lang="en-US" sz="1400" dirty="0"/>
          </a:p>
        </p:txBody>
      </p:sp>
      <p:sp>
        <p:nvSpPr>
          <p:cNvPr id="12" name="Shape 10"/>
          <p:cNvSpPr/>
          <p:nvPr/>
        </p:nvSpPr>
        <p:spPr>
          <a:xfrm>
            <a:off x="1389888" y="2212848"/>
            <a:ext cx="2221992" cy="0"/>
          </a:xfrm>
          <a:prstGeom prst="line">
            <a:avLst/>
          </a:prstGeom>
          <a:noFill/>
          <a:ln w="25400">
            <a:solidFill>
              <a:srgbClr val="5E6B78"/>
            </a:solidFill>
            <a:prstDash val="solid"/>
            <a:headEnd type="none"/>
            <a:tailEnd type="triangle"/>
          </a:ln>
        </p:spPr>
      </p:sp>
      <p:sp>
        <p:nvSpPr>
          <p:cNvPr id="13" name="Shape 11"/>
          <p:cNvSpPr/>
          <p:nvPr/>
        </p:nvSpPr>
        <p:spPr>
          <a:xfrm>
            <a:off x="3611880" y="1874520"/>
            <a:ext cx="658368" cy="658368"/>
          </a:xfrm>
          <a:prstGeom prst="ellipse">
            <a:avLst/>
          </a:prstGeom>
          <a:solidFill>
            <a:srgbClr val="007C83"/>
          </a:solidFill>
          <a:ln w="12700">
            <a:solidFill>
              <a:srgbClr val="007C83">
                <a:alpha val="0"/>
              </a:srgbClr>
            </a:solidFill>
            <a:prstDash val="solid"/>
          </a:ln>
        </p:spPr>
      </p:sp>
      <p:sp>
        <p:nvSpPr>
          <p:cNvPr id="14" name="Text 12"/>
          <p:cNvSpPr/>
          <p:nvPr/>
        </p:nvSpPr>
        <p:spPr>
          <a:xfrm>
            <a:off x="3611880" y="2011680"/>
            <a:ext cx="658368"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2</a:t>
            </a:r>
            <a:endParaRPr lang="en-US" sz="1800" dirty="0"/>
          </a:p>
        </p:txBody>
      </p:sp>
      <p:sp>
        <p:nvSpPr>
          <p:cNvPr id="15" name="Text 13"/>
          <p:cNvSpPr/>
          <p:nvPr/>
        </p:nvSpPr>
        <p:spPr>
          <a:xfrm>
            <a:off x="3172968" y="2743200"/>
            <a:ext cx="1554480" cy="310896"/>
          </a:xfrm>
          <a:prstGeom prst="rect">
            <a:avLst/>
          </a:prstGeom>
          <a:noFill/>
          <a:ln/>
        </p:spPr>
        <p:txBody>
          <a:bodyPr wrap="square" lIns="0" tIns="0" rIns="0" bIns="0" rtlCol="0" anchor="ctr">
            <a:normAutofit/>
          </a:bodyPr>
          <a:lstStyle/>
          <a:p>
            <a:pPr algn="ctr" indent="0" marL="0">
              <a:buNone/>
            </a:pPr>
            <a:r>
              <a:rPr lang="en-US" sz="1800" b="1" dirty="0">
                <a:solidFill>
                  <a:srgbClr val="17324D"/>
                </a:solidFill>
                <a:latin typeface="Liberation Sans" pitchFamily="34" charset="0"/>
                <a:ea typeface="Liberation Sans" pitchFamily="34" charset="-122"/>
                <a:cs typeface="Liberation Sans" pitchFamily="34" charset="-120"/>
              </a:rPr>
              <a:t>Transfer</a:t>
            </a:r>
            <a:endParaRPr lang="en-US" sz="1800" dirty="0"/>
          </a:p>
        </p:txBody>
      </p:sp>
      <p:sp>
        <p:nvSpPr>
          <p:cNvPr id="16" name="Text 14"/>
          <p:cNvSpPr/>
          <p:nvPr/>
        </p:nvSpPr>
        <p:spPr>
          <a:xfrm>
            <a:off x="3044952" y="3127248"/>
            <a:ext cx="1828800" cy="512064"/>
          </a:xfrm>
          <a:prstGeom prst="rect">
            <a:avLst/>
          </a:prstGeom>
          <a:noFill/>
          <a:ln/>
        </p:spPr>
        <p:txBody>
          <a:bodyPr wrap="square" lIns="0" tIns="0" rIns="0" bIns="0" rtlCol="0" anchor="ctr">
            <a:normAutofit/>
          </a:bodyPr>
          <a:lstStyle/>
          <a:p>
            <a:pPr algn="ctr" indent="0" marL="0">
              <a:buNone/>
            </a:pPr>
            <a:r>
              <a:rPr lang="en-US" sz="1400" dirty="0">
                <a:solidFill>
                  <a:srgbClr val="5E6B78"/>
                </a:solidFill>
                <a:latin typeface="Liberation Sans" pitchFamily="34" charset="0"/>
                <a:ea typeface="Liberation Sans" pitchFamily="34" charset="-122"/>
                <a:cs typeface="Liberation Sans" pitchFamily="34" charset="-120"/>
              </a:rPr>
              <a:t>managed service</a:t>
            </a:r>
            <a:endParaRPr lang="en-US" sz="1400" dirty="0"/>
          </a:p>
        </p:txBody>
      </p:sp>
      <p:sp>
        <p:nvSpPr>
          <p:cNvPr id="17" name="Shape 15"/>
          <p:cNvSpPr/>
          <p:nvPr/>
        </p:nvSpPr>
        <p:spPr>
          <a:xfrm>
            <a:off x="4270248" y="2212848"/>
            <a:ext cx="2221992" cy="0"/>
          </a:xfrm>
          <a:prstGeom prst="line">
            <a:avLst/>
          </a:prstGeom>
          <a:noFill/>
          <a:ln w="25400">
            <a:solidFill>
              <a:srgbClr val="5E6B78"/>
            </a:solidFill>
            <a:prstDash val="solid"/>
            <a:headEnd type="none"/>
            <a:tailEnd type="triangle"/>
          </a:ln>
        </p:spPr>
      </p:sp>
      <p:sp>
        <p:nvSpPr>
          <p:cNvPr id="18" name="Shape 16"/>
          <p:cNvSpPr/>
          <p:nvPr/>
        </p:nvSpPr>
        <p:spPr>
          <a:xfrm>
            <a:off x="6492240" y="1874520"/>
            <a:ext cx="658368" cy="658368"/>
          </a:xfrm>
          <a:prstGeom prst="ellipse">
            <a:avLst/>
          </a:prstGeom>
          <a:solidFill>
            <a:srgbClr val="007C83"/>
          </a:solidFill>
          <a:ln w="12700">
            <a:solidFill>
              <a:srgbClr val="007C83">
                <a:alpha val="0"/>
              </a:srgbClr>
            </a:solidFill>
            <a:prstDash val="solid"/>
          </a:ln>
        </p:spPr>
      </p:sp>
      <p:sp>
        <p:nvSpPr>
          <p:cNvPr id="19" name="Text 17"/>
          <p:cNvSpPr/>
          <p:nvPr/>
        </p:nvSpPr>
        <p:spPr>
          <a:xfrm>
            <a:off x="6492240" y="2011680"/>
            <a:ext cx="658368"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3</a:t>
            </a:r>
            <a:endParaRPr lang="en-US" sz="1800" dirty="0"/>
          </a:p>
        </p:txBody>
      </p:sp>
      <p:sp>
        <p:nvSpPr>
          <p:cNvPr id="20" name="Text 18"/>
          <p:cNvSpPr/>
          <p:nvPr/>
        </p:nvSpPr>
        <p:spPr>
          <a:xfrm>
            <a:off x="6053328" y="2743200"/>
            <a:ext cx="1554480" cy="310896"/>
          </a:xfrm>
          <a:prstGeom prst="rect">
            <a:avLst/>
          </a:prstGeom>
          <a:noFill/>
          <a:ln/>
        </p:spPr>
        <p:txBody>
          <a:bodyPr wrap="square" lIns="0" tIns="0" rIns="0" bIns="0" rtlCol="0" anchor="ctr">
            <a:normAutofit/>
          </a:bodyPr>
          <a:lstStyle/>
          <a:p>
            <a:pPr algn="ctr" indent="0" marL="0">
              <a:buNone/>
            </a:pPr>
            <a:r>
              <a:rPr lang="en-US" sz="1800" b="1" dirty="0">
                <a:solidFill>
                  <a:srgbClr val="17324D"/>
                </a:solidFill>
                <a:latin typeface="Liberation Sans" pitchFamily="34" charset="0"/>
                <a:ea typeface="Liberation Sans" pitchFamily="34" charset="-122"/>
                <a:cs typeface="Liberation Sans" pitchFamily="34" charset="-120"/>
              </a:rPr>
              <a:t>Store</a:t>
            </a:r>
            <a:endParaRPr lang="en-US" sz="1800" dirty="0"/>
          </a:p>
        </p:txBody>
      </p:sp>
      <p:sp>
        <p:nvSpPr>
          <p:cNvPr id="21" name="Text 19"/>
          <p:cNvSpPr/>
          <p:nvPr/>
        </p:nvSpPr>
        <p:spPr>
          <a:xfrm>
            <a:off x="5925312" y="3127248"/>
            <a:ext cx="1828800" cy="512064"/>
          </a:xfrm>
          <a:prstGeom prst="rect">
            <a:avLst/>
          </a:prstGeom>
          <a:noFill/>
          <a:ln/>
        </p:spPr>
        <p:txBody>
          <a:bodyPr wrap="square" lIns="0" tIns="0" rIns="0" bIns="0" rtlCol="0" anchor="ctr">
            <a:normAutofit/>
          </a:bodyPr>
          <a:lstStyle/>
          <a:p>
            <a:pPr algn="ctr" indent="0" marL="0">
              <a:buNone/>
            </a:pPr>
            <a:r>
              <a:rPr lang="en-US" sz="1400" dirty="0">
                <a:solidFill>
                  <a:srgbClr val="5E6B78"/>
                </a:solidFill>
                <a:latin typeface="Liberation Sans" pitchFamily="34" charset="0"/>
                <a:ea typeface="Liberation Sans" pitchFamily="34" charset="-122"/>
                <a:cs typeface="Liberation Sans" pitchFamily="34" charset="-120"/>
              </a:rPr>
              <a:t>project directory</a:t>
            </a:r>
            <a:endParaRPr lang="en-US" sz="1400" dirty="0"/>
          </a:p>
        </p:txBody>
      </p:sp>
      <p:sp>
        <p:nvSpPr>
          <p:cNvPr id="22" name="Shape 20"/>
          <p:cNvSpPr/>
          <p:nvPr/>
        </p:nvSpPr>
        <p:spPr>
          <a:xfrm>
            <a:off x="7150608" y="2212848"/>
            <a:ext cx="2221992" cy="0"/>
          </a:xfrm>
          <a:prstGeom prst="line">
            <a:avLst/>
          </a:prstGeom>
          <a:noFill/>
          <a:ln w="25400">
            <a:solidFill>
              <a:srgbClr val="5E6B78"/>
            </a:solidFill>
            <a:prstDash val="solid"/>
            <a:headEnd type="none"/>
            <a:tailEnd type="triangle"/>
          </a:ln>
        </p:spPr>
      </p:sp>
      <p:sp>
        <p:nvSpPr>
          <p:cNvPr id="23" name="Shape 21"/>
          <p:cNvSpPr/>
          <p:nvPr/>
        </p:nvSpPr>
        <p:spPr>
          <a:xfrm>
            <a:off x="9372600" y="1874520"/>
            <a:ext cx="658368" cy="658368"/>
          </a:xfrm>
          <a:prstGeom prst="ellipse">
            <a:avLst/>
          </a:prstGeom>
          <a:solidFill>
            <a:srgbClr val="3A8D63"/>
          </a:solidFill>
          <a:ln w="12700">
            <a:solidFill>
              <a:srgbClr val="3A8D63">
                <a:alpha val="0"/>
              </a:srgbClr>
            </a:solidFill>
            <a:prstDash val="solid"/>
          </a:ln>
        </p:spPr>
      </p:sp>
      <p:sp>
        <p:nvSpPr>
          <p:cNvPr id="24" name="Text 22"/>
          <p:cNvSpPr/>
          <p:nvPr/>
        </p:nvSpPr>
        <p:spPr>
          <a:xfrm>
            <a:off x="9372600" y="2011680"/>
            <a:ext cx="658368"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Liberation Sans" pitchFamily="34" charset="0"/>
                <a:ea typeface="Liberation Sans" pitchFamily="34" charset="-122"/>
                <a:cs typeface="Liberation Sans" pitchFamily="34" charset="-120"/>
              </a:rPr>
              <a:t>4</a:t>
            </a:r>
            <a:endParaRPr lang="en-US" sz="1800" dirty="0"/>
          </a:p>
        </p:txBody>
      </p:sp>
      <p:sp>
        <p:nvSpPr>
          <p:cNvPr id="25" name="Text 23"/>
          <p:cNvSpPr/>
          <p:nvPr/>
        </p:nvSpPr>
        <p:spPr>
          <a:xfrm>
            <a:off x="8933688" y="2743200"/>
            <a:ext cx="1554480" cy="310896"/>
          </a:xfrm>
          <a:prstGeom prst="rect">
            <a:avLst/>
          </a:prstGeom>
          <a:noFill/>
          <a:ln/>
        </p:spPr>
        <p:txBody>
          <a:bodyPr wrap="square" lIns="0" tIns="0" rIns="0" bIns="0" rtlCol="0" anchor="ctr">
            <a:normAutofit/>
          </a:bodyPr>
          <a:lstStyle/>
          <a:p>
            <a:pPr algn="ctr" indent="0" marL="0">
              <a:buNone/>
            </a:pPr>
            <a:r>
              <a:rPr lang="en-US" sz="1800" b="1" dirty="0">
                <a:solidFill>
                  <a:srgbClr val="17324D"/>
                </a:solidFill>
                <a:latin typeface="Liberation Sans" pitchFamily="34" charset="0"/>
                <a:ea typeface="Liberation Sans" pitchFamily="34" charset="-122"/>
                <a:cs typeface="Liberation Sans" pitchFamily="34" charset="-120"/>
              </a:rPr>
              <a:t>Verify</a:t>
            </a:r>
            <a:endParaRPr lang="en-US" sz="1800" dirty="0"/>
          </a:p>
        </p:txBody>
      </p:sp>
      <p:sp>
        <p:nvSpPr>
          <p:cNvPr id="26" name="Text 24"/>
          <p:cNvSpPr/>
          <p:nvPr/>
        </p:nvSpPr>
        <p:spPr>
          <a:xfrm>
            <a:off x="8805672" y="3127248"/>
            <a:ext cx="1828800" cy="512064"/>
          </a:xfrm>
          <a:prstGeom prst="rect">
            <a:avLst/>
          </a:prstGeom>
          <a:noFill/>
          <a:ln/>
        </p:spPr>
        <p:txBody>
          <a:bodyPr wrap="square" lIns="0" tIns="0" rIns="0" bIns="0" rtlCol="0" anchor="ctr">
            <a:normAutofit/>
          </a:bodyPr>
          <a:lstStyle/>
          <a:p>
            <a:pPr algn="ctr" indent="0" marL="0">
              <a:buNone/>
            </a:pPr>
            <a:r>
              <a:rPr lang="en-US" sz="1400" dirty="0">
                <a:solidFill>
                  <a:srgbClr val="5E6B78"/>
                </a:solidFill>
                <a:latin typeface="Liberation Sans" pitchFamily="34" charset="0"/>
                <a:ea typeface="Liberation Sans" pitchFamily="34" charset="-122"/>
                <a:cs typeface="Liberation Sans" pitchFamily="34" charset="-120"/>
              </a:rPr>
              <a:t>matching checksum</a:t>
            </a:r>
            <a:endParaRPr lang="en-US" sz="1400" dirty="0"/>
          </a:p>
        </p:txBody>
      </p:sp>
      <p:sp>
        <p:nvSpPr>
          <p:cNvPr id="27" name="Shape 25"/>
          <p:cNvSpPr/>
          <p:nvPr/>
        </p:nvSpPr>
        <p:spPr>
          <a:xfrm>
            <a:off x="1325880" y="4343400"/>
            <a:ext cx="9509760" cy="777240"/>
          </a:xfrm>
          <a:prstGeom prst="roundRect">
            <a:avLst/>
          </a:prstGeom>
          <a:solidFill>
            <a:srgbClr val="3A8D63">
              <a:alpha val="8000"/>
            </a:srgbClr>
          </a:solidFill>
          <a:ln w="12700">
            <a:solidFill>
              <a:srgbClr val="3A8D63">
                <a:alpha val="0"/>
              </a:srgbClr>
            </a:solidFill>
            <a:prstDash val="solid"/>
          </a:ln>
        </p:spPr>
      </p:sp>
      <p:sp>
        <p:nvSpPr>
          <p:cNvPr id="28" name="Text 26"/>
          <p:cNvSpPr/>
          <p:nvPr/>
        </p:nvSpPr>
        <p:spPr>
          <a:xfrm>
            <a:off x="1691640" y="4562856"/>
            <a:ext cx="8778240" cy="329184"/>
          </a:xfrm>
          <a:prstGeom prst="rect">
            <a:avLst/>
          </a:prstGeom>
          <a:noFill/>
          <a:ln/>
        </p:spPr>
        <p:txBody>
          <a:bodyPr wrap="square" lIns="0" tIns="0" rIns="0" bIns="0" rtlCol="0" anchor="ctr">
            <a:normAutofit/>
          </a:bodyPr>
          <a:lstStyle/>
          <a:p>
            <a:pPr algn="ctr" indent="0" marL="0">
              <a:buNone/>
            </a:pPr>
            <a:r>
              <a:rPr lang="en-US" sz="1800" b="1" dirty="0">
                <a:solidFill>
                  <a:srgbClr val="3A8D63"/>
                </a:solidFill>
                <a:latin typeface="Liberation Mono" pitchFamily="34" charset="0"/>
                <a:ea typeface="Liberation Mono" pitchFamily="34" charset="-122"/>
                <a:cs typeface="Liberation Mono" pitchFamily="34" charset="-120"/>
              </a:rPr>
              <a:t>Local SHA-256  =  RCC SHA-256  →  transfer verified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8. Why Slurm?</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A fair and auditable resource manager for shared compute</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9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475488" y="1508760"/>
            <a:ext cx="2057400" cy="2331720"/>
          </a:xfrm>
          <a:prstGeom prst="roundRect">
            <a:avLst>
              <a:gd name="adj" fmla="val 3556"/>
            </a:avLst>
          </a:prstGeom>
          <a:solidFill>
            <a:srgbClr val="FAFBFC"/>
          </a:solidFill>
          <a:ln w="12700">
            <a:solidFill>
              <a:srgbClr val="D7E0E7"/>
            </a:solidFill>
            <a:prstDash val="solid"/>
          </a:ln>
        </p:spPr>
      </p:sp>
      <p:sp>
        <p:nvSpPr>
          <p:cNvPr id="9" name="Shape 7"/>
          <p:cNvSpPr/>
          <p:nvPr/>
        </p:nvSpPr>
        <p:spPr>
          <a:xfrm>
            <a:off x="475488" y="1508760"/>
            <a:ext cx="64008" cy="2331720"/>
          </a:xfrm>
          <a:prstGeom prst="rect">
            <a:avLst/>
          </a:prstGeom>
          <a:solidFill>
            <a:srgbClr val="007C83"/>
          </a:solidFill>
          <a:ln w="12700">
            <a:solidFill>
              <a:srgbClr val="007C83">
                <a:alpha val="0"/>
              </a:srgbClr>
            </a:solidFill>
            <a:prstDash val="solid"/>
          </a:ln>
        </p:spPr>
      </p:sp>
      <p:sp>
        <p:nvSpPr>
          <p:cNvPr id="10" name="Text 8"/>
          <p:cNvSpPr/>
          <p:nvPr/>
        </p:nvSpPr>
        <p:spPr>
          <a:xfrm>
            <a:off x="676656" y="165506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Describe</a:t>
            </a:r>
            <a:endParaRPr lang="en-US" sz="1700" dirty="0"/>
          </a:p>
        </p:txBody>
      </p:sp>
      <p:sp>
        <p:nvSpPr>
          <p:cNvPr id="11" name="Text 9"/>
          <p:cNvSpPr/>
          <p:nvPr/>
        </p:nvSpPr>
        <p:spPr>
          <a:xfrm>
            <a:off x="676656" y="2039112"/>
            <a:ext cx="1709928" cy="167335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time · CPU · RAM · GPU</a:t>
            </a:r>
            <a:endParaRPr lang="en-US" sz="1500" dirty="0"/>
          </a:p>
        </p:txBody>
      </p:sp>
      <p:sp>
        <p:nvSpPr>
          <p:cNvPr id="12" name="Shape 10"/>
          <p:cNvSpPr/>
          <p:nvPr/>
        </p:nvSpPr>
        <p:spPr>
          <a:xfrm>
            <a:off x="2532888" y="2670048"/>
            <a:ext cx="265176" cy="0"/>
          </a:xfrm>
          <a:prstGeom prst="line">
            <a:avLst/>
          </a:prstGeom>
          <a:noFill/>
          <a:ln w="25400">
            <a:solidFill>
              <a:srgbClr val="5E6B78"/>
            </a:solidFill>
            <a:prstDash val="solid"/>
            <a:headEnd type="none"/>
            <a:tailEnd type="triangle"/>
          </a:ln>
        </p:spPr>
      </p:sp>
      <p:sp>
        <p:nvSpPr>
          <p:cNvPr id="13" name="Shape 11"/>
          <p:cNvSpPr/>
          <p:nvPr/>
        </p:nvSpPr>
        <p:spPr>
          <a:xfrm>
            <a:off x="2807208" y="1508760"/>
            <a:ext cx="2057400" cy="2331720"/>
          </a:xfrm>
          <a:prstGeom prst="roundRect">
            <a:avLst>
              <a:gd name="adj" fmla="val 3556"/>
            </a:avLst>
          </a:prstGeom>
          <a:solidFill>
            <a:srgbClr val="FAFBFC"/>
          </a:solidFill>
          <a:ln w="12700">
            <a:solidFill>
              <a:srgbClr val="D7E0E7"/>
            </a:solidFill>
            <a:prstDash val="solid"/>
          </a:ln>
        </p:spPr>
      </p:sp>
      <p:sp>
        <p:nvSpPr>
          <p:cNvPr id="14" name="Shape 12"/>
          <p:cNvSpPr/>
          <p:nvPr/>
        </p:nvSpPr>
        <p:spPr>
          <a:xfrm>
            <a:off x="2807208" y="1508760"/>
            <a:ext cx="64008" cy="2331720"/>
          </a:xfrm>
          <a:prstGeom prst="rect">
            <a:avLst/>
          </a:prstGeom>
          <a:solidFill>
            <a:srgbClr val="C58A13"/>
          </a:solidFill>
          <a:ln w="12700">
            <a:solidFill>
              <a:srgbClr val="C58A13">
                <a:alpha val="0"/>
              </a:srgbClr>
            </a:solidFill>
            <a:prstDash val="solid"/>
          </a:ln>
        </p:spPr>
      </p:sp>
      <p:sp>
        <p:nvSpPr>
          <p:cNvPr id="15" name="Text 13"/>
          <p:cNvSpPr/>
          <p:nvPr/>
        </p:nvSpPr>
        <p:spPr>
          <a:xfrm>
            <a:off x="3008376" y="165506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Queue</a:t>
            </a:r>
            <a:endParaRPr lang="en-US" sz="1700" dirty="0"/>
          </a:p>
        </p:txBody>
      </p:sp>
      <p:sp>
        <p:nvSpPr>
          <p:cNvPr id="16" name="Text 14"/>
          <p:cNvSpPr/>
          <p:nvPr/>
        </p:nvSpPr>
        <p:spPr>
          <a:xfrm>
            <a:off x="3008376" y="2039112"/>
            <a:ext cx="1709928" cy="167335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wait fairly</a:t>
            </a:r>
            <a:endParaRPr lang="en-US" sz="1500" dirty="0"/>
          </a:p>
        </p:txBody>
      </p:sp>
      <p:sp>
        <p:nvSpPr>
          <p:cNvPr id="17" name="Shape 15"/>
          <p:cNvSpPr/>
          <p:nvPr/>
        </p:nvSpPr>
        <p:spPr>
          <a:xfrm>
            <a:off x="4864608" y="2670048"/>
            <a:ext cx="265176" cy="0"/>
          </a:xfrm>
          <a:prstGeom prst="line">
            <a:avLst/>
          </a:prstGeom>
          <a:noFill/>
          <a:ln w="25400">
            <a:solidFill>
              <a:srgbClr val="5E6B78"/>
            </a:solidFill>
            <a:prstDash val="solid"/>
            <a:headEnd type="none"/>
            <a:tailEnd type="triangle"/>
          </a:ln>
        </p:spPr>
      </p:sp>
      <p:sp>
        <p:nvSpPr>
          <p:cNvPr id="18" name="Shape 16"/>
          <p:cNvSpPr/>
          <p:nvPr/>
        </p:nvSpPr>
        <p:spPr>
          <a:xfrm>
            <a:off x="5138928" y="1508760"/>
            <a:ext cx="2057400" cy="2331720"/>
          </a:xfrm>
          <a:prstGeom prst="roundRect">
            <a:avLst>
              <a:gd name="adj" fmla="val 3556"/>
            </a:avLst>
          </a:prstGeom>
          <a:solidFill>
            <a:srgbClr val="FAFBFC"/>
          </a:solidFill>
          <a:ln w="12700">
            <a:solidFill>
              <a:srgbClr val="D7E0E7"/>
            </a:solidFill>
            <a:prstDash val="solid"/>
          </a:ln>
        </p:spPr>
      </p:sp>
      <p:sp>
        <p:nvSpPr>
          <p:cNvPr id="19" name="Shape 17"/>
          <p:cNvSpPr/>
          <p:nvPr/>
        </p:nvSpPr>
        <p:spPr>
          <a:xfrm>
            <a:off x="5138928" y="1508760"/>
            <a:ext cx="64008" cy="2331720"/>
          </a:xfrm>
          <a:prstGeom prst="rect">
            <a:avLst/>
          </a:prstGeom>
          <a:solidFill>
            <a:srgbClr val="007C83"/>
          </a:solidFill>
          <a:ln w="12700">
            <a:solidFill>
              <a:srgbClr val="007C83">
                <a:alpha val="0"/>
              </a:srgbClr>
            </a:solidFill>
            <a:prstDash val="solid"/>
          </a:ln>
        </p:spPr>
      </p:sp>
      <p:sp>
        <p:nvSpPr>
          <p:cNvPr id="20" name="Text 18"/>
          <p:cNvSpPr/>
          <p:nvPr/>
        </p:nvSpPr>
        <p:spPr>
          <a:xfrm>
            <a:off x="5340096" y="165506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Allocate</a:t>
            </a:r>
            <a:endParaRPr lang="en-US" sz="1700" dirty="0"/>
          </a:p>
        </p:txBody>
      </p:sp>
      <p:sp>
        <p:nvSpPr>
          <p:cNvPr id="21" name="Text 19"/>
          <p:cNvSpPr/>
          <p:nvPr/>
        </p:nvSpPr>
        <p:spPr>
          <a:xfrm>
            <a:off x="5340096" y="2039112"/>
            <a:ext cx="1709928" cy="167335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choose a node</a:t>
            </a:r>
            <a:endParaRPr lang="en-US" sz="1500" dirty="0"/>
          </a:p>
        </p:txBody>
      </p:sp>
      <p:sp>
        <p:nvSpPr>
          <p:cNvPr id="22" name="Shape 20"/>
          <p:cNvSpPr/>
          <p:nvPr/>
        </p:nvSpPr>
        <p:spPr>
          <a:xfrm>
            <a:off x="7196328" y="2670048"/>
            <a:ext cx="265176" cy="0"/>
          </a:xfrm>
          <a:prstGeom prst="line">
            <a:avLst/>
          </a:prstGeom>
          <a:noFill/>
          <a:ln w="25400">
            <a:solidFill>
              <a:srgbClr val="5E6B78"/>
            </a:solidFill>
            <a:prstDash val="solid"/>
            <a:headEnd type="none"/>
            <a:tailEnd type="triangle"/>
          </a:ln>
        </p:spPr>
      </p:sp>
      <p:sp>
        <p:nvSpPr>
          <p:cNvPr id="23" name="Shape 21"/>
          <p:cNvSpPr/>
          <p:nvPr/>
        </p:nvSpPr>
        <p:spPr>
          <a:xfrm>
            <a:off x="7470648" y="1508760"/>
            <a:ext cx="2057400" cy="2331720"/>
          </a:xfrm>
          <a:prstGeom prst="roundRect">
            <a:avLst>
              <a:gd name="adj" fmla="val 3556"/>
            </a:avLst>
          </a:prstGeom>
          <a:solidFill>
            <a:srgbClr val="FAFBFC"/>
          </a:solidFill>
          <a:ln w="12700">
            <a:solidFill>
              <a:srgbClr val="D7E0E7"/>
            </a:solidFill>
            <a:prstDash val="solid"/>
          </a:ln>
        </p:spPr>
      </p:sp>
      <p:sp>
        <p:nvSpPr>
          <p:cNvPr id="24" name="Shape 22"/>
          <p:cNvSpPr/>
          <p:nvPr/>
        </p:nvSpPr>
        <p:spPr>
          <a:xfrm>
            <a:off x="7470648" y="1508760"/>
            <a:ext cx="64008" cy="2331720"/>
          </a:xfrm>
          <a:prstGeom prst="rect">
            <a:avLst/>
          </a:prstGeom>
          <a:solidFill>
            <a:srgbClr val="3A8D63"/>
          </a:solidFill>
          <a:ln w="12700">
            <a:solidFill>
              <a:srgbClr val="3A8D63">
                <a:alpha val="0"/>
              </a:srgbClr>
            </a:solidFill>
            <a:prstDash val="solid"/>
          </a:ln>
        </p:spPr>
      </p:sp>
      <p:sp>
        <p:nvSpPr>
          <p:cNvPr id="25" name="Text 23"/>
          <p:cNvSpPr/>
          <p:nvPr/>
        </p:nvSpPr>
        <p:spPr>
          <a:xfrm>
            <a:off x="7671816" y="165506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Run</a:t>
            </a:r>
            <a:endParaRPr lang="en-US" sz="1700" dirty="0"/>
          </a:p>
        </p:txBody>
      </p:sp>
      <p:sp>
        <p:nvSpPr>
          <p:cNvPr id="26" name="Text 24"/>
          <p:cNvSpPr/>
          <p:nvPr/>
        </p:nvSpPr>
        <p:spPr>
          <a:xfrm>
            <a:off x="7671816" y="2039112"/>
            <a:ext cx="1709928" cy="167335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capture output</a:t>
            </a:r>
            <a:endParaRPr lang="en-US" sz="1500" dirty="0"/>
          </a:p>
        </p:txBody>
      </p:sp>
      <p:sp>
        <p:nvSpPr>
          <p:cNvPr id="27" name="Shape 25"/>
          <p:cNvSpPr/>
          <p:nvPr/>
        </p:nvSpPr>
        <p:spPr>
          <a:xfrm>
            <a:off x="9528048" y="2670048"/>
            <a:ext cx="265176" cy="0"/>
          </a:xfrm>
          <a:prstGeom prst="line">
            <a:avLst/>
          </a:prstGeom>
          <a:noFill/>
          <a:ln w="25400">
            <a:solidFill>
              <a:srgbClr val="5E6B78"/>
            </a:solidFill>
            <a:prstDash val="solid"/>
            <a:headEnd type="none"/>
            <a:tailEnd type="triangle"/>
          </a:ln>
        </p:spPr>
      </p:sp>
      <p:sp>
        <p:nvSpPr>
          <p:cNvPr id="28" name="Shape 26"/>
          <p:cNvSpPr/>
          <p:nvPr/>
        </p:nvSpPr>
        <p:spPr>
          <a:xfrm>
            <a:off x="9802368" y="1508760"/>
            <a:ext cx="2057400" cy="2331720"/>
          </a:xfrm>
          <a:prstGeom prst="roundRect">
            <a:avLst>
              <a:gd name="adj" fmla="val 3556"/>
            </a:avLst>
          </a:prstGeom>
          <a:solidFill>
            <a:srgbClr val="FAFBFC"/>
          </a:solidFill>
          <a:ln w="12700">
            <a:solidFill>
              <a:srgbClr val="D7E0E7"/>
            </a:solidFill>
            <a:prstDash val="solid"/>
          </a:ln>
        </p:spPr>
      </p:sp>
      <p:sp>
        <p:nvSpPr>
          <p:cNvPr id="29" name="Shape 27"/>
          <p:cNvSpPr/>
          <p:nvPr/>
        </p:nvSpPr>
        <p:spPr>
          <a:xfrm>
            <a:off x="9802368" y="1508760"/>
            <a:ext cx="64008" cy="2331720"/>
          </a:xfrm>
          <a:prstGeom prst="rect">
            <a:avLst/>
          </a:prstGeom>
          <a:solidFill>
            <a:srgbClr val="007C83"/>
          </a:solidFill>
          <a:ln w="12700">
            <a:solidFill>
              <a:srgbClr val="007C83">
                <a:alpha val="0"/>
              </a:srgbClr>
            </a:solidFill>
            <a:prstDash val="solid"/>
          </a:ln>
        </p:spPr>
      </p:sp>
      <p:sp>
        <p:nvSpPr>
          <p:cNvPr id="30" name="Text 28"/>
          <p:cNvSpPr/>
          <p:nvPr/>
        </p:nvSpPr>
        <p:spPr>
          <a:xfrm>
            <a:off x="10003536" y="165506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Account</a:t>
            </a:r>
            <a:endParaRPr lang="en-US" sz="1700" dirty="0"/>
          </a:p>
        </p:txBody>
      </p:sp>
      <p:sp>
        <p:nvSpPr>
          <p:cNvPr id="31" name="Text 29"/>
          <p:cNvSpPr/>
          <p:nvPr/>
        </p:nvSpPr>
        <p:spPr>
          <a:xfrm>
            <a:off x="10003536" y="2039112"/>
            <a:ext cx="1709928" cy="167335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inspect result</a:t>
            </a:r>
            <a:endParaRPr lang="en-US" sz="1500" dirty="0"/>
          </a:p>
        </p:txBody>
      </p:sp>
      <p:sp>
        <p:nvSpPr>
          <p:cNvPr id="32" name="Shape 30"/>
          <p:cNvSpPr/>
          <p:nvPr/>
        </p:nvSpPr>
        <p:spPr>
          <a:xfrm>
            <a:off x="960120" y="4370832"/>
            <a:ext cx="10241280" cy="960120"/>
          </a:xfrm>
          <a:prstGeom prst="roundRect">
            <a:avLst/>
          </a:prstGeom>
          <a:solidFill>
            <a:srgbClr val="007C83">
              <a:alpha val="6000"/>
            </a:srgbClr>
          </a:solidFill>
          <a:ln w="15240">
            <a:solidFill>
              <a:srgbClr val="007C83"/>
            </a:solidFill>
            <a:prstDash val="solid"/>
          </a:ln>
        </p:spPr>
      </p:sp>
      <p:sp>
        <p:nvSpPr>
          <p:cNvPr id="33" name="Text 31"/>
          <p:cNvSpPr/>
          <p:nvPr/>
        </p:nvSpPr>
        <p:spPr>
          <a:xfrm>
            <a:off x="1280160" y="4608576"/>
            <a:ext cx="9601200" cy="384048"/>
          </a:xfrm>
          <a:prstGeom prst="rect">
            <a:avLst/>
          </a:prstGeom>
          <a:noFill/>
          <a:ln/>
        </p:spPr>
        <p:txBody>
          <a:bodyPr wrap="square" lIns="0" tIns="0" rIns="0" bIns="0" rtlCol="0" anchor="ctr">
            <a:normAutofit/>
          </a:bodyPr>
          <a:lstStyle/>
          <a:p>
            <a:pPr algn="ctr" indent="0" marL="0">
              <a:buNone/>
            </a:pPr>
            <a:r>
              <a:rPr lang="en-US" sz="2000" b="1" dirty="0">
                <a:solidFill>
                  <a:srgbClr val="007C83"/>
                </a:solidFill>
                <a:latin typeface="Liberation Sans" pitchFamily="34" charset="0"/>
                <a:ea typeface="Liberation Sans" pitchFamily="34" charset="-122"/>
                <a:cs typeface="Liberation Sans" pitchFamily="34" charset="-120"/>
              </a:rPr>
              <a:t>Batch script = resource request + reproducible command + output log</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9. Your first batch job</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Request small resources, submit, monitor, and inspect</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10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640080" y="1234440"/>
            <a:ext cx="5577840" cy="4526280"/>
          </a:xfrm>
          <a:prstGeom prst="roundRect">
            <a:avLst/>
          </a:prstGeom>
          <a:solidFill>
            <a:srgbClr val="101820"/>
          </a:solidFill>
          <a:ln w="12700">
            <a:solidFill>
              <a:srgbClr val="D7E0E7"/>
            </a:solidFill>
            <a:prstDash val="solid"/>
          </a:ln>
        </p:spPr>
      </p:sp>
      <p:sp>
        <p:nvSpPr>
          <p:cNvPr id="9" name="Text 7"/>
          <p:cNvSpPr/>
          <p:nvPr/>
        </p:nvSpPr>
        <p:spPr>
          <a:xfrm>
            <a:off x="914400" y="1499616"/>
            <a:ext cx="5029200" cy="3931920"/>
          </a:xfrm>
          <a:prstGeom prst="rect">
            <a:avLst/>
          </a:prstGeom>
          <a:noFill/>
          <a:ln/>
        </p:spPr>
        <p:txBody>
          <a:bodyPr wrap="square" lIns="0" tIns="0" rIns="0" bIns="0" rtlCol="0" anchor="t">
            <a:normAutofit/>
          </a:bodyPr>
          <a:lstStyle/>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#!/bin/bash</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#SBATCH --job-name=first</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#SBATCH --time=00:05:00</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#SBATCH --cpus-per-task=1</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#SBATCH --mem=512M</a:t>
            </a:r>
            <a:endParaRPr lang="en-US" sz="1500" dirty="0"/>
          </a:p>
          <a:p>
            <a:pPr algn="l" indent="0" marL="0">
              <a:buNone/>
            </a:pP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hostname</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printf "1\n2\n3\n4\n5\n" &gt; values.txt</a:t>
            </a:r>
            <a:endParaRPr lang="en-US" sz="1500" dirty="0"/>
          </a:p>
          <a:p>
            <a:pPr algn="l" indent="0" marL="0">
              <a:buNone/>
            </a:pPr>
            <a:r>
              <a:rPr lang="en-US" sz="1500" dirty="0">
                <a:solidFill>
                  <a:srgbClr val="D6F5DD"/>
                </a:solidFill>
                <a:latin typeface="Liberation Mono" pitchFamily="34" charset="0"/>
                <a:ea typeface="Liberation Mono" pitchFamily="34" charset="-122"/>
                <a:cs typeface="Liberation Mono" pitchFamily="34" charset="-120"/>
              </a:rPr>
              <a:t>awk '{s+=$1} END {print s/NR}' values.txt</a:t>
            </a:r>
            <a:endParaRPr lang="en-US" sz="1500" dirty="0"/>
          </a:p>
        </p:txBody>
      </p:sp>
      <p:sp>
        <p:nvSpPr>
          <p:cNvPr id="10" name="Shape 8"/>
          <p:cNvSpPr/>
          <p:nvPr/>
        </p:nvSpPr>
        <p:spPr>
          <a:xfrm>
            <a:off x="6629400" y="1234440"/>
            <a:ext cx="4892040" cy="932688"/>
          </a:xfrm>
          <a:prstGeom prst="roundRect">
            <a:avLst>
              <a:gd name="adj" fmla="val 7843"/>
            </a:avLst>
          </a:prstGeom>
          <a:solidFill>
            <a:srgbClr val="FAFBFC"/>
          </a:solidFill>
          <a:ln w="12700">
            <a:solidFill>
              <a:srgbClr val="D7E0E7"/>
            </a:solidFill>
            <a:prstDash val="solid"/>
          </a:ln>
        </p:spPr>
      </p:sp>
      <p:sp>
        <p:nvSpPr>
          <p:cNvPr id="11" name="Shape 9"/>
          <p:cNvSpPr/>
          <p:nvPr/>
        </p:nvSpPr>
        <p:spPr>
          <a:xfrm>
            <a:off x="6629400" y="1234440"/>
            <a:ext cx="64008" cy="932688"/>
          </a:xfrm>
          <a:prstGeom prst="rect">
            <a:avLst/>
          </a:prstGeom>
          <a:solidFill>
            <a:srgbClr val="007C83"/>
          </a:solidFill>
          <a:ln w="12700">
            <a:solidFill>
              <a:srgbClr val="007C83">
                <a:alpha val="0"/>
              </a:srgbClr>
            </a:solidFill>
            <a:prstDash val="solid"/>
          </a:ln>
        </p:spPr>
      </p:sp>
      <p:sp>
        <p:nvSpPr>
          <p:cNvPr id="12" name="Text 10"/>
          <p:cNvSpPr/>
          <p:nvPr/>
        </p:nvSpPr>
        <p:spPr>
          <a:xfrm>
            <a:off x="6830568" y="1380744"/>
            <a:ext cx="45445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Submit</a:t>
            </a:r>
            <a:endParaRPr lang="en-US" sz="1700" dirty="0"/>
          </a:p>
        </p:txBody>
      </p:sp>
      <p:sp>
        <p:nvSpPr>
          <p:cNvPr id="13" name="Text 11"/>
          <p:cNvSpPr/>
          <p:nvPr/>
        </p:nvSpPr>
        <p:spPr>
          <a:xfrm>
            <a:off x="6830568" y="1764792"/>
            <a:ext cx="4544568" cy="274320"/>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sbatch first_job.sh</a:t>
            </a:r>
            <a:endParaRPr lang="en-US" sz="1600" dirty="0"/>
          </a:p>
        </p:txBody>
      </p:sp>
      <p:sp>
        <p:nvSpPr>
          <p:cNvPr id="14" name="Shape 12"/>
          <p:cNvSpPr/>
          <p:nvPr/>
        </p:nvSpPr>
        <p:spPr>
          <a:xfrm>
            <a:off x="6629400" y="2359152"/>
            <a:ext cx="4892040" cy="932688"/>
          </a:xfrm>
          <a:prstGeom prst="roundRect">
            <a:avLst>
              <a:gd name="adj" fmla="val 7843"/>
            </a:avLst>
          </a:prstGeom>
          <a:solidFill>
            <a:srgbClr val="FAFBFC"/>
          </a:solidFill>
          <a:ln w="12700">
            <a:solidFill>
              <a:srgbClr val="D7E0E7"/>
            </a:solidFill>
            <a:prstDash val="solid"/>
          </a:ln>
        </p:spPr>
      </p:sp>
      <p:sp>
        <p:nvSpPr>
          <p:cNvPr id="15" name="Shape 13"/>
          <p:cNvSpPr/>
          <p:nvPr/>
        </p:nvSpPr>
        <p:spPr>
          <a:xfrm>
            <a:off x="6629400" y="2359152"/>
            <a:ext cx="64008" cy="932688"/>
          </a:xfrm>
          <a:prstGeom prst="rect">
            <a:avLst/>
          </a:prstGeom>
          <a:solidFill>
            <a:srgbClr val="007C83"/>
          </a:solidFill>
          <a:ln w="12700">
            <a:solidFill>
              <a:srgbClr val="007C83">
                <a:alpha val="0"/>
              </a:srgbClr>
            </a:solidFill>
            <a:prstDash val="solid"/>
          </a:ln>
        </p:spPr>
      </p:sp>
      <p:sp>
        <p:nvSpPr>
          <p:cNvPr id="16" name="Text 14"/>
          <p:cNvSpPr/>
          <p:nvPr/>
        </p:nvSpPr>
        <p:spPr>
          <a:xfrm>
            <a:off x="6830568" y="2505456"/>
            <a:ext cx="45445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Monitor</a:t>
            </a:r>
            <a:endParaRPr lang="en-US" sz="1700" dirty="0"/>
          </a:p>
        </p:txBody>
      </p:sp>
      <p:sp>
        <p:nvSpPr>
          <p:cNvPr id="17" name="Text 15"/>
          <p:cNvSpPr/>
          <p:nvPr/>
        </p:nvSpPr>
        <p:spPr>
          <a:xfrm>
            <a:off x="6830568" y="2889504"/>
            <a:ext cx="4544568" cy="274320"/>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squeue -u $USER</a:t>
            </a:r>
            <a:endParaRPr lang="en-US" sz="1600" dirty="0"/>
          </a:p>
        </p:txBody>
      </p:sp>
      <p:sp>
        <p:nvSpPr>
          <p:cNvPr id="18" name="Shape 16"/>
          <p:cNvSpPr/>
          <p:nvPr/>
        </p:nvSpPr>
        <p:spPr>
          <a:xfrm>
            <a:off x="6629400" y="3483864"/>
            <a:ext cx="4892040" cy="932688"/>
          </a:xfrm>
          <a:prstGeom prst="roundRect">
            <a:avLst>
              <a:gd name="adj" fmla="val 7843"/>
            </a:avLst>
          </a:prstGeom>
          <a:solidFill>
            <a:srgbClr val="FAFBFC"/>
          </a:solidFill>
          <a:ln w="12700">
            <a:solidFill>
              <a:srgbClr val="D7E0E7"/>
            </a:solidFill>
            <a:prstDash val="solid"/>
          </a:ln>
        </p:spPr>
      </p:sp>
      <p:sp>
        <p:nvSpPr>
          <p:cNvPr id="19" name="Shape 17"/>
          <p:cNvSpPr/>
          <p:nvPr/>
        </p:nvSpPr>
        <p:spPr>
          <a:xfrm>
            <a:off x="6629400" y="3483864"/>
            <a:ext cx="64008" cy="932688"/>
          </a:xfrm>
          <a:prstGeom prst="rect">
            <a:avLst/>
          </a:prstGeom>
          <a:solidFill>
            <a:srgbClr val="3A8D63"/>
          </a:solidFill>
          <a:ln w="12700">
            <a:solidFill>
              <a:srgbClr val="3A8D63">
                <a:alpha val="0"/>
              </a:srgbClr>
            </a:solidFill>
            <a:prstDash val="solid"/>
          </a:ln>
        </p:spPr>
      </p:sp>
      <p:sp>
        <p:nvSpPr>
          <p:cNvPr id="20" name="Text 18"/>
          <p:cNvSpPr/>
          <p:nvPr/>
        </p:nvSpPr>
        <p:spPr>
          <a:xfrm>
            <a:off x="6830568" y="3630168"/>
            <a:ext cx="45445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Inspect</a:t>
            </a:r>
            <a:endParaRPr lang="en-US" sz="1700" dirty="0"/>
          </a:p>
        </p:txBody>
      </p:sp>
      <p:sp>
        <p:nvSpPr>
          <p:cNvPr id="21" name="Text 19"/>
          <p:cNvSpPr/>
          <p:nvPr/>
        </p:nvSpPr>
        <p:spPr>
          <a:xfrm>
            <a:off x="6830568" y="4014216"/>
            <a:ext cx="4544568" cy="274320"/>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sacct -j JOBID</a:t>
            </a:r>
            <a:endParaRPr lang="en-US" sz="1600" dirty="0"/>
          </a:p>
        </p:txBody>
      </p:sp>
      <p:sp>
        <p:nvSpPr>
          <p:cNvPr id="22" name="Shape 20"/>
          <p:cNvSpPr/>
          <p:nvPr/>
        </p:nvSpPr>
        <p:spPr>
          <a:xfrm>
            <a:off x="6629400" y="4608576"/>
            <a:ext cx="4892040" cy="932688"/>
          </a:xfrm>
          <a:prstGeom prst="roundRect">
            <a:avLst>
              <a:gd name="adj" fmla="val 7843"/>
            </a:avLst>
          </a:prstGeom>
          <a:solidFill>
            <a:srgbClr val="FAFBFC"/>
          </a:solidFill>
          <a:ln w="12700">
            <a:solidFill>
              <a:srgbClr val="D7E0E7"/>
            </a:solidFill>
            <a:prstDash val="solid"/>
          </a:ln>
        </p:spPr>
      </p:sp>
      <p:sp>
        <p:nvSpPr>
          <p:cNvPr id="23" name="Shape 21"/>
          <p:cNvSpPr/>
          <p:nvPr/>
        </p:nvSpPr>
        <p:spPr>
          <a:xfrm>
            <a:off x="6629400" y="4608576"/>
            <a:ext cx="64008" cy="932688"/>
          </a:xfrm>
          <a:prstGeom prst="rect">
            <a:avLst/>
          </a:prstGeom>
          <a:solidFill>
            <a:srgbClr val="007C83"/>
          </a:solidFill>
          <a:ln w="12700">
            <a:solidFill>
              <a:srgbClr val="007C83">
                <a:alpha val="0"/>
              </a:srgbClr>
            </a:solidFill>
            <a:prstDash val="solid"/>
          </a:ln>
        </p:spPr>
      </p:sp>
      <p:sp>
        <p:nvSpPr>
          <p:cNvPr id="24" name="Text 22"/>
          <p:cNvSpPr/>
          <p:nvPr/>
        </p:nvSpPr>
        <p:spPr>
          <a:xfrm>
            <a:off x="6830568" y="4754880"/>
            <a:ext cx="45445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Read log</a:t>
            </a:r>
            <a:endParaRPr lang="en-US" sz="1700" dirty="0"/>
          </a:p>
        </p:txBody>
      </p:sp>
      <p:sp>
        <p:nvSpPr>
          <p:cNvPr id="25" name="Text 23"/>
          <p:cNvSpPr/>
          <p:nvPr/>
        </p:nvSpPr>
        <p:spPr>
          <a:xfrm>
            <a:off x="6830568" y="5138928"/>
            <a:ext cx="4544568" cy="274320"/>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cat slurm-JOBID.out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10. Why tmux?</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Protect a lightweight control session - not a compute job</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11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685800" y="1417320"/>
            <a:ext cx="3063240" cy="3611880"/>
          </a:xfrm>
          <a:prstGeom prst="roundRect">
            <a:avLst>
              <a:gd name="adj" fmla="val 2388"/>
            </a:avLst>
          </a:prstGeom>
          <a:solidFill>
            <a:srgbClr val="FFF9F8"/>
          </a:solidFill>
          <a:ln w="12700">
            <a:solidFill>
              <a:srgbClr val="D7E0E7"/>
            </a:solidFill>
            <a:prstDash val="solid"/>
          </a:ln>
        </p:spPr>
      </p:sp>
      <p:sp>
        <p:nvSpPr>
          <p:cNvPr id="9" name="Shape 7"/>
          <p:cNvSpPr/>
          <p:nvPr/>
        </p:nvSpPr>
        <p:spPr>
          <a:xfrm>
            <a:off x="685800" y="1417320"/>
            <a:ext cx="64008" cy="3611880"/>
          </a:xfrm>
          <a:prstGeom prst="rect">
            <a:avLst/>
          </a:prstGeom>
          <a:solidFill>
            <a:srgbClr val="B23B3B"/>
          </a:solidFill>
          <a:ln w="12700">
            <a:solidFill>
              <a:srgbClr val="B23B3B">
                <a:alpha val="0"/>
              </a:srgbClr>
            </a:solidFill>
            <a:prstDash val="solid"/>
          </a:ln>
        </p:spPr>
      </p:sp>
      <p:sp>
        <p:nvSpPr>
          <p:cNvPr id="10" name="Text 8"/>
          <p:cNvSpPr/>
          <p:nvPr/>
        </p:nvSpPr>
        <p:spPr>
          <a:xfrm>
            <a:off x="886968" y="1563624"/>
            <a:ext cx="2715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Without tmux</a:t>
            </a:r>
            <a:endParaRPr lang="en-US" sz="1700" dirty="0"/>
          </a:p>
        </p:txBody>
      </p:sp>
      <p:sp>
        <p:nvSpPr>
          <p:cNvPr id="11" name="Text 9"/>
          <p:cNvSpPr/>
          <p:nvPr/>
        </p:nvSpPr>
        <p:spPr>
          <a:xfrm>
            <a:off x="886968" y="1947672"/>
            <a:ext cx="2715768" cy="295351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Laptop sleeps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SSH disconnects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interactive process ends</a:t>
            </a:r>
            <a:endParaRPr lang="en-US" sz="1800" dirty="0"/>
          </a:p>
        </p:txBody>
      </p:sp>
      <p:sp>
        <p:nvSpPr>
          <p:cNvPr id="12" name="Shape 10"/>
          <p:cNvSpPr/>
          <p:nvPr/>
        </p:nvSpPr>
        <p:spPr>
          <a:xfrm>
            <a:off x="4553712" y="1417320"/>
            <a:ext cx="3063240" cy="3611880"/>
          </a:xfrm>
          <a:prstGeom prst="roundRect">
            <a:avLst>
              <a:gd name="adj" fmla="val 2388"/>
            </a:avLst>
          </a:prstGeom>
          <a:solidFill>
            <a:srgbClr val="F7FCFC"/>
          </a:solidFill>
          <a:ln w="12700">
            <a:solidFill>
              <a:srgbClr val="D7E0E7"/>
            </a:solidFill>
            <a:prstDash val="solid"/>
          </a:ln>
        </p:spPr>
      </p:sp>
      <p:sp>
        <p:nvSpPr>
          <p:cNvPr id="13" name="Shape 11"/>
          <p:cNvSpPr/>
          <p:nvPr/>
        </p:nvSpPr>
        <p:spPr>
          <a:xfrm>
            <a:off x="4553712" y="1417320"/>
            <a:ext cx="64008" cy="3611880"/>
          </a:xfrm>
          <a:prstGeom prst="rect">
            <a:avLst/>
          </a:prstGeom>
          <a:solidFill>
            <a:srgbClr val="007C83"/>
          </a:solidFill>
          <a:ln w="12700">
            <a:solidFill>
              <a:srgbClr val="007C83">
                <a:alpha val="0"/>
              </a:srgbClr>
            </a:solidFill>
            <a:prstDash val="solid"/>
          </a:ln>
        </p:spPr>
      </p:sp>
      <p:sp>
        <p:nvSpPr>
          <p:cNvPr id="14" name="Text 12"/>
          <p:cNvSpPr/>
          <p:nvPr/>
        </p:nvSpPr>
        <p:spPr>
          <a:xfrm>
            <a:off x="4754880" y="1563624"/>
            <a:ext cx="2715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With tmux</a:t>
            </a:r>
            <a:endParaRPr lang="en-US" sz="1700" dirty="0"/>
          </a:p>
        </p:txBody>
      </p:sp>
      <p:sp>
        <p:nvSpPr>
          <p:cNvPr id="15" name="Text 13"/>
          <p:cNvSpPr/>
          <p:nvPr/>
        </p:nvSpPr>
        <p:spPr>
          <a:xfrm>
            <a:off x="4754880" y="1947672"/>
            <a:ext cx="2715768" cy="295351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Detach session</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SSH disconnects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reattach later</a:t>
            </a:r>
            <a:endParaRPr lang="en-US" sz="1800" dirty="0"/>
          </a:p>
        </p:txBody>
      </p:sp>
      <p:sp>
        <p:nvSpPr>
          <p:cNvPr id="16" name="Shape 14"/>
          <p:cNvSpPr/>
          <p:nvPr/>
        </p:nvSpPr>
        <p:spPr>
          <a:xfrm>
            <a:off x="8421624" y="1417320"/>
            <a:ext cx="3063240" cy="3611880"/>
          </a:xfrm>
          <a:prstGeom prst="roundRect">
            <a:avLst>
              <a:gd name="adj" fmla="val 2388"/>
            </a:avLst>
          </a:prstGeom>
          <a:solidFill>
            <a:srgbClr val="F7FCF9"/>
          </a:solidFill>
          <a:ln w="12700">
            <a:solidFill>
              <a:srgbClr val="D7E0E7"/>
            </a:solidFill>
            <a:prstDash val="solid"/>
          </a:ln>
        </p:spPr>
      </p:sp>
      <p:sp>
        <p:nvSpPr>
          <p:cNvPr id="17" name="Shape 15"/>
          <p:cNvSpPr/>
          <p:nvPr/>
        </p:nvSpPr>
        <p:spPr>
          <a:xfrm>
            <a:off x="8421624" y="1417320"/>
            <a:ext cx="64008" cy="3611880"/>
          </a:xfrm>
          <a:prstGeom prst="rect">
            <a:avLst/>
          </a:prstGeom>
          <a:solidFill>
            <a:srgbClr val="3A8D63"/>
          </a:solidFill>
          <a:ln w="12700">
            <a:solidFill>
              <a:srgbClr val="3A8D63">
                <a:alpha val="0"/>
              </a:srgbClr>
            </a:solidFill>
            <a:prstDash val="solid"/>
          </a:ln>
        </p:spPr>
      </p:sp>
      <p:sp>
        <p:nvSpPr>
          <p:cNvPr id="18" name="Text 16"/>
          <p:cNvSpPr/>
          <p:nvPr/>
        </p:nvSpPr>
        <p:spPr>
          <a:xfrm>
            <a:off x="8622792" y="1563624"/>
            <a:ext cx="271576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Still use Slurm</a:t>
            </a:r>
            <a:endParaRPr lang="en-US" sz="1700" dirty="0"/>
          </a:p>
        </p:txBody>
      </p:sp>
      <p:sp>
        <p:nvSpPr>
          <p:cNvPr id="19" name="Text 17"/>
          <p:cNvSpPr/>
          <p:nvPr/>
        </p:nvSpPr>
        <p:spPr>
          <a:xfrm>
            <a:off x="8622792" y="1947672"/>
            <a:ext cx="2715768" cy="295351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tmux protects control</a:t>
            </a:r>
            <a:endParaRPr lang="en-US" sz="1800" dirty="0"/>
          </a:p>
          <a:p>
            <a:pPr algn="l" indent="0" marL="0">
              <a:buNone/>
            </a:pP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Slurm supplies CPU, RAM, GPU, and compute nodes</a:t>
            </a:r>
            <a:endParaRPr lang="en-US" sz="1800" dirty="0"/>
          </a:p>
        </p:txBody>
      </p:sp>
      <p:sp>
        <p:nvSpPr>
          <p:cNvPr id="20" name="Text 18"/>
          <p:cNvSpPr/>
          <p:nvPr/>
        </p:nvSpPr>
        <p:spPr>
          <a:xfrm>
            <a:off x="4041648" y="5358384"/>
            <a:ext cx="4114800" cy="347472"/>
          </a:xfrm>
          <a:prstGeom prst="rect">
            <a:avLst/>
          </a:prstGeom>
          <a:noFill/>
          <a:ln/>
        </p:spPr>
        <p:txBody>
          <a:bodyPr wrap="square" lIns="0" tIns="0" rIns="0" bIns="0" rtlCol="0" anchor="ctr">
            <a:normAutofit/>
          </a:bodyPr>
          <a:lstStyle/>
          <a:p>
            <a:pPr algn="ctr" indent="0" marL="0">
              <a:buNone/>
            </a:pPr>
            <a:r>
              <a:rPr lang="en-US" sz="2000" b="1" dirty="0">
                <a:solidFill>
                  <a:srgbClr val="B23B3B"/>
                </a:solidFill>
                <a:latin typeface="Liberation Sans" pitchFamily="34" charset="0"/>
                <a:ea typeface="Liberation Sans" pitchFamily="34" charset="-122"/>
                <a:cs typeface="Liberation Sans" pitchFamily="34" charset="-120"/>
              </a:rPr>
              <a:t>tmux ≠ compute allocation</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11. First-day completion checklist</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Evidence that the setup works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1</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12 / 12</a:t>
            </a:r>
            <a:endParaRPr lang="en-US" sz="900" dirty="0"/>
          </a:p>
        </p:txBody>
      </p:sp>
      <p:sp>
        <p:nvSpPr>
          <p:cNvPr id="7" name="Shape 5"/>
          <p:cNvSpPr/>
          <p:nvPr/>
        </p:nvSpPr>
        <p:spPr>
          <a:xfrm>
            <a:off x="411480" y="6510528"/>
            <a:ext cx="502920" cy="27432"/>
          </a:xfrm>
          <a:prstGeom prst="rect">
            <a:avLst/>
          </a:prstGeom>
          <a:solidFill>
            <a:srgbClr val="007C83"/>
          </a:solidFill>
          <a:ln w="12700">
            <a:solidFill>
              <a:srgbClr val="007C83">
                <a:alpha val="0"/>
              </a:srgbClr>
            </a:solidFill>
            <a:prstDash val="solid"/>
          </a:ln>
        </p:spPr>
      </p:sp>
      <p:sp>
        <p:nvSpPr>
          <p:cNvPr id="8" name="Shape 6"/>
          <p:cNvSpPr/>
          <p:nvPr/>
        </p:nvSpPr>
        <p:spPr>
          <a:xfrm>
            <a:off x="685800" y="1325880"/>
            <a:ext cx="384048" cy="384048"/>
          </a:xfrm>
          <a:prstGeom prst="ellipse">
            <a:avLst/>
          </a:prstGeom>
          <a:solidFill>
            <a:srgbClr val="3A8D63"/>
          </a:solidFill>
          <a:ln w="12700">
            <a:solidFill>
              <a:srgbClr val="3A8D63">
                <a:alpha val="0"/>
              </a:srgbClr>
            </a:solidFill>
            <a:prstDash val="solid"/>
          </a:ln>
        </p:spPr>
      </p:sp>
      <p:sp>
        <p:nvSpPr>
          <p:cNvPr id="9" name="Text 7"/>
          <p:cNvSpPr/>
          <p:nvPr/>
        </p:nvSpPr>
        <p:spPr>
          <a:xfrm>
            <a:off x="685800" y="1353312"/>
            <a:ext cx="384048" cy="27432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a:t>
            </a:r>
            <a:endParaRPr lang="en-US" sz="1500" dirty="0"/>
          </a:p>
        </p:txBody>
      </p:sp>
      <p:sp>
        <p:nvSpPr>
          <p:cNvPr id="10" name="Text 8"/>
          <p:cNvSpPr/>
          <p:nvPr/>
        </p:nvSpPr>
        <p:spPr>
          <a:xfrm>
            <a:off x="1252728" y="1307592"/>
            <a:ext cx="4754880" cy="438912"/>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Identify local versus remote</a:t>
            </a:r>
            <a:endParaRPr lang="en-US" sz="1700" dirty="0"/>
          </a:p>
        </p:txBody>
      </p:sp>
      <p:sp>
        <p:nvSpPr>
          <p:cNvPr id="11" name="Shape 9"/>
          <p:cNvSpPr/>
          <p:nvPr/>
        </p:nvSpPr>
        <p:spPr>
          <a:xfrm>
            <a:off x="685800" y="2404872"/>
            <a:ext cx="384048" cy="384048"/>
          </a:xfrm>
          <a:prstGeom prst="ellipse">
            <a:avLst/>
          </a:prstGeom>
          <a:solidFill>
            <a:srgbClr val="3A8D63"/>
          </a:solidFill>
          <a:ln w="12700">
            <a:solidFill>
              <a:srgbClr val="3A8D63">
                <a:alpha val="0"/>
              </a:srgbClr>
            </a:solidFill>
            <a:prstDash val="solid"/>
          </a:ln>
        </p:spPr>
      </p:sp>
      <p:sp>
        <p:nvSpPr>
          <p:cNvPr id="12" name="Text 10"/>
          <p:cNvSpPr/>
          <p:nvPr/>
        </p:nvSpPr>
        <p:spPr>
          <a:xfrm>
            <a:off x="685800" y="2432304"/>
            <a:ext cx="384048" cy="27432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a:t>
            </a:r>
            <a:endParaRPr lang="en-US" sz="1500" dirty="0"/>
          </a:p>
        </p:txBody>
      </p:sp>
      <p:sp>
        <p:nvSpPr>
          <p:cNvPr id="13" name="Text 11"/>
          <p:cNvSpPr/>
          <p:nvPr/>
        </p:nvSpPr>
        <p:spPr>
          <a:xfrm>
            <a:off x="1252728" y="2386584"/>
            <a:ext cx="4754880" cy="438912"/>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Protect the private SSH key</a:t>
            </a:r>
            <a:endParaRPr lang="en-US" sz="1700" dirty="0"/>
          </a:p>
        </p:txBody>
      </p:sp>
      <p:sp>
        <p:nvSpPr>
          <p:cNvPr id="14" name="Shape 12"/>
          <p:cNvSpPr/>
          <p:nvPr/>
        </p:nvSpPr>
        <p:spPr>
          <a:xfrm>
            <a:off x="685800" y="3483864"/>
            <a:ext cx="384048" cy="384048"/>
          </a:xfrm>
          <a:prstGeom prst="ellipse">
            <a:avLst/>
          </a:prstGeom>
          <a:solidFill>
            <a:srgbClr val="3A8D63"/>
          </a:solidFill>
          <a:ln w="12700">
            <a:solidFill>
              <a:srgbClr val="3A8D63">
                <a:alpha val="0"/>
              </a:srgbClr>
            </a:solidFill>
            <a:prstDash val="solid"/>
          </a:ln>
        </p:spPr>
      </p:sp>
      <p:sp>
        <p:nvSpPr>
          <p:cNvPr id="15" name="Text 13"/>
          <p:cNvSpPr/>
          <p:nvPr/>
        </p:nvSpPr>
        <p:spPr>
          <a:xfrm>
            <a:off x="685800" y="3511296"/>
            <a:ext cx="384048" cy="27432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a:t>
            </a:r>
            <a:endParaRPr lang="en-US" sz="1500" dirty="0"/>
          </a:p>
        </p:txBody>
      </p:sp>
      <p:sp>
        <p:nvSpPr>
          <p:cNvPr id="16" name="Text 14"/>
          <p:cNvSpPr/>
          <p:nvPr/>
        </p:nvSpPr>
        <p:spPr>
          <a:xfrm>
            <a:off x="1252728" y="3465576"/>
            <a:ext cx="4754880" cy="438912"/>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Verify the server fingerprint</a:t>
            </a:r>
            <a:endParaRPr lang="en-US" sz="1700" dirty="0"/>
          </a:p>
        </p:txBody>
      </p:sp>
      <p:sp>
        <p:nvSpPr>
          <p:cNvPr id="17" name="Shape 15"/>
          <p:cNvSpPr/>
          <p:nvPr/>
        </p:nvSpPr>
        <p:spPr>
          <a:xfrm>
            <a:off x="685800" y="4562856"/>
            <a:ext cx="384048" cy="384048"/>
          </a:xfrm>
          <a:prstGeom prst="ellipse">
            <a:avLst/>
          </a:prstGeom>
          <a:solidFill>
            <a:srgbClr val="3A8D63"/>
          </a:solidFill>
          <a:ln w="12700">
            <a:solidFill>
              <a:srgbClr val="3A8D63">
                <a:alpha val="0"/>
              </a:srgbClr>
            </a:solidFill>
            <a:prstDash val="solid"/>
          </a:ln>
        </p:spPr>
      </p:sp>
      <p:sp>
        <p:nvSpPr>
          <p:cNvPr id="18" name="Text 16"/>
          <p:cNvSpPr/>
          <p:nvPr/>
        </p:nvSpPr>
        <p:spPr>
          <a:xfrm>
            <a:off x="685800" y="4590288"/>
            <a:ext cx="384048" cy="27432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a:t>
            </a:r>
            <a:endParaRPr lang="en-US" sz="1500" dirty="0"/>
          </a:p>
        </p:txBody>
      </p:sp>
      <p:sp>
        <p:nvSpPr>
          <p:cNvPr id="19" name="Text 17"/>
          <p:cNvSpPr/>
          <p:nvPr/>
        </p:nvSpPr>
        <p:spPr>
          <a:xfrm>
            <a:off x="1252728" y="4544568"/>
            <a:ext cx="4754880" cy="438912"/>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Connect with `ssh rcc`</a:t>
            </a:r>
            <a:endParaRPr lang="en-US" sz="1700" dirty="0"/>
          </a:p>
        </p:txBody>
      </p:sp>
      <p:sp>
        <p:nvSpPr>
          <p:cNvPr id="20" name="Shape 18"/>
          <p:cNvSpPr/>
          <p:nvPr/>
        </p:nvSpPr>
        <p:spPr>
          <a:xfrm>
            <a:off x="6355080" y="1325880"/>
            <a:ext cx="384048" cy="384048"/>
          </a:xfrm>
          <a:prstGeom prst="ellipse">
            <a:avLst/>
          </a:prstGeom>
          <a:solidFill>
            <a:srgbClr val="3A8D63"/>
          </a:solidFill>
          <a:ln w="12700">
            <a:solidFill>
              <a:srgbClr val="3A8D63">
                <a:alpha val="0"/>
              </a:srgbClr>
            </a:solidFill>
            <a:prstDash val="solid"/>
          </a:ln>
        </p:spPr>
      </p:sp>
      <p:sp>
        <p:nvSpPr>
          <p:cNvPr id="21" name="Text 19"/>
          <p:cNvSpPr/>
          <p:nvPr/>
        </p:nvSpPr>
        <p:spPr>
          <a:xfrm>
            <a:off x="6355080" y="1353312"/>
            <a:ext cx="384048" cy="27432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a:t>
            </a:r>
            <a:endParaRPr lang="en-US" sz="1500" dirty="0"/>
          </a:p>
        </p:txBody>
      </p:sp>
      <p:sp>
        <p:nvSpPr>
          <p:cNvPr id="22" name="Text 20"/>
          <p:cNvSpPr/>
          <p:nvPr/>
        </p:nvSpPr>
        <p:spPr>
          <a:xfrm>
            <a:off x="6922008" y="1307592"/>
            <a:ext cx="4754880" cy="438912"/>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Open an RCC workspace in VS Code</a:t>
            </a:r>
            <a:endParaRPr lang="en-US" sz="1700" dirty="0"/>
          </a:p>
        </p:txBody>
      </p:sp>
      <p:sp>
        <p:nvSpPr>
          <p:cNvPr id="23" name="Shape 21"/>
          <p:cNvSpPr/>
          <p:nvPr/>
        </p:nvSpPr>
        <p:spPr>
          <a:xfrm>
            <a:off x="6355080" y="2404872"/>
            <a:ext cx="384048" cy="384048"/>
          </a:xfrm>
          <a:prstGeom prst="ellipse">
            <a:avLst/>
          </a:prstGeom>
          <a:solidFill>
            <a:srgbClr val="3A8D63"/>
          </a:solidFill>
          <a:ln w="12700">
            <a:solidFill>
              <a:srgbClr val="3A8D63">
                <a:alpha val="0"/>
              </a:srgbClr>
            </a:solidFill>
            <a:prstDash val="solid"/>
          </a:ln>
        </p:spPr>
      </p:sp>
      <p:sp>
        <p:nvSpPr>
          <p:cNvPr id="24" name="Text 22"/>
          <p:cNvSpPr/>
          <p:nvPr/>
        </p:nvSpPr>
        <p:spPr>
          <a:xfrm>
            <a:off x="6355080" y="2432304"/>
            <a:ext cx="384048" cy="27432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a:t>
            </a:r>
            <a:endParaRPr lang="en-US" sz="1500" dirty="0"/>
          </a:p>
        </p:txBody>
      </p:sp>
      <p:sp>
        <p:nvSpPr>
          <p:cNvPr id="25" name="Text 23"/>
          <p:cNvSpPr/>
          <p:nvPr/>
        </p:nvSpPr>
        <p:spPr>
          <a:xfrm>
            <a:off x="6922008" y="2386584"/>
            <a:ext cx="4754880" cy="438912"/>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Transfer and checksum a test file</a:t>
            </a:r>
            <a:endParaRPr lang="en-US" sz="1700" dirty="0"/>
          </a:p>
        </p:txBody>
      </p:sp>
      <p:sp>
        <p:nvSpPr>
          <p:cNvPr id="26" name="Shape 24"/>
          <p:cNvSpPr/>
          <p:nvPr/>
        </p:nvSpPr>
        <p:spPr>
          <a:xfrm>
            <a:off x="6355080" y="3483864"/>
            <a:ext cx="384048" cy="384048"/>
          </a:xfrm>
          <a:prstGeom prst="ellipse">
            <a:avLst/>
          </a:prstGeom>
          <a:solidFill>
            <a:srgbClr val="3A8D63"/>
          </a:solidFill>
          <a:ln w="12700">
            <a:solidFill>
              <a:srgbClr val="3A8D63">
                <a:alpha val="0"/>
              </a:srgbClr>
            </a:solidFill>
            <a:prstDash val="solid"/>
          </a:ln>
        </p:spPr>
      </p:sp>
      <p:sp>
        <p:nvSpPr>
          <p:cNvPr id="27" name="Text 25"/>
          <p:cNvSpPr/>
          <p:nvPr/>
        </p:nvSpPr>
        <p:spPr>
          <a:xfrm>
            <a:off x="6355080" y="3511296"/>
            <a:ext cx="384048" cy="27432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a:t>
            </a:r>
            <a:endParaRPr lang="en-US" sz="1500" dirty="0"/>
          </a:p>
        </p:txBody>
      </p:sp>
      <p:sp>
        <p:nvSpPr>
          <p:cNvPr id="28" name="Text 26"/>
          <p:cNvSpPr/>
          <p:nvPr/>
        </p:nvSpPr>
        <p:spPr>
          <a:xfrm>
            <a:off x="6922008" y="3465576"/>
            <a:ext cx="4754880" cy="438912"/>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Submit and inspect a Slurm job</a:t>
            </a:r>
            <a:endParaRPr lang="en-US" sz="1700" dirty="0"/>
          </a:p>
        </p:txBody>
      </p:sp>
      <p:sp>
        <p:nvSpPr>
          <p:cNvPr id="29" name="Shape 27"/>
          <p:cNvSpPr/>
          <p:nvPr/>
        </p:nvSpPr>
        <p:spPr>
          <a:xfrm>
            <a:off x="6355080" y="4562856"/>
            <a:ext cx="384048" cy="384048"/>
          </a:xfrm>
          <a:prstGeom prst="ellipse">
            <a:avLst/>
          </a:prstGeom>
          <a:solidFill>
            <a:srgbClr val="3A8D63"/>
          </a:solidFill>
          <a:ln w="12700">
            <a:solidFill>
              <a:srgbClr val="3A8D63">
                <a:alpha val="0"/>
              </a:srgbClr>
            </a:solidFill>
            <a:prstDash val="solid"/>
          </a:ln>
        </p:spPr>
      </p:sp>
      <p:sp>
        <p:nvSpPr>
          <p:cNvPr id="30" name="Text 28"/>
          <p:cNvSpPr/>
          <p:nvPr/>
        </p:nvSpPr>
        <p:spPr>
          <a:xfrm>
            <a:off x="6355080" y="4590288"/>
            <a:ext cx="384048" cy="27432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Liberation Sans" pitchFamily="34" charset="0"/>
                <a:ea typeface="Liberation Sans" pitchFamily="34" charset="-122"/>
                <a:cs typeface="Liberation Sans" pitchFamily="34" charset="-120"/>
              </a:rPr>
              <a:t>✓</a:t>
            </a:r>
            <a:endParaRPr lang="en-US" sz="1500" dirty="0"/>
          </a:p>
        </p:txBody>
      </p:sp>
      <p:sp>
        <p:nvSpPr>
          <p:cNvPr id="31" name="Text 29"/>
          <p:cNvSpPr/>
          <p:nvPr/>
        </p:nvSpPr>
        <p:spPr>
          <a:xfrm>
            <a:off x="6922008" y="4544568"/>
            <a:ext cx="4754880" cy="438912"/>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Explain when tmux is appropriate</a:t>
            </a:r>
            <a:endParaRPr lang="en-US" sz="1700" dirty="0"/>
          </a:p>
        </p:txBody>
      </p:sp>
      <p:sp>
        <p:nvSpPr>
          <p:cNvPr id="32" name="Shape 30"/>
          <p:cNvSpPr/>
          <p:nvPr/>
        </p:nvSpPr>
        <p:spPr>
          <a:xfrm>
            <a:off x="1828800" y="5650992"/>
            <a:ext cx="8503920" cy="502920"/>
          </a:xfrm>
          <a:prstGeom prst="roundRect">
            <a:avLst/>
          </a:prstGeom>
          <a:solidFill>
            <a:srgbClr val="007C83">
              <a:alpha val="8000"/>
            </a:srgbClr>
          </a:solidFill>
          <a:ln w="12700">
            <a:solidFill>
              <a:srgbClr val="007C83">
                <a:alpha val="0"/>
              </a:srgbClr>
            </a:solidFill>
            <a:prstDash val="solid"/>
          </a:ln>
        </p:spPr>
      </p:sp>
      <p:sp>
        <p:nvSpPr>
          <p:cNvPr id="33" name="Text 31"/>
          <p:cNvSpPr/>
          <p:nvPr/>
        </p:nvSpPr>
        <p:spPr>
          <a:xfrm>
            <a:off x="2057400" y="5760720"/>
            <a:ext cx="8046720" cy="274320"/>
          </a:xfrm>
          <a:prstGeom prst="rect">
            <a:avLst/>
          </a:prstGeom>
          <a:noFill/>
          <a:ln/>
        </p:spPr>
        <p:txBody>
          <a:bodyPr wrap="square" lIns="0" tIns="0" rIns="0" bIns="0" rtlCol="0" anchor="ctr">
            <a:normAutofit/>
          </a:bodyPr>
          <a:lstStyle/>
          <a:p>
            <a:pPr algn="ctr" indent="0" marL="0">
              <a:buNone/>
            </a:pPr>
            <a:r>
              <a:rPr lang="en-US" sz="1600" b="1" dirty="0">
                <a:solidFill>
                  <a:srgbClr val="007C83"/>
                </a:solidFill>
                <a:latin typeface="Liberation Sans" pitchFamily="34" charset="0"/>
                <a:ea typeface="Liberation Sans" pitchFamily="34" charset="-122"/>
                <a:cs typeface="Liberation Sans" pitchFamily="34" charset="-120"/>
              </a:rPr>
              <a:t>Next: reproducible environments, Snakemake, statistics, and DNA workflows.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Institute for AI in Medicine, University Hospital Essen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RCC Onboarding Part 1: Your first day on the RCC cluster</dc:title>
  <dc:subject>Understand the cluster, connect safely, transfer data, and run a first Slurm job.</dc:subject>
  <dc:creator>RCC / IKIM Essen</dc:creator>
  <cp:lastModifiedBy>RCC / IKIM Essen</cp:lastModifiedBy>
  <cp:revision>1</cp:revision>
  <dcterms:created xsi:type="dcterms:W3CDTF">2026-07-11T21:46:00Z</dcterms:created>
  <dcterms:modified xsi:type="dcterms:W3CDTF">2026-07-11T21:46:00Z</dcterms:modified>
</cp:coreProperties>
</file>