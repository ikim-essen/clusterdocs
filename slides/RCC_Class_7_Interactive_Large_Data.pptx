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5544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6324F"/>
                </a:solidFill>
              </a:rPr>
              <a:t>Interactive large-data analysis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77240" y="242316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35466"/>
                </a:solidFill>
              </a:rPr>
              <a:t>Python and R notebooks that stay friendly to shared cluster resources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3154680"/>
            <a:ext cx="3840480" cy="0"/>
          </a:xfrm>
          <a:prstGeom prst="line">
            <a:avLst/>
          </a:prstGeom>
          <a:noFill/>
          <a:ln w="38100">
            <a:solidFill>
              <a:srgbClr val="2A7A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60807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07080"/>
                </a:solidFill>
              </a:rPr>
              <a:t>RCC ClusterDocs 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</a:rPr>
              <a:t>The core pattern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2194560" cy="3383280"/>
          </a:xfrm>
          <a:prstGeom prst="roundRect">
            <a:avLst>
              <a:gd name="adj" fmla="val 3333"/>
            </a:avLst>
          </a:prstGeom>
          <a:solidFill>
            <a:srgbClr val="DDF2F2">
              <a:alpha val="92000"/>
            </a:srgbClr>
          </a:solidFill>
          <a:ln w="12700">
            <a:solidFill>
              <a:srgbClr val="DDF2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3441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</a:rPr>
              <a:t>Notebook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0" y="1234440"/>
            <a:ext cx="2194560" cy="3383280"/>
          </a:xfrm>
          <a:prstGeom prst="roundRect">
            <a:avLst>
              <a:gd name="adj" fmla="val 3333"/>
            </a:avLst>
          </a:prstGeom>
          <a:solidFill>
            <a:srgbClr val="E8F0FE">
              <a:alpha val="92000"/>
            </a:srgbClr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94760" y="13441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</a:rPr>
              <a:t>Slurm job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583680" y="1234440"/>
            <a:ext cx="2194560" cy="3383280"/>
          </a:xfrm>
          <a:prstGeom prst="roundRect">
            <a:avLst>
              <a:gd name="adj" fmla="val 3333"/>
            </a:avLst>
          </a:prstGeom>
          <a:solidFill>
            <a:srgbClr val="F2E8FF">
              <a:alpha val="92000"/>
            </a:srgbClr>
          </a:solidFill>
          <a:ln w="12700">
            <a:solidFill>
              <a:srgbClr val="F2E8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20840" y="13441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</a:rPr>
              <a:t>Project storage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509760" y="1234440"/>
            <a:ext cx="1920240" cy="3383280"/>
          </a:xfrm>
          <a:prstGeom prst="roundRect">
            <a:avLst>
              <a:gd name="adj" fmla="val 3810"/>
            </a:avLst>
          </a:prstGeom>
          <a:solidFill>
            <a:srgbClr val="EAF7EA">
              <a:alpha val="92000"/>
            </a:srgbClr>
          </a:solidFill>
          <a:ln w="12700">
            <a:solidFill>
              <a:srgbClr val="EAF7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46920" y="1344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</a:rPr>
              <a:t>Reviewable output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0120" y="182880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324F"/>
                </a:solidFill>
              </a:rPr>
              <a:t>Inspect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6324F"/>
                </a:solidFill>
              </a:rPr>
              <a:t>Sample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6324F"/>
                </a:solidFill>
              </a:rPr>
              <a:t>Explain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886200" y="182880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324F"/>
                </a:solidFill>
              </a:rPr>
              <a:t>Compute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6324F"/>
                </a:solidFill>
              </a:rPr>
              <a:t>Repeat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6324F"/>
                </a:solidFill>
              </a:rPr>
              <a:t>Scale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812280" y="178308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</a:rPr>
              <a:t>Read inputs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</a:rPr>
              <a:t>Write final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</a:rPr>
              <a:t>Avoid small-file storms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738360" y="1828800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324F"/>
                </a:solidFill>
              </a:rPr>
              <a:t>Figures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6324F"/>
                </a:solidFill>
              </a:rPr>
              <a:t>Tables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6324F"/>
                </a:solidFill>
              </a:rPr>
              <a:t>Methods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2971800" y="2423160"/>
            <a:ext cx="502920" cy="457200"/>
          </a:xfrm>
          <a:prstGeom prst="chevron">
            <a:avLst/>
          </a:prstGeom>
          <a:solidFill>
            <a:srgbClr val="2A7A80"/>
          </a:solidFill>
          <a:ln w="12700">
            <a:solidFill>
              <a:srgbClr val="2A7A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97880" y="2423160"/>
            <a:ext cx="502920" cy="457200"/>
          </a:xfrm>
          <a:prstGeom prst="chevron">
            <a:avLst/>
          </a:prstGeom>
          <a:solidFill>
            <a:srgbClr val="2A7A80"/>
          </a:solidFill>
          <a:ln w="12700">
            <a:solidFill>
              <a:srgbClr val="2A7A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23960" y="2423160"/>
            <a:ext cx="502920" cy="457200"/>
          </a:xfrm>
          <a:prstGeom prst="chevron">
            <a:avLst/>
          </a:prstGeom>
          <a:solidFill>
            <a:srgbClr val="2A7A80"/>
          </a:solidFill>
          <a:ln w="12700">
            <a:solidFill>
              <a:srgbClr val="2A7A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525780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35466"/>
                </a:solidFill>
              </a:rPr>
              <a:t>Completion gate: one loopback-only notebook job, one bounded batch job, no shared accounts, no exposed ports.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784080" y="6400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694"/>
                </a:solidFill>
              </a:rPr>
              <a:t>Class deck ·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</a:rPr>
              <a:t>Choose the right tool for the question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43000"/>
            <a:ext cx="2560320" cy="1325880"/>
          </a:xfrm>
          <a:prstGeom prst="roundRect">
            <a:avLst>
              <a:gd name="adj" fmla="val 5517"/>
            </a:avLst>
          </a:prstGeom>
          <a:solidFill>
            <a:srgbClr val="F7FAFC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96112" y="1289304"/>
            <a:ext cx="223113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D2B38"/>
                </a:solidFill>
              </a:rPr>
              <a:t>pandas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D2B38"/>
                </a:solidFill>
              </a:rPr>
              <a:t>Teaching, moderate tables, quick checks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66160" y="1143000"/>
            <a:ext cx="2560320" cy="1325880"/>
          </a:xfrm>
          <a:prstGeom prst="roundRect">
            <a:avLst>
              <a:gd name="adj" fmla="val 5517"/>
            </a:avLst>
          </a:prstGeom>
          <a:solidFill>
            <a:srgbClr val="F7FAFC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30752" y="1289304"/>
            <a:ext cx="223113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D2B38"/>
                </a:solidFill>
              </a:rPr>
              <a:t>DuckDB / Arrow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D2B38"/>
                </a:solidFill>
              </a:rPr>
              <a:t>Column selection, SQL, larger tables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0" y="1143000"/>
            <a:ext cx="2560320" cy="1325880"/>
          </a:xfrm>
          <a:prstGeom prst="roundRect">
            <a:avLst>
              <a:gd name="adj" fmla="val 5517"/>
            </a:avLst>
          </a:prstGeom>
          <a:solidFill>
            <a:srgbClr val="F7FAFC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65392" y="1289304"/>
            <a:ext cx="223113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D2B38"/>
                </a:solidFill>
              </a:rPr>
              <a:t>data.table / dplyr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D2B38"/>
                </a:solidFill>
              </a:rPr>
              <a:t>Fast R tables and readable pipelines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235440" y="1143000"/>
            <a:ext cx="2286000" cy="1325880"/>
          </a:xfrm>
          <a:prstGeom prst="roundRect">
            <a:avLst>
              <a:gd name="adj" fmla="val 5517"/>
            </a:avLst>
          </a:prstGeom>
          <a:solidFill>
            <a:srgbClr val="F7FAFC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00032" y="1289304"/>
            <a:ext cx="195681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D2B38"/>
                </a:solidFill>
              </a:rPr>
              <a:t>Matplotlib / ggplot2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D2B38"/>
                </a:solidFill>
              </a:rPr>
              <a:t>Reviewable figures from sampled data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3017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324F"/>
                </a:solidFill>
              </a:rPr>
              <a:t>Start with structure, not scale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77240" y="36118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35466"/>
                </a:solidFill>
              </a:rPr>
              <a:t>File format → columns needed → sample size → memory footprint → full computation path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14400" y="4572000"/>
            <a:ext cx="9875520" cy="0"/>
          </a:xfrm>
          <a:prstGeom prst="line">
            <a:avLst/>
          </a:prstGeom>
          <a:noFill/>
          <a:ln w="38100">
            <a:solidFill>
              <a:srgbClr val="2A7A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4343400"/>
            <a:ext cx="502920" cy="502920"/>
          </a:xfrm>
          <a:prstGeom prst="ellipse">
            <a:avLst/>
          </a:prstGeom>
          <a:solidFill>
            <a:srgbClr val="2A7A80"/>
          </a:solidFill>
          <a:ln w="12700">
            <a:solidFill>
              <a:srgbClr val="2A7A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91947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324F"/>
                </a:solidFill>
              </a:rPr>
              <a:t>format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154680" y="4343400"/>
            <a:ext cx="502920" cy="502920"/>
          </a:xfrm>
          <a:prstGeom prst="ellipse">
            <a:avLst/>
          </a:prstGeom>
          <a:solidFill>
            <a:srgbClr val="2A7A80"/>
          </a:solidFill>
          <a:ln w="12700">
            <a:solidFill>
              <a:srgbClr val="2A7A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0" y="491947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324F"/>
                </a:solidFill>
              </a:rPr>
              <a:t>columns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623560" y="4343400"/>
            <a:ext cx="502920" cy="502920"/>
          </a:xfrm>
          <a:prstGeom prst="ellipse">
            <a:avLst/>
          </a:prstGeom>
          <a:solidFill>
            <a:srgbClr val="2A7A80"/>
          </a:solidFill>
          <a:ln w="12700">
            <a:solidFill>
              <a:srgbClr val="2A7A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94960" y="491947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324F"/>
                </a:solidFill>
              </a:rPr>
              <a:t>sample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092440" y="4343400"/>
            <a:ext cx="502920" cy="502920"/>
          </a:xfrm>
          <a:prstGeom prst="ellipse">
            <a:avLst/>
          </a:prstGeom>
          <a:solidFill>
            <a:srgbClr val="2A7A80"/>
          </a:solidFill>
          <a:ln w="12700">
            <a:solidFill>
              <a:srgbClr val="2A7A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63840" y="491947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324F"/>
                </a:solidFill>
              </a:rPr>
              <a:t>memory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0561320" y="4343400"/>
            <a:ext cx="502920" cy="502920"/>
          </a:xfrm>
          <a:prstGeom prst="ellipse">
            <a:avLst/>
          </a:prstGeom>
          <a:solidFill>
            <a:srgbClr val="2A7A80"/>
          </a:solidFill>
          <a:ln w="12700">
            <a:solidFill>
              <a:srgbClr val="2A7A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332720" y="491947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324F"/>
                </a:solidFill>
              </a:rPr>
              <a:t>Slurm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784080" y="6400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694"/>
                </a:solidFill>
              </a:rPr>
              <a:t>Class deck ·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</a:rPr>
              <a:t>Notebook safety checklist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1887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7A80"/>
                </a:solidFill>
              </a:rPr>
              <a:t>✓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25880" y="121615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D2B38"/>
                </a:solidFill>
              </a:rPr>
              <a:t>Run inside Slurm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217920" y="11887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7A80"/>
                </a:solidFill>
              </a:rPr>
              <a:t>✓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629400" y="121615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D2B38"/>
                </a:solidFill>
              </a:rPr>
              <a:t>Bind to loopback only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3317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7A80"/>
                </a:solidFill>
              </a:rPr>
              <a:t>✓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25880" y="235915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D2B38"/>
                </a:solidFill>
              </a:rPr>
              <a:t>Keep the token enabled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217920" y="23317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7A80"/>
                </a:solidFill>
              </a:rPr>
              <a:t>✓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629400" y="235915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D2B38"/>
                </a:solidFill>
              </a:rPr>
              <a:t>Use synthetic data for learning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14400" y="34747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7A80"/>
                </a:solidFill>
              </a:rPr>
              <a:t>✓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325880" y="350215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D2B38"/>
                </a:solidFill>
              </a:rPr>
              <a:t>No secrets in cells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217920" y="34747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7A80"/>
                </a:solidFill>
              </a:rPr>
              <a:t>✓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629400" y="350215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D2B38"/>
                </a:solidFill>
              </a:rPr>
              <a:t>Stop the job when done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14400" y="51206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35466"/>
                </a:solidFill>
              </a:rPr>
              <a:t>A notebook is part of the analysis record. Keep it clean enough for a colleague to understand and safe enough to share.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784080" y="6400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694"/>
                </a:solidFill>
              </a:rPr>
              <a:t>Class deck ·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</a:rPr>
              <a:t>When to leave the notebook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234440"/>
            <a:ext cx="3017520" cy="3108960"/>
          </a:xfrm>
          <a:prstGeom prst="roundRect">
            <a:avLst>
              <a:gd name="adj" fmla="val 2424"/>
            </a:avLst>
          </a:prstGeom>
          <a:solidFill>
            <a:srgbClr val="EAF7EA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7552" y="1380744"/>
            <a:ext cx="2688336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D2B38"/>
                </a:solidFill>
              </a:rPr>
              <a:t>Still a notebook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D2B38"/>
                </a:solidFill>
              </a:rPr>
              <a:t>Small samples, visual checks, method explanation, figures for discussion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26280" y="1234440"/>
            <a:ext cx="3017520" cy="3108960"/>
          </a:xfrm>
          <a:prstGeom prst="roundRect">
            <a:avLst>
              <a:gd name="adj" fmla="val 2424"/>
            </a:avLst>
          </a:prstGeom>
          <a:solidFill>
            <a:srgbClr val="E8F0FE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90872" y="1380744"/>
            <a:ext cx="2688336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D2B38"/>
                </a:solidFill>
              </a:rPr>
              <a:t>Move to Slurm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D2B38"/>
                </a:solidFill>
              </a:rPr>
              <a:t>Full dataset, repeated execution, overnight work, parameter sweeps, GPU use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0" y="1234440"/>
            <a:ext cx="3017520" cy="3108960"/>
          </a:xfrm>
          <a:prstGeom prst="roundRect">
            <a:avLst>
              <a:gd name="adj" fmla="val 2424"/>
            </a:avLst>
          </a:prstGeom>
          <a:solidFill>
            <a:srgbClr val="F2E8FF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94192" y="1380744"/>
            <a:ext cx="2688336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D2B38"/>
                </a:solidFill>
              </a:rPr>
              <a:t>Move to a vhost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D2B38"/>
                </a:solidFill>
              </a:rPr>
              <a:t>Team-facing interface, curated results, authenticated access, project users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51663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324F"/>
                </a:solidFill>
              </a:rPr>
              <a:t>The best workflow is often all three: notebook for design, Slurm for computation, vhost for presentation.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784080" y="6400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694"/>
                </a:solidFill>
              </a:rPr>
              <a:t>Class deck · 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</a:rPr>
              <a:t>Class gates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234440"/>
            <a:ext cx="548640" cy="548640"/>
          </a:xfrm>
          <a:prstGeom prst="rect">
            <a:avLst/>
          </a:prstGeom>
          <a:solidFill>
            <a:srgbClr val="2A7A8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691640" y="132588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D2B38"/>
                </a:solidFill>
              </a:rPr>
              <a:t>Run the interactive example validator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14400" y="2240280"/>
            <a:ext cx="548640" cy="548640"/>
          </a:xfrm>
          <a:prstGeom prst="rect">
            <a:avLst/>
          </a:prstGeom>
          <a:solidFill>
            <a:srgbClr val="2A7A8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2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91640" y="23317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D2B38"/>
                </a:solidFill>
              </a:rPr>
              <a:t>Start one Jupyter job and connect through a tunnel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3246120"/>
            <a:ext cx="548640" cy="548640"/>
          </a:xfrm>
          <a:prstGeom prst="rect">
            <a:avLst/>
          </a:prstGeom>
          <a:solidFill>
            <a:srgbClr val="2A7A8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3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691640" y="33375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D2B38"/>
                </a:solidFill>
              </a:rPr>
              <a:t>Submit one Python or R batch script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14400" y="4251960"/>
            <a:ext cx="548640" cy="548640"/>
          </a:xfrm>
          <a:prstGeom prst="rect">
            <a:avLst/>
          </a:prstGeom>
          <a:solidFill>
            <a:srgbClr val="2A7A8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4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691640" y="43434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D2B38"/>
                </a:solidFill>
              </a:rPr>
              <a:t>Explain what should move out of the notebook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784080" y="6400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694"/>
                </a:solidFill>
              </a:rPr>
              <a:t>Class deck · 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IKIM / RCC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RCC user training</dc:subject>
  <dc:creator>RCC ClusterDocs NG</dc:creator>
  <cp:lastModifiedBy>RCC ClusterDocs NG</cp:lastModifiedBy>
  <cp:revision>1</cp:revision>
  <dcterms:created xsi:type="dcterms:W3CDTF">2026-07-19T13:14:52Z</dcterms:created>
  <dcterms:modified xsi:type="dcterms:W3CDTF">2026-07-19T13:14:52Z</dcterms:modified>
</cp:coreProperties>
</file>