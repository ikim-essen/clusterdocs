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moves from access to reproducible analysis. Biomedical projects combine data, software, parameters, compute resources, and scientific interpretation. Reproducibility requires us to describe all of those layers. We will explain why environments exist, why Miniforge and Bioconda are useful, why Snakemake models dependencies, and how Slurm executes the expensive work. We will use two intentionally small examples: a statistical analysis of tabular data and a DNA sequence workflow using synthetic reads. The goal is not to teach every method. The goal is to establish a structure that remains understandable when a project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scientific result depends on more than the code file. It also depends on input data, software versions, parameters, reference data, the order of operations, and the compute environment. If any of those are implicit, a colleague may be unable to reproduce the result even when the script is available. A good workflow separates immutable source data from generated output, records software dependencies, and makes each transformation explicit. In regulated or clinically adjacent work, this structure also supports review and provenance. The cluster does not automatically make work reproducible; it only provides shared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directory is a small information architecture. Raw data should be treated as read-only. Workflow files describe how outputs are created. Scripts contain substantial analysis code. Environment files declare software. Logs and benchmarks describe execution. Results are generated and can be recreated. This separation prevents common mistakes such as editing a raw file, overwriting a result by hand, or losing track of which parameters produced a figure. Use meaningful sample identifiers and a metadata table rather than encoding all information in filenames. Keep secrets and patient identifiers out of Git repositories and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software has dependencies. One tool may need a specific Python version, another a compiled library, and a third a command-line executable. Installing everything globally creates conflicts and makes projects fragile. An environment is an isolated collection of compatible packages. Miniforge provides the conda and mamba tools without a large preselected package set. Mamba resolves and installs packages efficiently. Bioconda is a community channel containing many bioinformatics packages. An environment file records the package names and, where appropriate, versions. It is a recipe, not a substitute for validation. Part Four will explain why large active environments should not live on network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Conda is the environment and package model. Mamba is a compatible, faster resolver and installer. Miniforge is a compact distribution that provides these tools. Channels are package repositories, and Bioconda specializes in bioinformatics software. Channel order matters because packages from different repositories may be built against different libraries. Follow the RCC-supported configuration rather than copying arbitrary commands from an old tutorial. Keep the environment definition in the project, test it on synthetic data, and avoid continuously changing a shared environment underneath an active analysis. For production, a pinned container image is often more robust, as covered in Part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Snakemake is a workflow management system. Each rule declares input files, output files, software, resources, and a command or script. Snakemake builds a directed acyclic graph showing which outputs depend on which inputs. It runs only the steps needed to create the requested target. If an upstream input changes, the affected downstream steps can be recomputed. This is safer than a long shell script that assumes every previous command succeeded. The workflow graph also helps colleagues review the scientific logic. A dry run shows what would happen without executing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Snakemake and Slurm solve different problems. Snakemake understands scientific dependencies and decides which rule is ready. The Slurm executor translates each ready rule into a cluster job with requested CPUs, memory, runtime, and other resources. The lightweight Snakemake controller can run in a tmux session on the submission host. The expensive commands run on compute nodes. This separation lets a workflow execute many independent samples in parallel without manually submitting hundreds of jobs. Resource values should be declared per rule and refined using measurements rather than copied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statistical workflow starts with input validation. Check column names, data types, missing values, group labels, and expected sample identifiers before calculating anything. The demonstration dataset contains synthetic measurements from two groups. One rule validates and cleans the table. Another calculates group counts, means, and variability. A third performs a Welch t test and records the effect estimate and uncertainty rather than reporting only a p value. A final rule creates a figure. The workflow is pedagogical; the correct statistical model for a real biomedical study depends on design, pairing, repeated measures, batch effects, confounders, and pre-specified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DNA sequence analysis introduces file formats with different purposes. FASTQ stores reads and quality values and is normally kept compressed. A reference FASTA stores sequences. BAM or CRAM stores aligned reads in a binary, indexable format. VCF stores sequence variants and may use block compression with an index. Quality reports summarize technical characteristics but do not automatically establish biological validity. A typical small workflow validates read files, performs quality control, aligns or classifies reads, creates indexed outputs, and summarizes results. Real clinical or research pipelines require validated references, contamination controls, sample identity checks, and documented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substantial run, request a specific target and perform a Snakemake dry run. Inspect the planned rules, inputs, and job count. Then execute through the RCC-supported Slurm profile. Each rule should have a useful log, and performance-sensitive rules should have a benchmark file. A completed workflow is not automatically a correct workflow. Review exit states, expected file counts, quality metrics, and biological plausibility. Avoid redirecting all commands into one giant log. Per-rule and per-sample logs make failures diagnosable and support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records changes to text files and supports review through branches and pull requests. Commit the Snakefile, scripts, environment definitions, configuration templates, and documentation. Do not commit raw sequencing data, patient identifiers, credentials, private keys, large binary outputs, or secrets. Use a gitignore file to exclude generated directories and local configuration. Small, descriptive commits make it possible to understand how a method evolved. Tag or record the exact workflow version used for an analysis. For collaborative projects, a pull request allows a colleague to review scientific logic and operational safety before changes reach the main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ready for larger examples when the project has a clear directory structure and read-only source data; the software environment is declared; Snakemake can perform a dry run; the workflow submits rules through the approved Slurm profile; statistical inputs are validated; sequence files use appropriate compressed and indexed formats; logs and benchmarks are generated; and workflow changes are recorded in Git without sensitive data. The next lesson focuses on performance. It explains why an analysis with correct code can still take months when CPU, memory, and especially input-output behavior are structured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6EAF"/>
          </a:solidFill>
          <a:ln w="12700">
            <a:solidFill>
              <a:srgbClr val="2C6EAF">
                <a:alpha val="0"/>
              </a:srgbClr>
            </a:solidFill>
            <a:prstDash val="solid"/>
          </a:ln>
        </p:spPr>
      </p:sp>
      <p:sp>
        <p:nvSpPr>
          <p:cNvPr id="3" name="Shape 1"/>
          <p:cNvSpPr/>
          <p:nvPr/>
        </p:nvSpPr>
        <p:spPr>
          <a:xfrm>
            <a:off x="228600" y="228600"/>
            <a:ext cx="11734495" cy="6400800"/>
          </a:xfrm>
          <a:prstGeom prst="rect">
            <a:avLst/>
          </a:prstGeom>
          <a:solidFill>
            <a:srgbClr val="FFFFFF">
              <a:alpha val="0"/>
            </a:srgbClr>
          </a:solidFill>
          <a:ln w="12700">
            <a:solidFill>
              <a:srgbClr val="FFFFFF">
                <a:alpha val="0"/>
              </a:srgbClr>
            </a:solidFill>
            <a:prstDash val="solid"/>
          </a:ln>
        </p:spPr>
      </p:sp>
      <p:sp>
        <p:nvSpPr>
          <p:cNvPr id="4" name="Text 2"/>
          <p:cNvSpPr/>
          <p:nvPr/>
        </p:nvSpPr>
        <p:spPr>
          <a:xfrm>
            <a:off x="914400" y="685800"/>
            <a:ext cx="2011680" cy="347472"/>
          </a:xfrm>
          <a:prstGeom prst="rect">
            <a:avLst/>
          </a:prstGeom>
          <a:noFill/>
          <a:ln/>
        </p:spPr>
        <p:txBody>
          <a:bodyPr wrap="square" lIns="0" tIns="0" rIns="0" bIns="0" rtlCol="0" anchor="ctr">
            <a:normAutofit/>
          </a:bodyPr>
          <a:lstStyle/>
          <a:p>
            <a:pPr algn="l" indent="0" marL="0">
              <a:buNone/>
            </a:pPr>
            <a:r>
              <a:rPr lang="en-US" sz="1600" b="1" spc="250" kern="0" dirty="0">
                <a:solidFill>
                  <a:srgbClr val="FFFFFF"/>
                </a:solidFill>
                <a:latin typeface="Liberation Sans" pitchFamily="34" charset="0"/>
                <a:ea typeface="Liberation Sans" pitchFamily="34" charset="-122"/>
                <a:cs typeface="Liberation Sans" pitchFamily="34" charset="-120"/>
              </a:rPr>
              <a:t>PART 2</a:t>
            </a:r>
            <a:endParaRPr lang="en-US" sz="1600" dirty="0"/>
          </a:p>
        </p:txBody>
      </p:sp>
      <p:sp>
        <p:nvSpPr>
          <p:cNvPr id="5" name="Text 3"/>
          <p:cNvSpPr/>
          <p:nvPr/>
        </p:nvSpPr>
        <p:spPr>
          <a:xfrm>
            <a:off x="914400" y="1234440"/>
            <a:ext cx="9966960" cy="109728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Liberation Sans" pitchFamily="34" charset="0"/>
                <a:ea typeface="Liberation Sans" pitchFamily="34" charset="-122"/>
                <a:cs typeface="Liberation Sans" pitchFamily="34" charset="-120"/>
              </a:rPr>
              <a:t>Reproducible scientific workflows</a:t>
            </a:r>
            <a:endParaRPr lang="en-US" sz="3400" dirty="0"/>
          </a:p>
        </p:txBody>
      </p:sp>
      <p:sp>
        <p:nvSpPr>
          <p:cNvPr id="6" name="Text 4"/>
          <p:cNvSpPr/>
          <p:nvPr/>
        </p:nvSpPr>
        <p:spPr>
          <a:xfrm>
            <a:off x="932688" y="2487168"/>
            <a:ext cx="9601200" cy="822960"/>
          </a:xfrm>
          <a:prstGeom prst="rect">
            <a:avLst/>
          </a:prstGeom>
          <a:noFill/>
          <a:ln/>
        </p:spPr>
        <p:txBody>
          <a:bodyPr wrap="square" lIns="0" tIns="0" rIns="0" bIns="0" rtlCol="0" anchor="t">
            <a:normAutofit/>
          </a:bodyPr>
          <a:lstStyle/>
          <a:p>
            <a:pPr algn="l" indent="0" marL="0">
              <a:buNone/>
            </a:pPr>
            <a:r>
              <a:rPr lang="en-US" sz="1900" dirty="0">
                <a:solidFill>
                  <a:srgbClr val="FFFFFF"/>
                </a:solidFill>
                <a:latin typeface="Liberation Sans" pitchFamily="34" charset="0"/>
                <a:ea typeface="Liberation Sans" pitchFamily="34" charset="-122"/>
                <a:cs typeface="Liberation Sans" pitchFamily="34" charset="-120"/>
              </a:rPr>
              <a:t>Use environments, Snakemake, Slurm, and version control for statistical and DNA analysis.</a:t>
            </a:r>
            <a:endParaRPr lang="en-US" sz="1900" dirty="0"/>
          </a:p>
        </p:txBody>
      </p:sp>
      <p:sp>
        <p:nvSpPr>
          <p:cNvPr id="7" name="Shape 5"/>
          <p:cNvSpPr/>
          <p:nvPr/>
        </p:nvSpPr>
        <p:spPr>
          <a:xfrm>
            <a:off x="914400" y="3977640"/>
            <a:ext cx="5120640" cy="1051560"/>
          </a:xfrm>
          <a:prstGeom prst="roundRect">
            <a:avLst/>
          </a:prstGeom>
          <a:solidFill>
            <a:srgbClr val="FFFFFF">
              <a:alpha val="12000"/>
            </a:srgbClr>
          </a:solidFill>
          <a:ln w="12700">
            <a:solidFill>
              <a:srgbClr val="FFFFFF">
                <a:alpha val="25000"/>
              </a:srgbClr>
            </a:solidFill>
            <a:prstDash val="solid"/>
          </a:ln>
        </p:spPr>
      </p:sp>
      <p:sp>
        <p:nvSpPr>
          <p:cNvPr id="8" name="Text 6"/>
          <p:cNvSpPr/>
          <p:nvPr/>
        </p:nvSpPr>
        <p:spPr>
          <a:xfrm>
            <a:off x="1170432" y="4187952"/>
            <a:ext cx="4617720" cy="658368"/>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Outcome: a small workflow that can be rerun, inspected, and extended without relying on memory.</a:t>
            </a:r>
            <a:endParaRPr lang="en-US" sz="1600" dirty="0"/>
          </a:p>
        </p:txBody>
      </p:sp>
      <p:sp>
        <p:nvSpPr>
          <p:cNvPr id="9" name="Text 7"/>
          <p:cNvSpPr/>
          <p:nvPr/>
        </p:nvSpPr>
        <p:spPr>
          <a:xfrm>
            <a:off x="932688" y="5852160"/>
            <a:ext cx="7955280" cy="320040"/>
          </a:xfrm>
          <a:prstGeom prst="rect">
            <a:avLst/>
          </a:prstGeom>
          <a:noFill/>
          <a:ln/>
        </p:spPr>
        <p:txBody>
          <a:bodyPr wrap="square" lIns="0" tIns="0" rIns="0" bIns="0" rtlCol="0" anchor="ctr">
            <a:normAutofit/>
          </a:bodyPr>
          <a:lstStyle/>
          <a:p>
            <a:pPr algn="l" indent="0" marL="0">
              <a:buNone/>
            </a:pPr>
            <a:r>
              <a:rPr lang="en-US" sz="1300" dirty="0">
                <a:solidFill>
                  <a:srgbClr val="FFFFFF"/>
                </a:solidFill>
                <a:latin typeface="Liberation Sans" pitchFamily="34" charset="0"/>
                <a:ea typeface="Liberation Sans" pitchFamily="34" charset="-122"/>
                <a:cs typeface="Liberation Sans" pitchFamily="34" charset="-120"/>
              </a:rPr>
              <a:t>For biomedical researchers new to distributed computing</a:t>
            </a:r>
            <a:endParaRPr lang="en-US" sz="1300" dirty="0"/>
          </a:p>
        </p:txBody>
      </p:sp>
      <p:sp>
        <p:nvSpPr>
          <p:cNvPr id="10" name="Text 8"/>
          <p:cNvSpPr/>
          <p:nvPr/>
        </p:nvSpPr>
        <p:spPr>
          <a:xfrm>
            <a:off x="9326880" y="5852160"/>
            <a:ext cx="1920240" cy="320040"/>
          </a:xfrm>
          <a:prstGeom prst="rect">
            <a:avLst/>
          </a:prstGeom>
          <a:noFill/>
          <a:ln/>
        </p:spPr>
        <p:txBody>
          <a:bodyPr wrap="square" lIns="0" tIns="0" rIns="0" bIns="0" rtlCol="0" anchor="ctr">
            <a:normAutofit/>
          </a:bodyPr>
          <a:lstStyle/>
          <a:p>
            <a:pPr algn="r" indent="0" marL="0">
              <a:buNone/>
            </a:pPr>
            <a:r>
              <a:rPr lang="en-US" sz="1100" dirty="0">
                <a:solidFill>
                  <a:srgbClr val="FFFFFF"/>
                </a:solidFill>
                <a:latin typeface="Liberation Sans" pitchFamily="34" charset="0"/>
                <a:ea typeface="Liberation Sans" pitchFamily="34" charset="-122"/>
                <a:cs typeface="Liberation Sans" pitchFamily="34" charset="-120"/>
              </a:rPr>
              <a:t>RCC onboarding curriculum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 A result is more than a script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Reproducibility has several interacting layers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2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8065008" y="2569464"/>
            <a:ext cx="2286000" cy="1170432"/>
          </a:xfrm>
          <a:prstGeom prst="roundRect">
            <a:avLst>
              <a:gd name="adj" fmla="val 6250"/>
            </a:avLst>
          </a:prstGeom>
          <a:solidFill>
            <a:srgbClr val="FFFFFF"/>
          </a:solidFill>
          <a:ln w="12700">
            <a:solidFill>
              <a:srgbClr val="D7E0E7"/>
            </a:solidFill>
            <a:prstDash val="solid"/>
          </a:ln>
        </p:spPr>
      </p:sp>
      <p:sp>
        <p:nvSpPr>
          <p:cNvPr id="9" name="Shape 7"/>
          <p:cNvSpPr/>
          <p:nvPr/>
        </p:nvSpPr>
        <p:spPr>
          <a:xfrm>
            <a:off x="8065008" y="2569464"/>
            <a:ext cx="64008" cy="1170432"/>
          </a:xfrm>
          <a:prstGeom prst="rect">
            <a:avLst/>
          </a:prstGeom>
          <a:solidFill>
            <a:srgbClr val="2C6EAF"/>
          </a:solidFill>
          <a:ln w="12700">
            <a:solidFill>
              <a:srgbClr val="2C6EAF">
                <a:alpha val="0"/>
              </a:srgbClr>
            </a:solidFill>
            <a:prstDash val="solid"/>
          </a:ln>
        </p:spPr>
      </p:sp>
      <p:sp>
        <p:nvSpPr>
          <p:cNvPr id="10" name="Text 8"/>
          <p:cNvSpPr/>
          <p:nvPr/>
        </p:nvSpPr>
        <p:spPr>
          <a:xfrm>
            <a:off x="8266176" y="2715768"/>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Data</a:t>
            </a:r>
            <a:endParaRPr lang="en-US" sz="1700" dirty="0"/>
          </a:p>
        </p:txBody>
      </p:sp>
      <p:sp>
        <p:nvSpPr>
          <p:cNvPr id="11" name="Text 9"/>
          <p:cNvSpPr/>
          <p:nvPr/>
        </p:nvSpPr>
        <p:spPr>
          <a:xfrm>
            <a:off x="8266176" y="3099816"/>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raw inputs and metadata</a:t>
            </a:r>
            <a:endParaRPr lang="en-US" sz="1250" dirty="0"/>
          </a:p>
        </p:txBody>
      </p:sp>
      <p:sp>
        <p:nvSpPr>
          <p:cNvPr id="12" name="Shape 10"/>
          <p:cNvSpPr/>
          <p:nvPr/>
        </p:nvSpPr>
        <p:spPr>
          <a:xfrm>
            <a:off x="9208008" y="3154680"/>
            <a:ext cx="-3108960" cy="0"/>
          </a:xfrm>
          <a:prstGeom prst="line">
            <a:avLst/>
          </a:prstGeom>
          <a:noFill/>
          <a:ln w="17780">
            <a:solidFill>
              <a:srgbClr val="D7E0E7"/>
            </a:solidFill>
            <a:prstDash val="solid"/>
            <a:headEnd type="none"/>
            <a:tailEnd type="triangle"/>
          </a:ln>
        </p:spPr>
      </p:sp>
      <p:sp>
        <p:nvSpPr>
          <p:cNvPr id="13" name="Shape 11"/>
          <p:cNvSpPr/>
          <p:nvPr/>
        </p:nvSpPr>
        <p:spPr>
          <a:xfrm>
            <a:off x="6510528" y="4113657"/>
            <a:ext cx="2286000" cy="1170432"/>
          </a:xfrm>
          <a:prstGeom prst="roundRect">
            <a:avLst>
              <a:gd name="adj" fmla="val 6250"/>
            </a:avLst>
          </a:prstGeom>
          <a:solidFill>
            <a:srgbClr val="FFFFFF"/>
          </a:solidFill>
          <a:ln w="12700">
            <a:solidFill>
              <a:srgbClr val="D7E0E7"/>
            </a:solidFill>
            <a:prstDash val="solid"/>
          </a:ln>
        </p:spPr>
      </p:sp>
      <p:sp>
        <p:nvSpPr>
          <p:cNvPr id="14" name="Shape 12"/>
          <p:cNvSpPr/>
          <p:nvPr/>
        </p:nvSpPr>
        <p:spPr>
          <a:xfrm>
            <a:off x="6510528" y="4113657"/>
            <a:ext cx="64008" cy="1170432"/>
          </a:xfrm>
          <a:prstGeom prst="rect">
            <a:avLst/>
          </a:prstGeom>
          <a:solidFill>
            <a:srgbClr val="2C6EAF"/>
          </a:solidFill>
          <a:ln w="12700">
            <a:solidFill>
              <a:srgbClr val="2C6EAF">
                <a:alpha val="0"/>
              </a:srgbClr>
            </a:solidFill>
            <a:prstDash val="solid"/>
          </a:ln>
        </p:spPr>
      </p:sp>
      <p:sp>
        <p:nvSpPr>
          <p:cNvPr id="15" name="Text 13"/>
          <p:cNvSpPr/>
          <p:nvPr/>
        </p:nvSpPr>
        <p:spPr>
          <a:xfrm>
            <a:off x="6711696" y="4259961"/>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Code</a:t>
            </a:r>
            <a:endParaRPr lang="en-US" sz="1700" dirty="0"/>
          </a:p>
        </p:txBody>
      </p:sp>
      <p:sp>
        <p:nvSpPr>
          <p:cNvPr id="16" name="Text 14"/>
          <p:cNvSpPr/>
          <p:nvPr/>
        </p:nvSpPr>
        <p:spPr>
          <a:xfrm>
            <a:off x="6711696" y="4644009"/>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scripts and rules</a:t>
            </a:r>
            <a:endParaRPr lang="en-US" sz="1250" dirty="0"/>
          </a:p>
        </p:txBody>
      </p:sp>
      <p:sp>
        <p:nvSpPr>
          <p:cNvPr id="17" name="Shape 15"/>
          <p:cNvSpPr/>
          <p:nvPr/>
        </p:nvSpPr>
        <p:spPr>
          <a:xfrm>
            <a:off x="7653528" y="4698873"/>
            <a:ext cx="-1554480" cy="-1544193"/>
          </a:xfrm>
          <a:prstGeom prst="line">
            <a:avLst/>
          </a:prstGeom>
          <a:noFill/>
          <a:ln w="17780">
            <a:solidFill>
              <a:srgbClr val="D7E0E7"/>
            </a:solidFill>
            <a:prstDash val="solid"/>
            <a:headEnd type="none"/>
            <a:tailEnd type="triangle"/>
          </a:ln>
        </p:spPr>
      </p:sp>
      <p:sp>
        <p:nvSpPr>
          <p:cNvPr id="18" name="Shape 16"/>
          <p:cNvSpPr/>
          <p:nvPr/>
        </p:nvSpPr>
        <p:spPr>
          <a:xfrm>
            <a:off x="3401568" y="4113657"/>
            <a:ext cx="2286000" cy="1170432"/>
          </a:xfrm>
          <a:prstGeom prst="roundRect">
            <a:avLst>
              <a:gd name="adj" fmla="val 6250"/>
            </a:avLst>
          </a:prstGeom>
          <a:solidFill>
            <a:srgbClr val="FFFFFF"/>
          </a:solidFill>
          <a:ln w="12700">
            <a:solidFill>
              <a:srgbClr val="D7E0E7"/>
            </a:solidFill>
            <a:prstDash val="solid"/>
          </a:ln>
        </p:spPr>
      </p:sp>
      <p:sp>
        <p:nvSpPr>
          <p:cNvPr id="19" name="Shape 17"/>
          <p:cNvSpPr/>
          <p:nvPr/>
        </p:nvSpPr>
        <p:spPr>
          <a:xfrm>
            <a:off x="3401568" y="4113657"/>
            <a:ext cx="64008" cy="1170432"/>
          </a:xfrm>
          <a:prstGeom prst="rect">
            <a:avLst/>
          </a:prstGeom>
          <a:solidFill>
            <a:srgbClr val="D15B47"/>
          </a:solidFill>
          <a:ln w="12700">
            <a:solidFill>
              <a:srgbClr val="D15B47">
                <a:alpha val="0"/>
              </a:srgbClr>
            </a:solidFill>
            <a:prstDash val="solid"/>
          </a:ln>
        </p:spPr>
      </p:sp>
      <p:sp>
        <p:nvSpPr>
          <p:cNvPr id="20" name="Text 18"/>
          <p:cNvSpPr/>
          <p:nvPr/>
        </p:nvSpPr>
        <p:spPr>
          <a:xfrm>
            <a:off x="3602736" y="4259961"/>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Software</a:t>
            </a:r>
            <a:endParaRPr lang="en-US" sz="1700" dirty="0"/>
          </a:p>
        </p:txBody>
      </p:sp>
      <p:sp>
        <p:nvSpPr>
          <p:cNvPr id="21" name="Text 19"/>
          <p:cNvSpPr/>
          <p:nvPr/>
        </p:nvSpPr>
        <p:spPr>
          <a:xfrm>
            <a:off x="3602736" y="4644009"/>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versions and dependencies</a:t>
            </a:r>
            <a:endParaRPr lang="en-US" sz="1250" dirty="0"/>
          </a:p>
        </p:txBody>
      </p:sp>
      <p:sp>
        <p:nvSpPr>
          <p:cNvPr id="22" name="Shape 20"/>
          <p:cNvSpPr/>
          <p:nvPr/>
        </p:nvSpPr>
        <p:spPr>
          <a:xfrm>
            <a:off x="4544568" y="4698873"/>
            <a:ext cx="1554480" cy="-1544193"/>
          </a:xfrm>
          <a:prstGeom prst="line">
            <a:avLst/>
          </a:prstGeom>
          <a:noFill/>
          <a:ln w="17780">
            <a:solidFill>
              <a:srgbClr val="D7E0E7"/>
            </a:solidFill>
            <a:prstDash val="solid"/>
            <a:headEnd type="none"/>
            <a:tailEnd type="triangle"/>
          </a:ln>
        </p:spPr>
      </p:sp>
      <p:sp>
        <p:nvSpPr>
          <p:cNvPr id="23" name="Shape 21"/>
          <p:cNvSpPr/>
          <p:nvPr/>
        </p:nvSpPr>
        <p:spPr>
          <a:xfrm>
            <a:off x="1847088" y="2569464"/>
            <a:ext cx="2286000" cy="1170432"/>
          </a:xfrm>
          <a:prstGeom prst="roundRect">
            <a:avLst>
              <a:gd name="adj" fmla="val 6250"/>
            </a:avLst>
          </a:prstGeom>
          <a:solidFill>
            <a:srgbClr val="FFFFFF"/>
          </a:solidFill>
          <a:ln w="12700">
            <a:solidFill>
              <a:srgbClr val="D7E0E7"/>
            </a:solidFill>
            <a:prstDash val="solid"/>
          </a:ln>
        </p:spPr>
      </p:sp>
      <p:sp>
        <p:nvSpPr>
          <p:cNvPr id="24" name="Shape 22"/>
          <p:cNvSpPr/>
          <p:nvPr/>
        </p:nvSpPr>
        <p:spPr>
          <a:xfrm>
            <a:off x="1847088" y="2569464"/>
            <a:ext cx="64008" cy="1170432"/>
          </a:xfrm>
          <a:prstGeom prst="rect">
            <a:avLst/>
          </a:prstGeom>
          <a:solidFill>
            <a:srgbClr val="2C6EAF"/>
          </a:solidFill>
          <a:ln w="12700">
            <a:solidFill>
              <a:srgbClr val="2C6EAF">
                <a:alpha val="0"/>
              </a:srgbClr>
            </a:solidFill>
            <a:prstDash val="solid"/>
          </a:ln>
        </p:spPr>
      </p:sp>
      <p:sp>
        <p:nvSpPr>
          <p:cNvPr id="25" name="Text 23"/>
          <p:cNvSpPr/>
          <p:nvPr/>
        </p:nvSpPr>
        <p:spPr>
          <a:xfrm>
            <a:off x="2048256" y="2715768"/>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Parameters</a:t>
            </a:r>
            <a:endParaRPr lang="en-US" sz="1700" dirty="0"/>
          </a:p>
        </p:txBody>
      </p:sp>
      <p:sp>
        <p:nvSpPr>
          <p:cNvPr id="26" name="Text 24"/>
          <p:cNvSpPr/>
          <p:nvPr/>
        </p:nvSpPr>
        <p:spPr>
          <a:xfrm>
            <a:off x="2048256" y="3099816"/>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thresholds and references</a:t>
            </a:r>
            <a:endParaRPr lang="en-US" sz="1250" dirty="0"/>
          </a:p>
        </p:txBody>
      </p:sp>
      <p:sp>
        <p:nvSpPr>
          <p:cNvPr id="27" name="Shape 25"/>
          <p:cNvSpPr/>
          <p:nvPr/>
        </p:nvSpPr>
        <p:spPr>
          <a:xfrm>
            <a:off x="2990088" y="3154680"/>
            <a:ext cx="3108960" cy="0"/>
          </a:xfrm>
          <a:prstGeom prst="line">
            <a:avLst/>
          </a:prstGeom>
          <a:noFill/>
          <a:ln w="17780">
            <a:solidFill>
              <a:srgbClr val="D7E0E7"/>
            </a:solidFill>
            <a:prstDash val="solid"/>
            <a:headEnd type="none"/>
            <a:tailEnd type="triangle"/>
          </a:ln>
        </p:spPr>
      </p:sp>
      <p:sp>
        <p:nvSpPr>
          <p:cNvPr id="28" name="Shape 26"/>
          <p:cNvSpPr/>
          <p:nvPr/>
        </p:nvSpPr>
        <p:spPr>
          <a:xfrm>
            <a:off x="3401568" y="1025271"/>
            <a:ext cx="2286000" cy="1170432"/>
          </a:xfrm>
          <a:prstGeom prst="roundRect">
            <a:avLst>
              <a:gd name="adj" fmla="val 6250"/>
            </a:avLst>
          </a:prstGeom>
          <a:solidFill>
            <a:srgbClr val="FFFFFF"/>
          </a:solidFill>
          <a:ln w="12700">
            <a:solidFill>
              <a:srgbClr val="D7E0E7"/>
            </a:solidFill>
            <a:prstDash val="solid"/>
          </a:ln>
        </p:spPr>
      </p:sp>
      <p:sp>
        <p:nvSpPr>
          <p:cNvPr id="29" name="Shape 27"/>
          <p:cNvSpPr/>
          <p:nvPr/>
        </p:nvSpPr>
        <p:spPr>
          <a:xfrm>
            <a:off x="3401568" y="1025271"/>
            <a:ext cx="64008" cy="1170432"/>
          </a:xfrm>
          <a:prstGeom prst="rect">
            <a:avLst/>
          </a:prstGeom>
          <a:solidFill>
            <a:srgbClr val="2C6EAF"/>
          </a:solidFill>
          <a:ln w="12700">
            <a:solidFill>
              <a:srgbClr val="2C6EAF">
                <a:alpha val="0"/>
              </a:srgbClr>
            </a:solidFill>
            <a:prstDash val="solid"/>
          </a:ln>
        </p:spPr>
      </p:sp>
      <p:sp>
        <p:nvSpPr>
          <p:cNvPr id="30" name="Text 28"/>
          <p:cNvSpPr/>
          <p:nvPr/>
        </p:nvSpPr>
        <p:spPr>
          <a:xfrm>
            <a:off x="3602736" y="1171575"/>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Execution</a:t>
            </a:r>
            <a:endParaRPr lang="en-US" sz="1700" dirty="0"/>
          </a:p>
        </p:txBody>
      </p:sp>
      <p:sp>
        <p:nvSpPr>
          <p:cNvPr id="31" name="Text 29"/>
          <p:cNvSpPr/>
          <p:nvPr/>
        </p:nvSpPr>
        <p:spPr>
          <a:xfrm>
            <a:off x="3602736" y="1555623"/>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resources and logs</a:t>
            </a:r>
            <a:endParaRPr lang="en-US" sz="1250" dirty="0"/>
          </a:p>
        </p:txBody>
      </p:sp>
      <p:sp>
        <p:nvSpPr>
          <p:cNvPr id="32" name="Shape 30"/>
          <p:cNvSpPr/>
          <p:nvPr/>
        </p:nvSpPr>
        <p:spPr>
          <a:xfrm>
            <a:off x="4544568" y="1610487"/>
            <a:ext cx="1554480" cy="1544193"/>
          </a:xfrm>
          <a:prstGeom prst="line">
            <a:avLst/>
          </a:prstGeom>
          <a:noFill/>
          <a:ln w="17780">
            <a:solidFill>
              <a:srgbClr val="D7E0E7"/>
            </a:solidFill>
            <a:prstDash val="solid"/>
            <a:headEnd type="none"/>
            <a:tailEnd type="triangle"/>
          </a:ln>
        </p:spPr>
      </p:sp>
      <p:sp>
        <p:nvSpPr>
          <p:cNvPr id="33" name="Shape 31"/>
          <p:cNvSpPr/>
          <p:nvPr/>
        </p:nvSpPr>
        <p:spPr>
          <a:xfrm>
            <a:off x="6510528" y="1025271"/>
            <a:ext cx="2286000" cy="1170432"/>
          </a:xfrm>
          <a:prstGeom prst="roundRect">
            <a:avLst>
              <a:gd name="adj" fmla="val 6250"/>
            </a:avLst>
          </a:prstGeom>
          <a:solidFill>
            <a:srgbClr val="FFFFFF"/>
          </a:solidFill>
          <a:ln w="12700">
            <a:solidFill>
              <a:srgbClr val="D7E0E7"/>
            </a:solidFill>
            <a:prstDash val="solid"/>
          </a:ln>
        </p:spPr>
      </p:sp>
      <p:sp>
        <p:nvSpPr>
          <p:cNvPr id="34" name="Shape 32"/>
          <p:cNvSpPr/>
          <p:nvPr/>
        </p:nvSpPr>
        <p:spPr>
          <a:xfrm>
            <a:off x="6510528" y="1025271"/>
            <a:ext cx="64008" cy="1170432"/>
          </a:xfrm>
          <a:prstGeom prst="rect">
            <a:avLst/>
          </a:prstGeom>
          <a:solidFill>
            <a:srgbClr val="2C6EAF"/>
          </a:solidFill>
          <a:ln w="12700">
            <a:solidFill>
              <a:srgbClr val="2C6EAF">
                <a:alpha val="0"/>
              </a:srgbClr>
            </a:solidFill>
            <a:prstDash val="solid"/>
          </a:ln>
        </p:spPr>
      </p:sp>
      <p:sp>
        <p:nvSpPr>
          <p:cNvPr id="35" name="Text 33"/>
          <p:cNvSpPr/>
          <p:nvPr/>
        </p:nvSpPr>
        <p:spPr>
          <a:xfrm>
            <a:off x="6711696" y="1171575"/>
            <a:ext cx="1938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Interpretation</a:t>
            </a:r>
            <a:endParaRPr lang="en-US" sz="1700" dirty="0"/>
          </a:p>
        </p:txBody>
      </p:sp>
      <p:sp>
        <p:nvSpPr>
          <p:cNvPr id="36" name="Text 34"/>
          <p:cNvSpPr/>
          <p:nvPr/>
        </p:nvSpPr>
        <p:spPr>
          <a:xfrm>
            <a:off x="6711696" y="1555623"/>
            <a:ext cx="1938528" cy="512064"/>
          </a:xfrm>
          <a:prstGeom prst="rect">
            <a:avLst/>
          </a:prstGeom>
          <a:noFill/>
          <a:ln/>
        </p:spPr>
        <p:txBody>
          <a:bodyPr wrap="square" lIns="0" tIns="0" rIns="0" bIns="0" rtlCol="0" anchor="t">
            <a:normAutofit/>
          </a:bodyPr>
          <a:lstStyle/>
          <a:p>
            <a:pPr algn="l" indent="0" marL="0">
              <a:buNone/>
            </a:pPr>
            <a:r>
              <a:rPr lang="en-US" sz="1250" dirty="0">
                <a:solidFill>
                  <a:srgbClr val="1F2937"/>
                </a:solidFill>
                <a:latin typeface="Liberation Sans" pitchFamily="34" charset="0"/>
                <a:ea typeface="Liberation Sans" pitchFamily="34" charset="-122"/>
                <a:cs typeface="Liberation Sans" pitchFamily="34" charset="-120"/>
              </a:rPr>
              <a:t>figures and conclusions</a:t>
            </a:r>
            <a:endParaRPr lang="en-US" sz="1250" dirty="0"/>
          </a:p>
        </p:txBody>
      </p:sp>
      <p:sp>
        <p:nvSpPr>
          <p:cNvPr id="37" name="Shape 35"/>
          <p:cNvSpPr/>
          <p:nvPr/>
        </p:nvSpPr>
        <p:spPr>
          <a:xfrm>
            <a:off x="7653528" y="1610487"/>
            <a:ext cx="-1554480" cy="1544193"/>
          </a:xfrm>
          <a:prstGeom prst="line">
            <a:avLst/>
          </a:prstGeom>
          <a:noFill/>
          <a:ln w="17780">
            <a:solidFill>
              <a:srgbClr val="D7E0E7"/>
            </a:solidFill>
            <a:prstDash val="solid"/>
            <a:headEnd type="none"/>
            <a:tailEnd type="triangle"/>
          </a:ln>
        </p:spPr>
      </p:sp>
      <p:sp>
        <p:nvSpPr>
          <p:cNvPr id="38" name="Shape 36"/>
          <p:cNvSpPr/>
          <p:nvPr/>
        </p:nvSpPr>
        <p:spPr>
          <a:xfrm>
            <a:off x="5230368" y="2286000"/>
            <a:ext cx="1737360" cy="1737360"/>
          </a:xfrm>
          <a:prstGeom prst="ellipse">
            <a:avLst/>
          </a:prstGeom>
          <a:solidFill>
            <a:srgbClr val="2C6EAF"/>
          </a:solidFill>
          <a:ln w="12700">
            <a:solidFill>
              <a:srgbClr val="2C6EAF">
                <a:alpha val="0"/>
              </a:srgbClr>
            </a:solidFill>
            <a:prstDash val="solid"/>
          </a:ln>
        </p:spPr>
      </p:sp>
      <p:sp>
        <p:nvSpPr>
          <p:cNvPr id="39" name="Text 37"/>
          <p:cNvSpPr/>
          <p:nvPr/>
        </p:nvSpPr>
        <p:spPr>
          <a:xfrm>
            <a:off x="5367528" y="2743200"/>
            <a:ext cx="1463040" cy="82296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REPRODUCIBLE</a:t>
            </a:r>
            <a:endParaRPr lang="en-US" sz="1700" dirty="0"/>
          </a:p>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RESULT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2. Project structure prevents accidental science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Separate source data, workflow logic, environments, logs, and results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3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777240" y="1234440"/>
            <a:ext cx="4800600" cy="4663440"/>
          </a:xfrm>
          <a:prstGeom prst="roundRect">
            <a:avLst/>
          </a:prstGeom>
          <a:solidFill>
            <a:srgbClr val="101820"/>
          </a:solidFill>
          <a:ln w="15240">
            <a:solidFill>
              <a:srgbClr val="D7E0E7"/>
            </a:solidFill>
            <a:prstDash val="solid"/>
          </a:ln>
        </p:spPr>
      </p:sp>
      <p:sp>
        <p:nvSpPr>
          <p:cNvPr id="9" name="Text 7"/>
          <p:cNvSpPr/>
          <p:nvPr/>
        </p:nvSpPr>
        <p:spPr>
          <a:xfrm>
            <a:off x="1115568" y="1527048"/>
            <a:ext cx="4069080" cy="4160520"/>
          </a:xfrm>
          <a:prstGeom prst="rect">
            <a:avLst/>
          </a:prstGeom>
          <a:noFill/>
          <a:ln/>
        </p:spPr>
        <p:txBody>
          <a:bodyPr wrap="square" lIns="0" tIns="0" rIns="0" bIns="0" rtlCol="0" anchor="t">
            <a:normAutofit/>
          </a:bodyPr>
          <a:lstStyle/>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project/</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README.md</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config/</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data/</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 raw/</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 metadata.tsv</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workflow/</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 Snakefile</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 rules/</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 envs/</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scripts/</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logs/</a:t>
            </a:r>
            <a:endParaRPr lang="en-US" sz="1800" dirty="0"/>
          </a:p>
          <a:p>
            <a:pPr algn="l" indent="0" marL="0">
              <a:buNone/>
            </a:pPr>
            <a:r>
              <a:rPr lang="en-US" sz="1800" dirty="0">
                <a:solidFill>
                  <a:srgbClr val="D6F5DD"/>
                </a:solidFill>
                <a:latin typeface="Liberation Mono" pitchFamily="34" charset="0"/>
                <a:ea typeface="Liberation Mono" pitchFamily="34" charset="-122"/>
                <a:cs typeface="Liberation Mono" pitchFamily="34" charset="-120"/>
              </a:rPr>
              <a:t>└── results/</a:t>
            </a:r>
            <a:endParaRPr lang="en-US" sz="1800" dirty="0"/>
          </a:p>
        </p:txBody>
      </p:sp>
      <p:sp>
        <p:nvSpPr>
          <p:cNvPr id="10" name="Shape 8"/>
          <p:cNvSpPr/>
          <p:nvPr/>
        </p:nvSpPr>
        <p:spPr>
          <a:xfrm>
            <a:off x="5989320" y="1234440"/>
            <a:ext cx="5394960" cy="1234440"/>
          </a:xfrm>
          <a:prstGeom prst="roundRect">
            <a:avLst>
              <a:gd name="adj" fmla="val 5926"/>
            </a:avLst>
          </a:prstGeom>
          <a:solidFill>
            <a:srgbClr val="FFFFFF"/>
          </a:solidFill>
          <a:ln w="12700">
            <a:solidFill>
              <a:srgbClr val="D7E0E7"/>
            </a:solidFill>
            <a:prstDash val="solid"/>
          </a:ln>
        </p:spPr>
      </p:sp>
      <p:sp>
        <p:nvSpPr>
          <p:cNvPr id="11" name="Shape 9"/>
          <p:cNvSpPr/>
          <p:nvPr/>
        </p:nvSpPr>
        <p:spPr>
          <a:xfrm>
            <a:off x="5989320" y="1234440"/>
            <a:ext cx="64008" cy="1234440"/>
          </a:xfrm>
          <a:prstGeom prst="rect">
            <a:avLst/>
          </a:prstGeom>
          <a:solidFill>
            <a:srgbClr val="D15B47"/>
          </a:solidFill>
          <a:ln w="12700">
            <a:solidFill>
              <a:srgbClr val="D15B47">
                <a:alpha val="0"/>
              </a:srgbClr>
            </a:solidFill>
            <a:prstDash val="solid"/>
          </a:ln>
        </p:spPr>
      </p:sp>
      <p:sp>
        <p:nvSpPr>
          <p:cNvPr id="12" name="Text 10"/>
          <p:cNvSpPr/>
          <p:nvPr/>
        </p:nvSpPr>
        <p:spPr>
          <a:xfrm>
            <a:off x="6190488" y="1380744"/>
            <a:ext cx="50474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Raw data</a:t>
            </a:r>
            <a:endParaRPr lang="en-US" sz="1700" dirty="0"/>
          </a:p>
        </p:txBody>
      </p:sp>
      <p:sp>
        <p:nvSpPr>
          <p:cNvPr id="13" name="Text 11"/>
          <p:cNvSpPr/>
          <p:nvPr/>
        </p:nvSpPr>
        <p:spPr>
          <a:xfrm>
            <a:off x="6190488" y="1764792"/>
            <a:ext cx="5047488" cy="57607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Read-only source material; never silently modified.</a:t>
            </a:r>
            <a:endParaRPr lang="en-US" sz="1500" dirty="0"/>
          </a:p>
        </p:txBody>
      </p:sp>
      <p:sp>
        <p:nvSpPr>
          <p:cNvPr id="14" name="Shape 12"/>
          <p:cNvSpPr/>
          <p:nvPr/>
        </p:nvSpPr>
        <p:spPr>
          <a:xfrm>
            <a:off x="5989320" y="2679192"/>
            <a:ext cx="5394960" cy="1234440"/>
          </a:xfrm>
          <a:prstGeom prst="roundRect">
            <a:avLst>
              <a:gd name="adj" fmla="val 5926"/>
            </a:avLst>
          </a:prstGeom>
          <a:solidFill>
            <a:srgbClr val="FFFFFF"/>
          </a:solidFill>
          <a:ln w="12700">
            <a:solidFill>
              <a:srgbClr val="D7E0E7"/>
            </a:solidFill>
            <a:prstDash val="solid"/>
          </a:ln>
        </p:spPr>
      </p:sp>
      <p:sp>
        <p:nvSpPr>
          <p:cNvPr id="15" name="Shape 13"/>
          <p:cNvSpPr/>
          <p:nvPr/>
        </p:nvSpPr>
        <p:spPr>
          <a:xfrm>
            <a:off x="5989320" y="2679192"/>
            <a:ext cx="64008" cy="1234440"/>
          </a:xfrm>
          <a:prstGeom prst="rect">
            <a:avLst/>
          </a:prstGeom>
          <a:solidFill>
            <a:srgbClr val="2C6EAF"/>
          </a:solidFill>
          <a:ln w="12700">
            <a:solidFill>
              <a:srgbClr val="2C6EAF">
                <a:alpha val="0"/>
              </a:srgbClr>
            </a:solidFill>
            <a:prstDash val="solid"/>
          </a:ln>
        </p:spPr>
      </p:sp>
      <p:sp>
        <p:nvSpPr>
          <p:cNvPr id="16" name="Text 14"/>
          <p:cNvSpPr/>
          <p:nvPr/>
        </p:nvSpPr>
        <p:spPr>
          <a:xfrm>
            <a:off x="6190488" y="2825496"/>
            <a:ext cx="50474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Workflow + environments</a:t>
            </a:r>
            <a:endParaRPr lang="en-US" sz="1700" dirty="0"/>
          </a:p>
        </p:txBody>
      </p:sp>
      <p:sp>
        <p:nvSpPr>
          <p:cNvPr id="17" name="Text 15"/>
          <p:cNvSpPr/>
          <p:nvPr/>
        </p:nvSpPr>
        <p:spPr>
          <a:xfrm>
            <a:off x="6190488" y="3209544"/>
            <a:ext cx="5047488" cy="57607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Machine-readable dependencies, commands, and software.</a:t>
            </a:r>
            <a:endParaRPr lang="en-US" sz="1500" dirty="0"/>
          </a:p>
        </p:txBody>
      </p:sp>
      <p:sp>
        <p:nvSpPr>
          <p:cNvPr id="18" name="Shape 16"/>
          <p:cNvSpPr/>
          <p:nvPr/>
        </p:nvSpPr>
        <p:spPr>
          <a:xfrm>
            <a:off x="5989320" y="4123944"/>
            <a:ext cx="5394960" cy="1234440"/>
          </a:xfrm>
          <a:prstGeom prst="roundRect">
            <a:avLst>
              <a:gd name="adj" fmla="val 5926"/>
            </a:avLst>
          </a:prstGeom>
          <a:solidFill>
            <a:srgbClr val="FFFFFF"/>
          </a:solidFill>
          <a:ln w="12700">
            <a:solidFill>
              <a:srgbClr val="D7E0E7"/>
            </a:solidFill>
            <a:prstDash val="solid"/>
          </a:ln>
        </p:spPr>
      </p:sp>
      <p:sp>
        <p:nvSpPr>
          <p:cNvPr id="19" name="Shape 17"/>
          <p:cNvSpPr/>
          <p:nvPr/>
        </p:nvSpPr>
        <p:spPr>
          <a:xfrm>
            <a:off x="5989320" y="4123944"/>
            <a:ext cx="64008" cy="1234440"/>
          </a:xfrm>
          <a:prstGeom prst="rect">
            <a:avLst/>
          </a:prstGeom>
          <a:solidFill>
            <a:srgbClr val="3A8D63"/>
          </a:solidFill>
          <a:ln w="12700">
            <a:solidFill>
              <a:srgbClr val="3A8D63">
                <a:alpha val="0"/>
              </a:srgbClr>
            </a:solidFill>
            <a:prstDash val="solid"/>
          </a:ln>
        </p:spPr>
      </p:sp>
      <p:sp>
        <p:nvSpPr>
          <p:cNvPr id="20" name="Text 18"/>
          <p:cNvSpPr/>
          <p:nvPr/>
        </p:nvSpPr>
        <p:spPr>
          <a:xfrm>
            <a:off x="6190488" y="4270248"/>
            <a:ext cx="50474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Results + logs</a:t>
            </a:r>
            <a:endParaRPr lang="en-US" sz="1700" dirty="0"/>
          </a:p>
        </p:txBody>
      </p:sp>
      <p:sp>
        <p:nvSpPr>
          <p:cNvPr id="21" name="Text 19"/>
          <p:cNvSpPr/>
          <p:nvPr/>
        </p:nvSpPr>
        <p:spPr>
          <a:xfrm>
            <a:off x="6190488" y="4654296"/>
            <a:ext cx="5047488" cy="57607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Generated outputs plus the evidence needed to interpret them.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3. What is a software environment?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named, isolated set of compatible tools and libraries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4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1051560" y="1325880"/>
            <a:ext cx="10012680" cy="804672"/>
          </a:xfrm>
          <a:prstGeom prst="roundRect">
            <a:avLst/>
          </a:prstGeom>
          <a:solidFill>
            <a:srgbClr val="2C6EAF"/>
          </a:solidFill>
          <a:ln w="15240">
            <a:solidFill>
              <a:srgbClr val="2C6EAF"/>
            </a:solidFill>
            <a:prstDash val="solid"/>
          </a:ln>
        </p:spPr>
      </p:sp>
      <p:sp>
        <p:nvSpPr>
          <p:cNvPr id="9" name="Text 7"/>
          <p:cNvSpPr/>
          <p:nvPr/>
        </p:nvSpPr>
        <p:spPr>
          <a:xfrm>
            <a:off x="1280160" y="1444752"/>
            <a:ext cx="1828800" cy="310896"/>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Analysis</a:t>
            </a:r>
            <a:endParaRPr lang="en-US" sz="1800" dirty="0"/>
          </a:p>
        </p:txBody>
      </p:sp>
      <p:sp>
        <p:nvSpPr>
          <p:cNvPr id="10" name="Text 8"/>
          <p:cNvSpPr/>
          <p:nvPr/>
        </p:nvSpPr>
        <p:spPr>
          <a:xfrm>
            <a:off x="3108960" y="1444752"/>
            <a:ext cx="7726680" cy="310896"/>
          </a:xfrm>
          <a:prstGeom prst="rect">
            <a:avLst/>
          </a:prstGeom>
          <a:noFill/>
          <a:ln/>
        </p:spPr>
        <p:txBody>
          <a:bodyPr wrap="square" lIns="0" tIns="0" rIns="0" bIns="0" rtlCol="0" anchor="ctr">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Snakemake, R, Python, tools</a:t>
            </a:r>
            <a:endParaRPr lang="en-US" sz="1600" dirty="0"/>
          </a:p>
        </p:txBody>
      </p:sp>
      <p:sp>
        <p:nvSpPr>
          <p:cNvPr id="11" name="Shape 9"/>
          <p:cNvSpPr/>
          <p:nvPr/>
        </p:nvSpPr>
        <p:spPr>
          <a:xfrm>
            <a:off x="1554480" y="2350008"/>
            <a:ext cx="9006840" cy="804672"/>
          </a:xfrm>
          <a:prstGeom prst="roundRect">
            <a:avLst/>
          </a:prstGeom>
          <a:solidFill>
            <a:srgbClr val="E7EEF3"/>
          </a:solidFill>
          <a:ln w="15240">
            <a:solidFill>
              <a:srgbClr val="D7E0E7"/>
            </a:solidFill>
            <a:prstDash val="solid"/>
          </a:ln>
        </p:spPr>
      </p:sp>
      <p:sp>
        <p:nvSpPr>
          <p:cNvPr id="12" name="Text 10"/>
          <p:cNvSpPr/>
          <p:nvPr/>
        </p:nvSpPr>
        <p:spPr>
          <a:xfrm>
            <a:off x="1783080" y="2468880"/>
            <a:ext cx="1828800" cy="310896"/>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Libraries</a:t>
            </a:r>
            <a:endParaRPr lang="en-US" sz="1800" dirty="0"/>
          </a:p>
        </p:txBody>
      </p:sp>
      <p:sp>
        <p:nvSpPr>
          <p:cNvPr id="13" name="Text 11"/>
          <p:cNvSpPr/>
          <p:nvPr/>
        </p:nvSpPr>
        <p:spPr>
          <a:xfrm>
            <a:off x="3611880" y="2468880"/>
            <a:ext cx="6720840" cy="310896"/>
          </a:xfrm>
          <a:prstGeom prst="rect">
            <a:avLst/>
          </a:prstGeom>
          <a:noFill/>
          <a:ln/>
        </p:spPr>
        <p:txBody>
          <a:bodyPr wrap="square" lIns="0" tIns="0" rIns="0" bIns="0" rtlCol="0" anchor="ctr">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NumPy, pandas, htslib</a:t>
            </a:r>
            <a:endParaRPr lang="en-US" sz="1600" dirty="0"/>
          </a:p>
        </p:txBody>
      </p:sp>
      <p:sp>
        <p:nvSpPr>
          <p:cNvPr id="14" name="Shape 12"/>
          <p:cNvSpPr/>
          <p:nvPr/>
        </p:nvSpPr>
        <p:spPr>
          <a:xfrm>
            <a:off x="2057400" y="3374136"/>
            <a:ext cx="8001000" cy="804672"/>
          </a:xfrm>
          <a:prstGeom prst="roundRect">
            <a:avLst/>
          </a:prstGeom>
          <a:solidFill>
            <a:srgbClr val="E7EEF3"/>
          </a:solidFill>
          <a:ln w="15240">
            <a:solidFill>
              <a:srgbClr val="D7E0E7"/>
            </a:solidFill>
            <a:prstDash val="solid"/>
          </a:ln>
        </p:spPr>
      </p:sp>
      <p:sp>
        <p:nvSpPr>
          <p:cNvPr id="15" name="Text 13"/>
          <p:cNvSpPr/>
          <p:nvPr/>
        </p:nvSpPr>
        <p:spPr>
          <a:xfrm>
            <a:off x="2286000" y="3493008"/>
            <a:ext cx="1828800" cy="310896"/>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Runtime</a:t>
            </a:r>
            <a:endParaRPr lang="en-US" sz="1800" dirty="0"/>
          </a:p>
        </p:txBody>
      </p:sp>
      <p:sp>
        <p:nvSpPr>
          <p:cNvPr id="16" name="Text 14"/>
          <p:cNvSpPr/>
          <p:nvPr/>
        </p:nvSpPr>
        <p:spPr>
          <a:xfrm>
            <a:off x="4114800" y="3493008"/>
            <a:ext cx="5715000" cy="310896"/>
          </a:xfrm>
          <a:prstGeom prst="rect">
            <a:avLst/>
          </a:prstGeom>
          <a:noFill/>
          <a:ln/>
        </p:spPr>
        <p:txBody>
          <a:bodyPr wrap="square" lIns="0" tIns="0" rIns="0" bIns="0" rtlCol="0" anchor="ctr">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Python or R version</a:t>
            </a:r>
            <a:endParaRPr lang="en-US" sz="1600" dirty="0"/>
          </a:p>
        </p:txBody>
      </p:sp>
      <p:sp>
        <p:nvSpPr>
          <p:cNvPr id="17" name="Shape 15"/>
          <p:cNvSpPr/>
          <p:nvPr/>
        </p:nvSpPr>
        <p:spPr>
          <a:xfrm>
            <a:off x="2560320" y="4398264"/>
            <a:ext cx="6995160" cy="804672"/>
          </a:xfrm>
          <a:prstGeom prst="roundRect">
            <a:avLst/>
          </a:prstGeom>
          <a:solidFill>
            <a:srgbClr val="E7EEF3"/>
          </a:solidFill>
          <a:ln w="15240">
            <a:solidFill>
              <a:srgbClr val="D7E0E7"/>
            </a:solidFill>
            <a:prstDash val="solid"/>
          </a:ln>
        </p:spPr>
      </p:sp>
      <p:sp>
        <p:nvSpPr>
          <p:cNvPr id="18" name="Text 16"/>
          <p:cNvSpPr/>
          <p:nvPr/>
        </p:nvSpPr>
        <p:spPr>
          <a:xfrm>
            <a:off x="2788920" y="4517136"/>
            <a:ext cx="1828800" cy="310896"/>
          </a:xfrm>
          <a:prstGeom prst="rect">
            <a:avLst/>
          </a:prstGeom>
          <a:noFill/>
          <a:ln/>
        </p:spPr>
        <p:txBody>
          <a:bodyPr wrap="square" lIns="0" tIns="0" rIns="0" bIns="0" rtlCol="0" anchor="ctr">
            <a:normAutofit/>
          </a:bodyPr>
          <a:lstStyle/>
          <a:p>
            <a:pPr algn="l" indent="0" marL="0">
              <a:buNone/>
            </a:pPr>
            <a:r>
              <a:rPr lang="en-US" sz="1800" b="1" dirty="0">
                <a:solidFill>
                  <a:srgbClr val="17324D"/>
                </a:solidFill>
                <a:latin typeface="Liberation Sans" pitchFamily="34" charset="0"/>
                <a:ea typeface="Liberation Sans" pitchFamily="34" charset="-122"/>
                <a:cs typeface="Liberation Sans" pitchFamily="34" charset="-120"/>
              </a:rPr>
              <a:t>System</a:t>
            </a:r>
            <a:endParaRPr lang="en-US" sz="1800" dirty="0"/>
          </a:p>
        </p:txBody>
      </p:sp>
      <p:sp>
        <p:nvSpPr>
          <p:cNvPr id="19" name="Text 17"/>
          <p:cNvSpPr/>
          <p:nvPr/>
        </p:nvSpPr>
        <p:spPr>
          <a:xfrm>
            <a:off x="4617720" y="4517136"/>
            <a:ext cx="4709160" cy="310896"/>
          </a:xfrm>
          <a:prstGeom prst="rect">
            <a:avLst/>
          </a:prstGeom>
          <a:noFill/>
          <a:ln/>
        </p:spPr>
        <p:txBody>
          <a:bodyPr wrap="square" lIns="0" tIns="0" rIns="0" bIns="0" rtlCol="0" anchor="ctr">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Linux on RCC</a:t>
            </a:r>
            <a:endParaRPr lang="en-US" sz="1600" dirty="0"/>
          </a:p>
        </p:txBody>
      </p:sp>
      <p:sp>
        <p:nvSpPr>
          <p:cNvPr id="20" name="Text 18"/>
          <p:cNvSpPr/>
          <p:nvPr/>
        </p:nvSpPr>
        <p:spPr>
          <a:xfrm>
            <a:off x="3931920" y="5641848"/>
            <a:ext cx="4389120" cy="347472"/>
          </a:xfrm>
          <a:prstGeom prst="rect">
            <a:avLst/>
          </a:prstGeom>
          <a:noFill/>
          <a:ln/>
        </p:spPr>
        <p:txBody>
          <a:bodyPr wrap="square" lIns="0" tIns="0" rIns="0" bIns="0" rtlCol="0" anchor="ctr">
            <a:normAutofit/>
          </a:bodyPr>
          <a:lstStyle/>
          <a:p>
            <a:pPr algn="ctr" indent="0" marL="0">
              <a:buNone/>
            </a:pPr>
            <a:r>
              <a:rPr lang="en-US" sz="1700" b="1" dirty="0">
                <a:solidFill>
                  <a:srgbClr val="2C6EAF"/>
                </a:solidFill>
                <a:latin typeface="Liberation Mono" pitchFamily="34" charset="0"/>
                <a:ea typeface="Liberation Mono" pitchFamily="34" charset="-122"/>
                <a:cs typeface="Liberation Mono" pitchFamily="34" charset="-120"/>
              </a:rPr>
              <a:t>environment.yml = software recipe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4. Conda, Mamba, Bioconda, and channels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Different roles in the same packaging ecosystem</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5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594360" y="1508760"/>
            <a:ext cx="2542032" cy="2103120"/>
          </a:xfrm>
          <a:prstGeom prst="roundRect">
            <a:avLst>
              <a:gd name="adj" fmla="val 3478"/>
            </a:avLst>
          </a:prstGeom>
          <a:solidFill>
            <a:srgbClr val="FFFFFF"/>
          </a:solidFill>
          <a:ln w="12700">
            <a:solidFill>
              <a:srgbClr val="D7E0E7"/>
            </a:solidFill>
            <a:prstDash val="solid"/>
          </a:ln>
        </p:spPr>
      </p:sp>
      <p:sp>
        <p:nvSpPr>
          <p:cNvPr id="9" name="Shape 7"/>
          <p:cNvSpPr/>
          <p:nvPr/>
        </p:nvSpPr>
        <p:spPr>
          <a:xfrm>
            <a:off x="594360" y="1508760"/>
            <a:ext cx="64008" cy="2103120"/>
          </a:xfrm>
          <a:prstGeom prst="rect">
            <a:avLst/>
          </a:prstGeom>
          <a:solidFill>
            <a:srgbClr val="2C6EAF"/>
          </a:solidFill>
          <a:ln w="12700">
            <a:solidFill>
              <a:srgbClr val="2C6EAF">
                <a:alpha val="0"/>
              </a:srgbClr>
            </a:solidFill>
            <a:prstDash val="solid"/>
          </a:ln>
        </p:spPr>
      </p:sp>
      <p:sp>
        <p:nvSpPr>
          <p:cNvPr id="10" name="Text 8"/>
          <p:cNvSpPr/>
          <p:nvPr/>
        </p:nvSpPr>
        <p:spPr>
          <a:xfrm>
            <a:off x="795528" y="165506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Miniforge</a:t>
            </a:r>
            <a:endParaRPr lang="en-US" sz="1700" dirty="0"/>
          </a:p>
        </p:txBody>
      </p:sp>
      <p:sp>
        <p:nvSpPr>
          <p:cNvPr id="11" name="Text 9"/>
          <p:cNvSpPr/>
          <p:nvPr/>
        </p:nvSpPr>
        <p:spPr>
          <a:xfrm>
            <a:off x="795528" y="2039112"/>
            <a:ext cx="2194560" cy="14447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small distribution</a:t>
            </a:r>
            <a:endParaRPr lang="en-US" sz="1600" dirty="0"/>
          </a:p>
        </p:txBody>
      </p:sp>
      <p:sp>
        <p:nvSpPr>
          <p:cNvPr id="12" name="Shape 10"/>
          <p:cNvSpPr/>
          <p:nvPr/>
        </p:nvSpPr>
        <p:spPr>
          <a:xfrm>
            <a:off x="3136392" y="2542032"/>
            <a:ext cx="310896" cy="0"/>
          </a:xfrm>
          <a:prstGeom prst="line">
            <a:avLst/>
          </a:prstGeom>
          <a:noFill/>
          <a:ln w="25400">
            <a:solidFill>
              <a:srgbClr val="5E6B78"/>
            </a:solidFill>
            <a:prstDash val="solid"/>
            <a:headEnd type="none"/>
            <a:tailEnd type="triangle"/>
          </a:ln>
        </p:spPr>
      </p:sp>
      <p:sp>
        <p:nvSpPr>
          <p:cNvPr id="13" name="Shape 11"/>
          <p:cNvSpPr/>
          <p:nvPr/>
        </p:nvSpPr>
        <p:spPr>
          <a:xfrm>
            <a:off x="3474720" y="1508760"/>
            <a:ext cx="2542032" cy="2103120"/>
          </a:xfrm>
          <a:prstGeom prst="roundRect">
            <a:avLst>
              <a:gd name="adj" fmla="val 3478"/>
            </a:avLst>
          </a:prstGeom>
          <a:solidFill>
            <a:srgbClr val="FFFFFF"/>
          </a:solidFill>
          <a:ln w="12700">
            <a:solidFill>
              <a:srgbClr val="D7E0E7"/>
            </a:solidFill>
            <a:prstDash val="solid"/>
          </a:ln>
        </p:spPr>
      </p:sp>
      <p:sp>
        <p:nvSpPr>
          <p:cNvPr id="14" name="Shape 12"/>
          <p:cNvSpPr/>
          <p:nvPr/>
        </p:nvSpPr>
        <p:spPr>
          <a:xfrm>
            <a:off x="3474720" y="1508760"/>
            <a:ext cx="64008" cy="2103120"/>
          </a:xfrm>
          <a:prstGeom prst="rect">
            <a:avLst/>
          </a:prstGeom>
          <a:solidFill>
            <a:srgbClr val="2C6EAF"/>
          </a:solidFill>
          <a:ln w="12700">
            <a:solidFill>
              <a:srgbClr val="2C6EAF">
                <a:alpha val="0"/>
              </a:srgbClr>
            </a:solidFill>
            <a:prstDash val="solid"/>
          </a:ln>
        </p:spPr>
      </p:sp>
      <p:sp>
        <p:nvSpPr>
          <p:cNvPr id="15" name="Text 13"/>
          <p:cNvSpPr/>
          <p:nvPr/>
        </p:nvSpPr>
        <p:spPr>
          <a:xfrm>
            <a:off x="3675888" y="165506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Mamba</a:t>
            </a:r>
            <a:endParaRPr lang="en-US" sz="1700" dirty="0"/>
          </a:p>
        </p:txBody>
      </p:sp>
      <p:sp>
        <p:nvSpPr>
          <p:cNvPr id="16" name="Text 14"/>
          <p:cNvSpPr/>
          <p:nvPr/>
        </p:nvSpPr>
        <p:spPr>
          <a:xfrm>
            <a:off x="3675888" y="2039112"/>
            <a:ext cx="2194560" cy="14447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dependency solver</a:t>
            </a:r>
            <a:endParaRPr lang="en-US" sz="1600" dirty="0"/>
          </a:p>
        </p:txBody>
      </p:sp>
      <p:sp>
        <p:nvSpPr>
          <p:cNvPr id="17" name="Shape 15"/>
          <p:cNvSpPr/>
          <p:nvPr/>
        </p:nvSpPr>
        <p:spPr>
          <a:xfrm>
            <a:off x="6016752" y="2542032"/>
            <a:ext cx="310896" cy="0"/>
          </a:xfrm>
          <a:prstGeom prst="line">
            <a:avLst/>
          </a:prstGeom>
          <a:noFill/>
          <a:ln w="25400">
            <a:solidFill>
              <a:srgbClr val="5E6B78"/>
            </a:solidFill>
            <a:prstDash val="solid"/>
            <a:headEnd type="none"/>
            <a:tailEnd type="triangle"/>
          </a:ln>
        </p:spPr>
      </p:sp>
      <p:sp>
        <p:nvSpPr>
          <p:cNvPr id="18" name="Shape 16"/>
          <p:cNvSpPr/>
          <p:nvPr/>
        </p:nvSpPr>
        <p:spPr>
          <a:xfrm>
            <a:off x="6355080" y="1508760"/>
            <a:ext cx="2542032" cy="2103120"/>
          </a:xfrm>
          <a:prstGeom prst="roundRect">
            <a:avLst>
              <a:gd name="adj" fmla="val 3478"/>
            </a:avLst>
          </a:prstGeom>
          <a:solidFill>
            <a:srgbClr val="FFFFFF"/>
          </a:solidFill>
          <a:ln w="12700">
            <a:solidFill>
              <a:srgbClr val="D7E0E7"/>
            </a:solidFill>
            <a:prstDash val="solid"/>
          </a:ln>
        </p:spPr>
      </p:sp>
      <p:sp>
        <p:nvSpPr>
          <p:cNvPr id="19" name="Shape 17"/>
          <p:cNvSpPr/>
          <p:nvPr/>
        </p:nvSpPr>
        <p:spPr>
          <a:xfrm>
            <a:off x="6355080" y="1508760"/>
            <a:ext cx="64008" cy="2103120"/>
          </a:xfrm>
          <a:prstGeom prst="rect">
            <a:avLst/>
          </a:prstGeom>
          <a:solidFill>
            <a:srgbClr val="2C6EAF"/>
          </a:solidFill>
          <a:ln w="12700">
            <a:solidFill>
              <a:srgbClr val="2C6EAF">
                <a:alpha val="0"/>
              </a:srgbClr>
            </a:solidFill>
            <a:prstDash val="solid"/>
          </a:ln>
        </p:spPr>
      </p:sp>
      <p:sp>
        <p:nvSpPr>
          <p:cNvPr id="20" name="Text 18"/>
          <p:cNvSpPr/>
          <p:nvPr/>
        </p:nvSpPr>
        <p:spPr>
          <a:xfrm>
            <a:off x="6556248" y="165506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Conda environment</a:t>
            </a:r>
            <a:endParaRPr lang="en-US" sz="1700" dirty="0"/>
          </a:p>
        </p:txBody>
      </p:sp>
      <p:sp>
        <p:nvSpPr>
          <p:cNvPr id="21" name="Text 19"/>
          <p:cNvSpPr/>
          <p:nvPr/>
        </p:nvSpPr>
        <p:spPr>
          <a:xfrm>
            <a:off x="6556248" y="2039112"/>
            <a:ext cx="2194560" cy="14447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isolated package set</a:t>
            </a:r>
            <a:endParaRPr lang="en-US" sz="1600" dirty="0"/>
          </a:p>
        </p:txBody>
      </p:sp>
      <p:sp>
        <p:nvSpPr>
          <p:cNvPr id="22" name="Shape 20"/>
          <p:cNvSpPr/>
          <p:nvPr/>
        </p:nvSpPr>
        <p:spPr>
          <a:xfrm>
            <a:off x="8897112" y="2542032"/>
            <a:ext cx="310896" cy="0"/>
          </a:xfrm>
          <a:prstGeom prst="line">
            <a:avLst/>
          </a:prstGeom>
          <a:noFill/>
          <a:ln w="25400">
            <a:solidFill>
              <a:srgbClr val="5E6B78"/>
            </a:solidFill>
            <a:prstDash val="solid"/>
            <a:headEnd type="none"/>
            <a:tailEnd type="triangle"/>
          </a:ln>
        </p:spPr>
      </p:sp>
      <p:sp>
        <p:nvSpPr>
          <p:cNvPr id="23" name="Shape 21"/>
          <p:cNvSpPr/>
          <p:nvPr/>
        </p:nvSpPr>
        <p:spPr>
          <a:xfrm>
            <a:off x="9235440" y="1508760"/>
            <a:ext cx="2542032" cy="2103120"/>
          </a:xfrm>
          <a:prstGeom prst="roundRect">
            <a:avLst>
              <a:gd name="adj" fmla="val 3478"/>
            </a:avLst>
          </a:prstGeom>
          <a:solidFill>
            <a:srgbClr val="FFFFFF"/>
          </a:solidFill>
          <a:ln w="12700">
            <a:solidFill>
              <a:srgbClr val="D7E0E7"/>
            </a:solidFill>
            <a:prstDash val="solid"/>
          </a:ln>
        </p:spPr>
      </p:sp>
      <p:sp>
        <p:nvSpPr>
          <p:cNvPr id="24" name="Shape 22"/>
          <p:cNvSpPr/>
          <p:nvPr/>
        </p:nvSpPr>
        <p:spPr>
          <a:xfrm>
            <a:off x="9235440" y="1508760"/>
            <a:ext cx="64008" cy="2103120"/>
          </a:xfrm>
          <a:prstGeom prst="rect">
            <a:avLst/>
          </a:prstGeom>
          <a:solidFill>
            <a:srgbClr val="3A8D63"/>
          </a:solidFill>
          <a:ln w="12700">
            <a:solidFill>
              <a:srgbClr val="3A8D63">
                <a:alpha val="0"/>
              </a:srgbClr>
            </a:solidFill>
            <a:prstDash val="solid"/>
          </a:ln>
        </p:spPr>
      </p:sp>
      <p:sp>
        <p:nvSpPr>
          <p:cNvPr id="25" name="Text 23"/>
          <p:cNvSpPr/>
          <p:nvPr/>
        </p:nvSpPr>
        <p:spPr>
          <a:xfrm>
            <a:off x="9436608" y="165506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Bioconda</a:t>
            </a:r>
            <a:endParaRPr lang="en-US" sz="1700" dirty="0"/>
          </a:p>
        </p:txBody>
      </p:sp>
      <p:sp>
        <p:nvSpPr>
          <p:cNvPr id="26" name="Text 24"/>
          <p:cNvSpPr/>
          <p:nvPr/>
        </p:nvSpPr>
        <p:spPr>
          <a:xfrm>
            <a:off x="9436608" y="2039112"/>
            <a:ext cx="2194560" cy="14447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bioinformatics packages</a:t>
            </a:r>
            <a:endParaRPr lang="en-US" sz="1600" dirty="0"/>
          </a:p>
        </p:txBody>
      </p:sp>
      <p:sp>
        <p:nvSpPr>
          <p:cNvPr id="27" name="Shape 25"/>
          <p:cNvSpPr/>
          <p:nvPr/>
        </p:nvSpPr>
        <p:spPr>
          <a:xfrm>
            <a:off x="960120" y="4251960"/>
            <a:ext cx="10241280" cy="1024128"/>
          </a:xfrm>
          <a:prstGeom prst="roundRect">
            <a:avLst/>
          </a:prstGeom>
          <a:solidFill>
            <a:srgbClr val="D15B47">
              <a:alpha val="7000"/>
            </a:srgbClr>
          </a:solidFill>
          <a:ln w="12700">
            <a:solidFill>
              <a:srgbClr val="D15B47">
                <a:alpha val="0"/>
              </a:srgbClr>
            </a:solidFill>
            <a:prstDash val="solid"/>
          </a:ln>
        </p:spPr>
      </p:sp>
      <p:sp>
        <p:nvSpPr>
          <p:cNvPr id="28" name="Text 26"/>
          <p:cNvSpPr/>
          <p:nvPr/>
        </p:nvSpPr>
        <p:spPr>
          <a:xfrm>
            <a:off x="1325880" y="4462272"/>
            <a:ext cx="9509760" cy="612648"/>
          </a:xfrm>
          <a:prstGeom prst="rect">
            <a:avLst/>
          </a:prstGeom>
          <a:noFill/>
          <a:ln/>
        </p:spPr>
        <p:txBody>
          <a:bodyPr wrap="square" lIns="0" tIns="0" rIns="0" bIns="0" rtlCol="0" anchor="ctr">
            <a:normAutofit/>
          </a:bodyPr>
          <a:lstStyle/>
          <a:p>
            <a:pPr algn="ctr" indent="0" marL="0">
              <a:buNone/>
            </a:pPr>
            <a:r>
              <a:rPr lang="en-US" sz="1700" b="1" dirty="0">
                <a:solidFill>
                  <a:srgbClr val="D15B47"/>
                </a:solidFill>
                <a:latin typeface="Liberation Sans" pitchFamily="34" charset="0"/>
                <a:ea typeface="Liberation Sans" pitchFamily="34" charset="-122"/>
                <a:cs typeface="Liberation Sans" pitchFamily="34" charset="-120"/>
              </a:rPr>
              <a:t>Use RCC-approved channel order and storage locations.</a:t>
            </a:r>
            <a:endParaRPr lang="en-US" sz="1700" dirty="0"/>
          </a:p>
          <a:p>
            <a:pPr algn="ctr" indent="0" marL="0">
              <a:buNone/>
            </a:pPr>
            <a:r>
              <a:rPr lang="en-US" sz="1700" b="1" dirty="0">
                <a:solidFill>
                  <a:srgbClr val="D15B47"/>
                </a:solidFill>
                <a:latin typeface="Liberation Sans" pitchFamily="34" charset="0"/>
                <a:ea typeface="Liberation Sans" pitchFamily="34" charset="-122"/>
                <a:cs typeface="Liberation Sans" pitchFamily="34" charset="-120"/>
              </a:rPr>
              <a:t>An environment definition must be tested; it is not proof of scientific validity.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5. Snakemake describes dependencies, not just command order</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Rules connect inputs to outputs in a directed acyclic graph</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6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594360" y="2377440"/>
            <a:ext cx="2103120" cy="822960"/>
          </a:xfrm>
          <a:prstGeom prst="roundRect">
            <a:avLst/>
          </a:prstGeom>
          <a:solidFill>
            <a:srgbClr val="D15B47">
              <a:alpha val="8000"/>
            </a:srgbClr>
          </a:solidFill>
          <a:ln w="19050">
            <a:solidFill>
              <a:srgbClr val="D15B47"/>
            </a:solidFill>
            <a:prstDash val="solid"/>
          </a:ln>
        </p:spPr>
      </p:sp>
      <p:sp>
        <p:nvSpPr>
          <p:cNvPr id="9" name="Text 7"/>
          <p:cNvSpPr/>
          <p:nvPr/>
        </p:nvSpPr>
        <p:spPr>
          <a:xfrm>
            <a:off x="704088" y="258775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D15B47"/>
                </a:solidFill>
                <a:latin typeface="Liberation Mono" pitchFamily="34" charset="0"/>
                <a:ea typeface="Liberation Mono" pitchFamily="34" charset="-122"/>
                <a:cs typeface="Liberation Mono" pitchFamily="34" charset="-120"/>
              </a:rPr>
              <a:t>metadata.csv</a:t>
            </a:r>
            <a:endParaRPr lang="en-US" sz="1700" dirty="0"/>
          </a:p>
        </p:txBody>
      </p:sp>
      <p:sp>
        <p:nvSpPr>
          <p:cNvPr id="10" name="Shape 8"/>
          <p:cNvSpPr/>
          <p:nvPr/>
        </p:nvSpPr>
        <p:spPr>
          <a:xfrm>
            <a:off x="2971800" y="1417320"/>
            <a:ext cx="2103120" cy="822960"/>
          </a:xfrm>
          <a:prstGeom prst="roundRect">
            <a:avLst/>
          </a:prstGeom>
          <a:solidFill>
            <a:srgbClr val="2C6EAF">
              <a:alpha val="8000"/>
            </a:srgbClr>
          </a:solidFill>
          <a:ln w="19050">
            <a:solidFill>
              <a:srgbClr val="2C6EAF"/>
            </a:solidFill>
            <a:prstDash val="solid"/>
          </a:ln>
        </p:spPr>
      </p:sp>
      <p:sp>
        <p:nvSpPr>
          <p:cNvPr id="11" name="Text 9"/>
          <p:cNvSpPr/>
          <p:nvPr/>
        </p:nvSpPr>
        <p:spPr>
          <a:xfrm>
            <a:off x="3081528" y="162763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2C6EAF"/>
                </a:solidFill>
                <a:latin typeface="Liberation Sans" pitchFamily="34" charset="0"/>
                <a:ea typeface="Liberation Sans" pitchFamily="34" charset="-122"/>
                <a:cs typeface="Liberation Sans" pitchFamily="34" charset="-120"/>
              </a:rPr>
              <a:t>validate</a:t>
            </a:r>
            <a:endParaRPr lang="en-US" sz="1700" dirty="0"/>
          </a:p>
        </p:txBody>
      </p:sp>
      <p:sp>
        <p:nvSpPr>
          <p:cNvPr id="12" name="Shape 10"/>
          <p:cNvSpPr/>
          <p:nvPr/>
        </p:nvSpPr>
        <p:spPr>
          <a:xfrm>
            <a:off x="2971800" y="3337560"/>
            <a:ext cx="2103120" cy="822960"/>
          </a:xfrm>
          <a:prstGeom prst="roundRect">
            <a:avLst/>
          </a:prstGeom>
          <a:solidFill>
            <a:srgbClr val="2C6EAF">
              <a:alpha val="8000"/>
            </a:srgbClr>
          </a:solidFill>
          <a:ln w="19050">
            <a:solidFill>
              <a:srgbClr val="2C6EAF"/>
            </a:solidFill>
            <a:prstDash val="solid"/>
          </a:ln>
        </p:spPr>
      </p:sp>
      <p:sp>
        <p:nvSpPr>
          <p:cNvPr id="13" name="Text 11"/>
          <p:cNvSpPr/>
          <p:nvPr/>
        </p:nvSpPr>
        <p:spPr>
          <a:xfrm>
            <a:off x="3081528" y="354787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2C6EAF"/>
                </a:solidFill>
                <a:latin typeface="Liberation Sans" pitchFamily="34" charset="0"/>
                <a:ea typeface="Liberation Sans" pitchFamily="34" charset="-122"/>
                <a:cs typeface="Liberation Sans" pitchFamily="34" charset="-120"/>
              </a:rPr>
              <a:t>summarize</a:t>
            </a:r>
            <a:endParaRPr lang="en-US" sz="1700" dirty="0"/>
          </a:p>
        </p:txBody>
      </p:sp>
      <p:sp>
        <p:nvSpPr>
          <p:cNvPr id="14" name="Shape 12"/>
          <p:cNvSpPr/>
          <p:nvPr/>
        </p:nvSpPr>
        <p:spPr>
          <a:xfrm>
            <a:off x="5532120" y="1417320"/>
            <a:ext cx="2103120" cy="822960"/>
          </a:xfrm>
          <a:prstGeom prst="roundRect">
            <a:avLst/>
          </a:prstGeom>
          <a:solidFill>
            <a:srgbClr val="3A8D63">
              <a:alpha val="8000"/>
            </a:srgbClr>
          </a:solidFill>
          <a:ln w="19050">
            <a:solidFill>
              <a:srgbClr val="3A8D63"/>
            </a:solidFill>
            <a:prstDash val="solid"/>
          </a:ln>
        </p:spPr>
      </p:sp>
      <p:sp>
        <p:nvSpPr>
          <p:cNvPr id="15" name="Text 13"/>
          <p:cNvSpPr/>
          <p:nvPr/>
        </p:nvSpPr>
        <p:spPr>
          <a:xfrm>
            <a:off x="5641848" y="162763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3A8D63"/>
                </a:solidFill>
                <a:latin typeface="Liberation Mono" pitchFamily="34" charset="0"/>
                <a:ea typeface="Liberation Mono" pitchFamily="34" charset="-122"/>
                <a:cs typeface="Liberation Mono" pitchFamily="34" charset="-120"/>
              </a:rPr>
              <a:t>clean.csv</a:t>
            </a:r>
            <a:endParaRPr lang="en-US" sz="1700" dirty="0"/>
          </a:p>
        </p:txBody>
      </p:sp>
      <p:sp>
        <p:nvSpPr>
          <p:cNvPr id="16" name="Shape 14"/>
          <p:cNvSpPr/>
          <p:nvPr/>
        </p:nvSpPr>
        <p:spPr>
          <a:xfrm>
            <a:off x="5532120" y="3337560"/>
            <a:ext cx="2103120" cy="822960"/>
          </a:xfrm>
          <a:prstGeom prst="roundRect">
            <a:avLst/>
          </a:prstGeom>
          <a:solidFill>
            <a:srgbClr val="3A8D63">
              <a:alpha val="8000"/>
            </a:srgbClr>
          </a:solidFill>
          <a:ln w="19050">
            <a:solidFill>
              <a:srgbClr val="3A8D63"/>
            </a:solidFill>
            <a:prstDash val="solid"/>
          </a:ln>
        </p:spPr>
      </p:sp>
      <p:sp>
        <p:nvSpPr>
          <p:cNvPr id="17" name="Text 15"/>
          <p:cNvSpPr/>
          <p:nvPr/>
        </p:nvSpPr>
        <p:spPr>
          <a:xfrm>
            <a:off x="5641848" y="354787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3A8D63"/>
                </a:solidFill>
                <a:latin typeface="Liberation Mono" pitchFamily="34" charset="0"/>
                <a:ea typeface="Liberation Mono" pitchFamily="34" charset="-122"/>
                <a:cs typeface="Liberation Mono" pitchFamily="34" charset="-120"/>
              </a:rPr>
              <a:t>stats.tsv</a:t>
            </a:r>
            <a:endParaRPr lang="en-US" sz="1700" dirty="0"/>
          </a:p>
        </p:txBody>
      </p:sp>
      <p:sp>
        <p:nvSpPr>
          <p:cNvPr id="18" name="Shape 16"/>
          <p:cNvSpPr/>
          <p:nvPr/>
        </p:nvSpPr>
        <p:spPr>
          <a:xfrm>
            <a:off x="8229600" y="2377440"/>
            <a:ext cx="2103120" cy="822960"/>
          </a:xfrm>
          <a:prstGeom prst="roundRect">
            <a:avLst/>
          </a:prstGeom>
          <a:solidFill>
            <a:srgbClr val="7057A3">
              <a:alpha val="8000"/>
            </a:srgbClr>
          </a:solidFill>
          <a:ln w="19050">
            <a:solidFill>
              <a:srgbClr val="7057A3"/>
            </a:solidFill>
            <a:prstDash val="solid"/>
          </a:ln>
        </p:spPr>
      </p:sp>
      <p:sp>
        <p:nvSpPr>
          <p:cNvPr id="19" name="Text 17"/>
          <p:cNvSpPr/>
          <p:nvPr/>
        </p:nvSpPr>
        <p:spPr>
          <a:xfrm>
            <a:off x="8339328" y="2587752"/>
            <a:ext cx="1883664" cy="310896"/>
          </a:xfrm>
          <a:prstGeom prst="rect">
            <a:avLst/>
          </a:prstGeom>
          <a:noFill/>
          <a:ln/>
        </p:spPr>
        <p:txBody>
          <a:bodyPr wrap="square" lIns="0" tIns="0" rIns="0" bIns="0" rtlCol="0" anchor="ctr">
            <a:normAutofit/>
          </a:bodyPr>
          <a:lstStyle/>
          <a:p>
            <a:pPr algn="ctr" indent="0" marL="0">
              <a:buNone/>
            </a:pPr>
            <a:r>
              <a:rPr lang="en-US" sz="1700" b="1" dirty="0">
                <a:solidFill>
                  <a:srgbClr val="7057A3"/>
                </a:solidFill>
                <a:latin typeface="Liberation Mono" pitchFamily="34" charset="0"/>
                <a:ea typeface="Liberation Mono" pitchFamily="34" charset="-122"/>
                <a:cs typeface="Liberation Mono" pitchFamily="34" charset="-120"/>
              </a:rPr>
              <a:t>report.pdf</a:t>
            </a:r>
            <a:endParaRPr lang="en-US" sz="1700" dirty="0"/>
          </a:p>
        </p:txBody>
      </p:sp>
      <p:sp>
        <p:nvSpPr>
          <p:cNvPr id="20" name="Shape 18"/>
          <p:cNvSpPr/>
          <p:nvPr/>
        </p:nvSpPr>
        <p:spPr>
          <a:xfrm>
            <a:off x="2697480" y="2788920"/>
            <a:ext cx="274320" cy="-960120"/>
          </a:xfrm>
          <a:prstGeom prst="line">
            <a:avLst/>
          </a:prstGeom>
          <a:noFill/>
          <a:ln w="25400">
            <a:solidFill>
              <a:srgbClr val="5E6B78"/>
            </a:solidFill>
            <a:prstDash val="solid"/>
            <a:headEnd type="none"/>
            <a:tailEnd type="triangle"/>
          </a:ln>
        </p:spPr>
      </p:sp>
      <p:sp>
        <p:nvSpPr>
          <p:cNvPr id="21" name="Shape 19"/>
          <p:cNvSpPr/>
          <p:nvPr/>
        </p:nvSpPr>
        <p:spPr>
          <a:xfrm>
            <a:off x="2697480" y="2788920"/>
            <a:ext cx="274320" cy="960120"/>
          </a:xfrm>
          <a:prstGeom prst="line">
            <a:avLst/>
          </a:prstGeom>
          <a:noFill/>
          <a:ln w="25400">
            <a:solidFill>
              <a:srgbClr val="5E6B78"/>
            </a:solidFill>
            <a:prstDash val="solid"/>
            <a:headEnd type="none"/>
            <a:tailEnd type="triangle"/>
          </a:ln>
        </p:spPr>
      </p:sp>
      <p:sp>
        <p:nvSpPr>
          <p:cNvPr id="22" name="Shape 20"/>
          <p:cNvSpPr/>
          <p:nvPr/>
        </p:nvSpPr>
        <p:spPr>
          <a:xfrm>
            <a:off x="5074920" y="1828800"/>
            <a:ext cx="457200" cy="0"/>
          </a:xfrm>
          <a:prstGeom prst="line">
            <a:avLst/>
          </a:prstGeom>
          <a:noFill/>
          <a:ln w="25400">
            <a:solidFill>
              <a:srgbClr val="5E6B78"/>
            </a:solidFill>
            <a:prstDash val="solid"/>
            <a:headEnd type="none"/>
            <a:tailEnd type="triangle"/>
          </a:ln>
        </p:spPr>
      </p:sp>
      <p:sp>
        <p:nvSpPr>
          <p:cNvPr id="23" name="Shape 21"/>
          <p:cNvSpPr/>
          <p:nvPr/>
        </p:nvSpPr>
        <p:spPr>
          <a:xfrm>
            <a:off x="5074920" y="3749040"/>
            <a:ext cx="457200" cy="0"/>
          </a:xfrm>
          <a:prstGeom prst="line">
            <a:avLst/>
          </a:prstGeom>
          <a:noFill/>
          <a:ln w="25400">
            <a:solidFill>
              <a:srgbClr val="5E6B78"/>
            </a:solidFill>
            <a:prstDash val="solid"/>
            <a:headEnd type="none"/>
            <a:tailEnd type="triangle"/>
          </a:ln>
        </p:spPr>
      </p:sp>
      <p:sp>
        <p:nvSpPr>
          <p:cNvPr id="24" name="Shape 22"/>
          <p:cNvSpPr/>
          <p:nvPr/>
        </p:nvSpPr>
        <p:spPr>
          <a:xfrm>
            <a:off x="7635240" y="1828800"/>
            <a:ext cx="594360" cy="960120"/>
          </a:xfrm>
          <a:prstGeom prst="line">
            <a:avLst/>
          </a:prstGeom>
          <a:noFill/>
          <a:ln w="25400">
            <a:solidFill>
              <a:srgbClr val="5E6B78"/>
            </a:solidFill>
            <a:prstDash val="solid"/>
            <a:headEnd type="none"/>
            <a:tailEnd type="triangle"/>
          </a:ln>
        </p:spPr>
      </p:sp>
      <p:sp>
        <p:nvSpPr>
          <p:cNvPr id="25" name="Shape 23"/>
          <p:cNvSpPr/>
          <p:nvPr/>
        </p:nvSpPr>
        <p:spPr>
          <a:xfrm>
            <a:off x="7635240" y="3749040"/>
            <a:ext cx="594360" cy="-960120"/>
          </a:xfrm>
          <a:prstGeom prst="line">
            <a:avLst/>
          </a:prstGeom>
          <a:noFill/>
          <a:ln w="25400">
            <a:solidFill>
              <a:srgbClr val="5E6B78"/>
            </a:solidFill>
            <a:prstDash val="solid"/>
            <a:headEnd type="none"/>
            <a:tailEnd type="triangle"/>
          </a:ln>
        </p:spPr>
      </p:sp>
      <p:sp>
        <p:nvSpPr>
          <p:cNvPr id="26" name="Shape 24"/>
          <p:cNvSpPr/>
          <p:nvPr/>
        </p:nvSpPr>
        <p:spPr>
          <a:xfrm>
            <a:off x="4709160" y="5074920"/>
            <a:ext cx="2697480" cy="310896"/>
          </a:xfrm>
          <a:prstGeom prst="roundRect">
            <a:avLst/>
          </a:prstGeom>
          <a:solidFill>
            <a:srgbClr val="2C6EAF">
              <a:alpha val="12000"/>
            </a:srgbClr>
          </a:solidFill>
          <a:ln w="12700">
            <a:solidFill>
              <a:srgbClr val="2C6EAF">
                <a:alpha val="0"/>
              </a:srgbClr>
            </a:solidFill>
            <a:prstDash val="solid"/>
          </a:ln>
        </p:spPr>
      </p:sp>
      <p:sp>
        <p:nvSpPr>
          <p:cNvPr id="27" name="Text 25"/>
          <p:cNvSpPr/>
          <p:nvPr/>
        </p:nvSpPr>
        <p:spPr>
          <a:xfrm>
            <a:off x="4782312" y="5093208"/>
            <a:ext cx="2551176" cy="256032"/>
          </a:xfrm>
          <a:prstGeom prst="rect">
            <a:avLst/>
          </a:prstGeom>
          <a:noFill/>
          <a:ln/>
        </p:spPr>
        <p:txBody>
          <a:bodyPr wrap="square" lIns="0" tIns="0" rIns="0" bIns="0" rtlCol="0" anchor="ctr">
            <a:normAutofit/>
          </a:bodyPr>
          <a:lstStyle/>
          <a:p>
            <a:pPr algn="ctr" indent="0" marL="0">
              <a:buNone/>
            </a:pPr>
            <a:r>
              <a:rPr lang="en-US" sz="1100" b="1" dirty="0">
                <a:solidFill>
                  <a:srgbClr val="2C6EAF"/>
                </a:solidFill>
                <a:latin typeface="Liberation Sans" pitchFamily="34" charset="0"/>
                <a:ea typeface="Liberation Sans" pitchFamily="34" charset="-122"/>
                <a:cs typeface="Liberation Sans" pitchFamily="34" charset="-120"/>
              </a:rPr>
              <a:t>snakemake -n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6. Snakemake and Slurm have different jobs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workflow controller plans; Slurm allocates compute resources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7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685800" y="1371600"/>
            <a:ext cx="3063240" cy="3611880"/>
          </a:xfrm>
          <a:prstGeom prst="roundRect">
            <a:avLst>
              <a:gd name="adj" fmla="val 2388"/>
            </a:avLst>
          </a:prstGeom>
          <a:solidFill>
            <a:srgbClr val="FFFFFF"/>
          </a:solidFill>
          <a:ln w="12700">
            <a:solidFill>
              <a:srgbClr val="D7E0E7"/>
            </a:solidFill>
            <a:prstDash val="solid"/>
          </a:ln>
        </p:spPr>
      </p:sp>
      <p:sp>
        <p:nvSpPr>
          <p:cNvPr id="9" name="Shape 7"/>
          <p:cNvSpPr/>
          <p:nvPr/>
        </p:nvSpPr>
        <p:spPr>
          <a:xfrm>
            <a:off x="685800" y="1371600"/>
            <a:ext cx="64008" cy="3611880"/>
          </a:xfrm>
          <a:prstGeom prst="rect">
            <a:avLst/>
          </a:prstGeom>
          <a:solidFill>
            <a:srgbClr val="2C6EAF"/>
          </a:solidFill>
          <a:ln w="12700">
            <a:solidFill>
              <a:srgbClr val="2C6EAF">
                <a:alpha val="0"/>
              </a:srgbClr>
            </a:solidFill>
            <a:prstDash val="solid"/>
          </a:ln>
        </p:spPr>
      </p:sp>
      <p:sp>
        <p:nvSpPr>
          <p:cNvPr id="10" name="Text 8"/>
          <p:cNvSpPr/>
          <p:nvPr/>
        </p:nvSpPr>
        <p:spPr>
          <a:xfrm>
            <a:off x="886968" y="151790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Snakemake controller</a:t>
            </a:r>
            <a:endParaRPr lang="en-US" sz="1700" dirty="0"/>
          </a:p>
        </p:txBody>
      </p:sp>
      <p:sp>
        <p:nvSpPr>
          <p:cNvPr id="11" name="Text 9"/>
          <p:cNvSpPr/>
          <p:nvPr/>
        </p:nvSpPr>
        <p:spPr>
          <a:xfrm>
            <a:off x="886968" y="1901952"/>
            <a:ext cx="2715768" cy="29535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Reads the DAG</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Selects ready rules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Tracks files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Submits jobs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Retries only by policy</a:t>
            </a:r>
            <a:endParaRPr lang="en-US" sz="1700" dirty="0"/>
          </a:p>
        </p:txBody>
      </p:sp>
      <p:sp>
        <p:nvSpPr>
          <p:cNvPr id="12" name="Shape 10"/>
          <p:cNvSpPr/>
          <p:nvPr/>
        </p:nvSpPr>
        <p:spPr>
          <a:xfrm>
            <a:off x="4553712" y="1371600"/>
            <a:ext cx="3063240" cy="3611880"/>
          </a:xfrm>
          <a:prstGeom prst="roundRect">
            <a:avLst>
              <a:gd name="adj" fmla="val 2388"/>
            </a:avLst>
          </a:prstGeom>
          <a:solidFill>
            <a:srgbClr val="FFFFFF"/>
          </a:solidFill>
          <a:ln w="12700">
            <a:solidFill>
              <a:srgbClr val="D7E0E7"/>
            </a:solidFill>
            <a:prstDash val="solid"/>
          </a:ln>
        </p:spPr>
      </p:sp>
      <p:sp>
        <p:nvSpPr>
          <p:cNvPr id="13" name="Shape 11"/>
          <p:cNvSpPr/>
          <p:nvPr/>
        </p:nvSpPr>
        <p:spPr>
          <a:xfrm>
            <a:off x="4553712" y="1371600"/>
            <a:ext cx="64008" cy="3611880"/>
          </a:xfrm>
          <a:prstGeom prst="rect">
            <a:avLst/>
          </a:prstGeom>
          <a:solidFill>
            <a:srgbClr val="D15B47"/>
          </a:solidFill>
          <a:ln w="12700">
            <a:solidFill>
              <a:srgbClr val="D15B47">
                <a:alpha val="0"/>
              </a:srgbClr>
            </a:solidFill>
            <a:prstDash val="solid"/>
          </a:ln>
        </p:spPr>
      </p:sp>
      <p:sp>
        <p:nvSpPr>
          <p:cNvPr id="14" name="Text 12"/>
          <p:cNvSpPr/>
          <p:nvPr/>
        </p:nvSpPr>
        <p:spPr>
          <a:xfrm>
            <a:off x="4754880" y="151790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Slurm</a:t>
            </a:r>
            <a:endParaRPr lang="en-US" sz="1700" dirty="0"/>
          </a:p>
        </p:txBody>
      </p:sp>
      <p:sp>
        <p:nvSpPr>
          <p:cNvPr id="15" name="Text 13"/>
          <p:cNvSpPr/>
          <p:nvPr/>
        </p:nvSpPr>
        <p:spPr>
          <a:xfrm>
            <a:off x="4754880" y="1901952"/>
            <a:ext cx="2715768" cy="29535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Queues jobs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Allocates nodes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Enforces resources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Records states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Returns exit status</a:t>
            </a:r>
            <a:endParaRPr lang="en-US" sz="1700" dirty="0"/>
          </a:p>
        </p:txBody>
      </p:sp>
      <p:sp>
        <p:nvSpPr>
          <p:cNvPr id="16" name="Shape 14"/>
          <p:cNvSpPr/>
          <p:nvPr/>
        </p:nvSpPr>
        <p:spPr>
          <a:xfrm>
            <a:off x="8421624" y="1371600"/>
            <a:ext cx="3063240" cy="3611880"/>
          </a:xfrm>
          <a:prstGeom prst="roundRect">
            <a:avLst>
              <a:gd name="adj" fmla="val 2388"/>
            </a:avLst>
          </a:prstGeom>
          <a:solidFill>
            <a:srgbClr val="FFFFFF"/>
          </a:solidFill>
          <a:ln w="12700">
            <a:solidFill>
              <a:srgbClr val="D7E0E7"/>
            </a:solidFill>
            <a:prstDash val="solid"/>
          </a:ln>
        </p:spPr>
      </p:sp>
      <p:sp>
        <p:nvSpPr>
          <p:cNvPr id="17" name="Shape 15"/>
          <p:cNvSpPr/>
          <p:nvPr/>
        </p:nvSpPr>
        <p:spPr>
          <a:xfrm>
            <a:off x="8421624" y="1371600"/>
            <a:ext cx="64008" cy="3611880"/>
          </a:xfrm>
          <a:prstGeom prst="rect">
            <a:avLst/>
          </a:prstGeom>
          <a:solidFill>
            <a:srgbClr val="3A8D63"/>
          </a:solidFill>
          <a:ln w="12700">
            <a:solidFill>
              <a:srgbClr val="3A8D63">
                <a:alpha val="0"/>
              </a:srgbClr>
            </a:solidFill>
            <a:prstDash val="solid"/>
          </a:ln>
        </p:spPr>
      </p:sp>
      <p:sp>
        <p:nvSpPr>
          <p:cNvPr id="18" name="Text 16"/>
          <p:cNvSpPr/>
          <p:nvPr/>
        </p:nvSpPr>
        <p:spPr>
          <a:xfrm>
            <a:off x="8622792" y="151790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Compute nodes</a:t>
            </a:r>
            <a:endParaRPr lang="en-US" sz="1700" dirty="0"/>
          </a:p>
        </p:txBody>
      </p:sp>
      <p:sp>
        <p:nvSpPr>
          <p:cNvPr id="19" name="Text 17"/>
          <p:cNvSpPr/>
          <p:nvPr/>
        </p:nvSpPr>
        <p:spPr>
          <a:xfrm>
            <a:off x="8622792" y="1901952"/>
            <a:ext cx="2715768" cy="29535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Run R, Python, aligners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Use CPU, RAM, GPU</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Read and write data</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Produce logs and outputs</a:t>
            </a:r>
            <a:endParaRPr lang="en-US" sz="1700" dirty="0"/>
          </a:p>
        </p:txBody>
      </p:sp>
      <p:sp>
        <p:nvSpPr>
          <p:cNvPr id="20" name="Shape 18"/>
          <p:cNvSpPr/>
          <p:nvPr/>
        </p:nvSpPr>
        <p:spPr>
          <a:xfrm>
            <a:off x="3749040" y="3154680"/>
            <a:ext cx="804672" cy="0"/>
          </a:xfrm>
          <a:prstGeom prst="line">
            <a:avLst/>
          </a:prstGeom>
          <a:noFill/>
          <a:ln w="38100">
            <a:solidFill>
              <a:srgbClr val="D15B47"/>
            </a:solidFill>
            <a:prstDash val="solid"/>
            <a:headEnd type="none"/>
            <a:tailEnd type="triangle"/>
          </a:ln>
        </p:spPr>
      </p:sp>
      <p:sp>
        <p:nvSpPr>
          <p:cNvPr id="21" name="Shape 19"/>
          <p:cNvSpPr/>
          <p:nvPr/>
        </p:nvSpPr>
        <p:spPr>
          <a:xfrm>
            <a:off x="7616952" y="3154680"/>
            <a:ext cx="804672" cy="0"/>
          </a:xfrm>
          <a:prstGeom prst="line">
            <a:avLst/>
          </a:prstGeom>
          <a:noFill/>
          <a:ln w="38100">
            <a:solidFill>
              <a:srgbClr val="D15B47"/>
            </a:solidFill>
            <a:prstDash val="solid"/>
            <a:headEnd type="none"/>
            <a:tailEnd type="triangle"/>
          </a:ln>
        </p:spPr>
      </p:sp>
      <p:sp>
        <p:nvSpPr>
          <p:cNvPr id="22" name="Text 20"/>
          <p:cNvSpPr/>
          <p:nvPr/>
        </p:nvSpPr>
        <p:spPr>
          <a:xfrm>
            <a:off x="3063240" y="5440680"/>
            <a:ext cx="6080760" cy="329184"/>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tmux protects the controller; Slurm protects the cluster.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7. A minimal statistical workflow</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Validate → summarize → test → plot</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8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658368" y="1417320"/>
            <a:ext cx="2542032" cy="2971800"/>
          </a:xfrm>
          <a:prstGeom prst="roundRect">
            <a:avLst>
              <a:gd name="adj" fmla="val 2878"/>
            </a:avLst>
          </a:prstGeom>
          <a:solidFill>
            <a:srgbClr val="FFFFFF"/>
          </a:solidFill>
          <a:ln w="12700">
            <a:solidFill>
              <a:srgbClr val="D7E0E7"/>
            </a:solidFill>
            <a:prstDash val="solid"/>
          </a:ln>
        </p:spPr>
      </p:sp>
      <p:sp>
        <p:nvSpPr>
          <p:cNvPr id="9" name="Shape 7"/>
          <p:cNvSpPr/>
          <p:nvPr/>
        </p:nvSpPr>
        <p:spPr>
          <a:xfrm>
            <a:off x="658368" y="1417320"/>
            <a:ext cx="64008" cy="2971800"/>
          </a:xfrm>
          <a:prstGeom prst="rect">
            <a:avLst/>
          </a:prstGeom>
          <a:solidFill>
            <a:srgbClr val="2C6EAF"/>
          </a:solidFill>
          <a:ln w="12700">
            <a:solidFill>
              <a:srgbClr val="2C6EAF">
                <a:alpha val="0"/>
              </a:srgbClr>
            </a:solidFill>
            <a:prstDash val="solid"/>
          </a:ln>
        </p:spPr>
      </p:sp>
      <p:sp>
        <p:nvSpPr>
          <p:cNvPr id="10" name="Text 8"/>
          <p:cNvSpPr/>
          <p:nvPr/>
        </p:nvSpPr>
        <p:spPr>
          <a:xfrm>
            <a:off x="859536" y="15636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Validate</a:t>
            </a:r>
            <a:endParaRPr lang="en-US" sz="1700" dirty="0"/>
          </a:p>
        </p:txBody>
      </p:sp>
      <p:sp>
        <p:nvSpPr>
          <p:cNvPr id="11" name="Text 9"/>
          <p:cNvSpPr/>
          <p:nvPr/>
        </p:nvSpPr>
        <p:spPr>
          <a:xfrm>
            <a:off x="859536" y="1947672"/>
            <a:ext cx="2194560" cy="2313432"/>
          </a:xfrm>
          <a:prstGeom prst="rect">
            <a:avLst/>
          </a:prstGeom>
          <a:noFill/>
          <a:ln/>
        </p:spPr>
        <p:txBody>
          <a:bodyPr wrap="square" lIns="0" tIns="0" rIns="0" bIns="0" rtlCol="0" anchor="t">
            <a:normAutofit/>
          </a:bodyPr>
          <a:lstStyle/>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schema</a:t>
            </a:r>
            <a:endParaRPr lang="en-US" sz="1900" dirty="0"/>
          </a:p>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missingness</a:t>
            </a:r>
            <a:endParaRPr lang="en-US" sz="1900" dirty="0"/>
          </a:p>
        </p:txBody>
      </p:sp>
      <p:sp>
        <p:nvSpPr>
          <p:cNvPr id="12" name="Shape 10"/>
          <p:cNvSpPr/>
          <p:nvPr/>
        </p:nvSpPr>
        <p:spPr>
          <a:xfrm>
            <a:off x="3200400" y="2898648"/>
            <a:ext cx="310896" cy="0"/>
          </a:xfrm>
          <a:prstGeom prst="line">
            <a:avLst/>
          </a:prstGeom>
          <a:noFill/>
          <a:ln w="25400">
            <a:solidFill>
              <a:srgbClr val="5E6B78"/>
            </a:solidFill>
            <a:prstDash val="solid"/>
            <a:headEnd type="none"/>
            <a:tailEnd type="triangle"/>
          </a:ln>
        </p:spPr>
      </p:sp>
      <p:sp>
        <p:nvSpPr>
          <p:cNvPr id="13" name="Shape 11"/>
          <p:cNvSpPr/>
          <p:nvPr/>
        </p:nvSpPr>
        <p:spPr>
          <a:xfrm>
            <a:off x="3538728" y="1417320"/>
            <a:ext cx="2542032" cy="2971800"/>
          </a:xfrm>
          <a:prstGeom prst="roundRect">
            <a:avLst>
              <a:gd name="adj" fmla="val 2878"/>
            </a:avLst>
          </a:prstGeom>
          <a:solidFill>
            <a:srgbClr val="FFFFFF"/>
          </a:solidFill>
          <a:ln w="12700">
            <a:solidFill>
              <a:srgbClr val="D7E0E7"/>
            </a:solidFill>
            <a:prstDash val="solid"/>
          </a:ln>
        </p:spPr>
      </p:sp>
      <p:sp>
        <p:nvSpPr>
          <p:cNvPr id="14" name="Shape 12"/>
          <p:cNvSpPr/>
          <p:nvPr/>
        </p:nvSpPr>
        <p:spPr>
          <a:xfrm>
            <a:off x="3538728" y="1417320"/>
            <a:ext cx="64008" cy="2971800"/>
          </a:xfrm>
          <a:prstGeom prst="rect">
            <a:avLst/>
          </a:prstGeom>
          <a:solidFill>
            <a:srgbClr val="2C6EAF"/>
          </a:solidFill>
          <a:ln w="12700">
            <a:solidFill>
              <a:srgbClr val="2C6EAF">
                <a:alpha val="0"/>
              </a:srgbClr>
            </a:solidFill>
            <a:prstDash val="solid"/>
          </a:ln>
        </p:spPr>
      </p:sp>
      <p:sp>
        <p:nvSpPr>
          <p:cNvPr id="15" name="Text 13"/>
          <p:cNvSpPr/>
          <p:nvPr/>
        </p:nvSpPr>
        <p:spPr>
          <a:xfrm>
            <a:off x="3739896" y="15636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Summarize</a:t>
            </a:r>
            <a:endParaRPr lang="en-US" sz="1700" dirty="0"/>
          </a:p>
        </p:txBody>
      </p:sp>
      <p:sp>
        <p:nvSpPr>
          <p:cNvPr id="16" name="Text 14"/>
          <p:cNvSpPr/>
          <p:nvPr/>
        </p:nvSpPr>
        <p:spPr>
          <a:xfrm>
            <a:off x="3739896" y="1947672"/>
            <a:ext cx="2194560" cy="2313432"/>
          </a:xfrm>
          <a:prstGeom prst="rect">
            <a:avLst/>
          </a:prstGeom>
          <a:noFill/>
          <a:ln/>
        </p:spPr>
        <p:txBody>
          <a:bodyPr wrap="square" lIns="0" tIns="0" rIns="0" bIns="0" rtlCol="0" anchor="t">
            <a:normAutofit/>
          </a:bodyPr>
          <a:lstStyle/>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n · mean · SD</a:t>
            </a:r>
            <a:endParaRPr lang="en-US" sz="1900" dirty="0"/>
          </a:p>
        </p:txBody>
      </p:sp>
      <p:sp>
        <p:nvSpPr>
          <p:cNvPr id="17" name="Shape 15"/>
          <p:cNvSpPr/>
          <p:nvPr/>
        </p:nvSpPr>
        <p:spPr>
          <a:xfrm>
            <a:off x="6080760" y="2898648"/>
            <a:ext cx="310896" cy="0"/>
          </a:xfrm>
          <a:prstGeom prst="line">
            <a:avLst/>
          </a:prstGeom>
          <a:noFill/>
          <a:ln w="25400">
            <a:solidFill>
              <a:srgbClr val="5E6B78"/>
            </a:solidFill>
            <a:prstDash val="solid"/>
            <a:headEnd type="none"/>
            <a:tailEnd type="triangle"/>
          </a:ln>
        </p:spPr>
      </p:sp>
      <p:sp>
        <p:nvSpPr>
          <p:cNvPr id="18" name="Shape 16"/>
          <p:cNvSpPr/>
          <p:nvPr/>
        </p:nvSpPr>
        <p:spPr>
          <a:xfrm>
            <a:off x="6419088" y="1417320"/>
            <a:ext cx="2542032" cy="2971800"/>
          </a:xfrm>
          <a:prstGeom prst="roundRect">
            <a:avLst>
              <a:gd name="adj" fmla="val 2878"/>
            </a:avLst>
          </a:prstGeom>
          <a:solidFill>
            <a:srgbClr val="FFFFFF"/>
          </a:solidFill>
          <a:ln w="12700">
            <a:solidFill>
              <a:srgbClr val="D7E0E7"/>
            </a:solidFill>
            <a:prstDash val="solid"/>
          </a:ln>
        </p:spPr>
      </p:sp>
      <p:sp>
        <p:nvSpPr>
          <p:cNvPr id="19" name="Shape 17"/>
          <p:cNvSpPr/>
          <p:nvPr/>
        </p:nvSpPr>
        <p:spPr>
          <a:xfrm>
            <a:off x="6419088" y="1417320"/>
            <a:ext cx="64008" cy="2971800"/>
          </a:xfrm>
          <a:prstGeom prst="rect">
            <a:avLst/>
          </a:prstGeom>
          <a:solidFill>
            <a:srgbClr val="7057A3"/>
          </a:solidFill>
          <a:ln w="12700">
            <a:solidFill>
              <a:srgbClr val="7057A3">
                <a:alpha val="0"/>
              </a:srgbClr>
            </a:solidFill>
            <a:prstDash val="solid"/>
          </a:ln>
        </p:spPr>
      </p:sp>
      <p:sp>
        <p:nvSpPr>
          <p:cNvPr id="20" name="Text 18"/>
          <p:cNvSpPr/>
          <p:nvPr/>
        </p:nvSpPr>
        <p:spPr>
          <a:xfrm>
            <a:off x="6620256" y="15636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Model</a:t>
            </a:r>
            <a:endParaRPr lang="en-US" sz="1700" dirty="0"/>
          </a:p>
        </p:txBody>
      </p:sp>
      <p:sp>
        <p:nvSpPr>
          <p:cNvPr id="21" name="Text 19"/>
          <p:cNvSpPr/>
          <p:nvPr/>
        </p:nvSpPr>
        <p:spPr>
          <a:xfrm>
            <a:off x="6620256" y="1947672"/>
            <a:ext cx="2194560" cy="2313432"/>
          </a:xfrm>
          <a:prstGeom prst="rect">
            <a:avLst/>
          </a:prstGeom>
          <a:noFill/>
          <a:ln/>
        </p:spPr>
        <p:txBody>
          <a:bodyPr wrap="square" lIns="0" tIns="0" rIns="0" bIns="0" rtlCol="0" anchor="t">
            <a:normAutofit/>
          </a:bodyPr>
          <a:lstStyle/>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effect</a:t>
            </a:r>
            <a:endParaRPr lang="en-US" sz="1900" dirty="0"/>
          </a:p>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uncertainty</a:t>
            </a:r>
            <a:endParaRPr lang="en-US" sz="1900" dirty="0"/>
          </a:p>
        </p:txBody>
      </p:sp>
      <p:sp>
        <p:nvSpPr>
          <p:cNvPr id="22" name="Shape 20"/>
          <p:cNvSpPr/>
          <p:nvPr/>
        </p:nvSpPr>
        <p:spPr>
          <a:xfrm>
            <a:off x="8961120" y="2898648"/>
            <a:ext cx="310896" cy="0"/>
          </a:xfrm>
          <a:prstGeom prst="line">
            <a:avLst/>
          </a:prstGeom>
          <a:noFill/>
          <a:ln w="25400">
            <a:solidFill>
              <a:srgbClr val="5E6B78"/>
            </a:solidFill>
            <a:prstDash val="solid"/>
            <a:headEnd type="none"/>
            <a:tailEnd type="triangle"/>
          </a:ln>
        </p:spPr>
      </p:sp>
      <p:sp>
        <p:nvSpPr>
          <p:cNvPr id="23" name="Shape 21"/>
          <p:cNvSpPr/>
          <p:nvPr/>
        </p:nvSpPr>
        <p:spPr>
          <a:xfrm>
            <a:off x="9299448" y="1417320"/>
            <a:ext cx="2542032" cy="2971800"/>
          </a:xfrm>
          <a:prstGeom prst="roundRect">
            <a:avLst>
              <a:gd name="adj" fmla="val 2878"/>
            </a:avLst>
          </a:prstGeom>
          <a:solidFill>
            <a:srgbClr val="FFFFFF"/>
          </a:solidFill>
          <a:ln w="12700">
            <a:solidFill>
              <a:srgbClr val="D7E0E7"/>
            </a:solidFill>
            <a:prstDash val="solid"/>
          </a:ln>
        </p:spPr>
      </p:sp>
      <p:sp>
        <p:nvSpPr>
          <p:cNvPr id="24" name="Shape 22"/>
          <p:cNvSpPr/>
          <p:nvPr/>
        </p:nvSpPr>
        <p:spPr>
          <a:xfrm>
            <a:off x="9299448" y="1417320"/>
            <a:ext cx="64008" cy="2971800"/>
          </a:xfrm>
          <a:prstGeom prst="rect">
            <a:avLst/>
          </a:prstGeom>
          <a:solidFill>
            <a:srgbClr val="2C6EAF"/>
          </a:solidFill>
          <a:ln w="12700">
            <a:solidFill>
              <a:srgbClr val="2C6EAF">
                <a:alpha val="0"/>
              </a:srgbClr>
            </a:solidFill>
            <a:prstDash val="solid"/>
          </a:ln>
        </p:spPr>
      </p:sp>
      <p:sp>
        <p:nvSpPr>
          <p:cNvPr id="25" name="Text 23"/>
          <p:cNvSpPr/>
          <p:nvPr/>
        </p:nvSpPr>
        <p:spPr>
          <a:xfrm>
            <a:off x="9500616" y="15636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Visualize</a:t>
            </a:r>
            <a:endParaRPr lang="en-US" sz="1700" dirty="0"/>
          </a:p>
        </p:txBody>
      </p:sp>
      <p:sp>
        <p:nvSpPr>
          <p:cNvPr id="26" name="Text 24"/>
          <p:cNvSpPr/>
          <p:nvPr/>
        </p:nvSpPr>
        <p:spPr>
          <a:xfrm>
            <a:off x="9500616" y="1947672"/>
            <a:ext cx="2194560" cy="2313432"/>
          </a:xfrm>
          <a:prstGeom prst="rect">
            <a:avLst/>
          </a:prstGeom>
          <a:noFill/>
          <a:ln/>
        </p:spPr>
        <p:txBody>
          <a:bodyPr wrap="square" lIns="0" tIns="0" rIns="0" bIns="0" rtlCol="0" anchor="t">
            <a:normAutofit/>
          </a:bodyPr>
          <a:lstStyle/>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distribution</a:t>
            </a:r>
            <a:endParaRPr lang="en-US" sz="1900" dirty="0"/>
          </a:p>
          <a:p>
            <a:pPr algn="l" indent="0" marL="0">
              <a:buNone/>
            </a:pPr>
            <a:r>
              <a:rPr lang="en-US" sz="1900" dirty="0">
                <a:solidFill>
                  <a:srgbClr val="1F2937"/>
                </a:solidFill>
                <a:latin typeface="Liberation Sans" pitchFamily="34" charset="0"/>
                <a:ea typeface="Liberation Sans" pitchFamily="34" charset="-122"/>
                <a:cs typeface="Liberation Sans" pitchFamily="34" charset="-120"/>
              </a:rPr>
              <a:t>and context</a:t>
            </a:r>
            <a:endParaRPr lang="en-US" sz="1900" dirty="0"/>
          </a:p>
        </p:txBody>
      </p:sp>
      <p:sp>
        <p:nvSpPr>
          <p:cNvPr id="27" name="Shape 25"/>
          <p:cNvSpPr/>
          <p:nvPr/>
        </p:nvSpPr>
        <p:spPr>
          <a:xfrm>
            <a:off x="1143000" y="4892040"/>
            <a:ext cx="9921240" cy="694944"/>
          </a:xfrm>
          <a:prstGeom prst="roundRect">
            <a:avLst/>
          </a:prstGeom>
          <a:solidFill>
            <a:srgbClr val="D15B47">
              <a:alpha val="7000"/>
            </a:srgbClr>
          </a:solidFill>
          <a:ln w="12700">
            <a:solidFill>
              <a:srgbClr val="D15B47">
                <a:alpha val="0"/>
              </a:srgbClr>
            </a:solidFill>
            <a:prstDash val="solid"/>
          </a:ln>
        </p:spPr>
      </p:sp>
      <p:sp>
        <p:nvSpPr>
          <p:cNvPr id="28" name="Text 26"/>
          <p:cNvSpPr/>
          <p:nvPr/>
        </p:nvSpPr>
        <p:spPr>
          <a:xfrm>
            <a:off x="1417320" y="5074920"/>
            <a:ext cx="9372600" cy="320040"/>
          </a:xfrm>
          <a:prstGeom prst="rect">
            <a:avLst/>
          </a:prstGeom>
          <a:noFill/>
          <a:ln/>
        </p:spPr>
        <p:txBody>
          <a:bodyPr wrap="square" lIns="0" tIns="0" rIns="0" bIns="0" rtlCol="0" anchor="ctr">
            <a:normAutofit/>
          </a:bodyPr>
          <a:lstStyle/>
          <a:p>
            <a:pPr algn="ctr" indent="0" marL="0">
              <a:buNone/>
            </a:pPr>
            <a:r>
              <a:rPr lang="en-US" sz="1700" b="1" dirty="0">
                <a:solidFill>
                  <a:srgbClr val="D15B47"/>
                </a:solidFill>
                <a:latin typeface="Liberation Sans" pitchFamily="34" charset="0"/>
                <a:ea typeface="Liberation Sans" pitchFamily="34" charset="-122"/>
                <a:cs typeface="Liberation Sans" pitchFamily="34" charset="-120"/>
              </a:rPr>
              <a:t>Workflow reproducibility does not replace appropriate study design or statistical review.</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8. DNA workflows add domain-specific file types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FASTQ, references, BAM/CRAM, VCF, and quality reports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9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475488" y="1481328"/>
            <a:ext cx="2057400" cy="2286000"/>
          </a:xfrm>
          <a:prstGeom prst="roundRect">
            <a:avLst>
              <a:gd name="adj" fmla="val 3556"/>
            </a:avLst>
          </a:prstGeom>
          <a:solidFill>
            <a:srgbClr val="FFFFFF"/>
          </a:solidFill>
          <a:ln w="12700">
            <a:solidFill>
              <a:srgbClr val="D7E0E7"/>
            </a:solidFill>
            <a:prstDash val="solid"/>
          </a:ln>
        </p:spPr>
      </p:sp>
      <p:sp>
        <p:nvSpPr>
          <p:cNvPr id="9" name="Shape 7"/>
          <p:cNvSpPr/>
          <p:nvPr/>
        </p:nvSpPr>
        <p:spPr>
          <a:xfrm>
            <a:off x="475488" y="1481328"/>
            <a:ext cx="64008" cy="2286000"/>
          </a:xfrm>
          <a:prstGeom prst="rect">
            <a:avLst/>
          </a:prstGeom>
          <a:solidFill>
            <a:srgbClr val="D15B47"/>
          </a:solidFill>
          <a:ln w="12700">
            <a:solidFill>
              <a:srgbClr val="D15B47">
                <a:alpha val="0"/>
              </a:srgbClr>
            </a:solidFill>
            <a:prstDash val="solid"/>
          </a:ln>
        </p:spPr>
      </p:sp>
      <p:sp>
        <p:nvSpPr>
          <p:cNvPr id="10" name="Text 8"/>
          <p:cNvSpPr/>
          <p:nvPr/>
        </p:nvSpPr>
        <p:spPr>
          <a:xfrm>
            <a:off x="676656" y="162763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FASTQ.gz</a:t>
            </a:r>
            <a:endParaRPr lang="en-US" sz="1700" dirty="0"/>
          </a:p>
        </p:txBody>
      </p:sp>
      <p:sp>
        <p:nvSpPr>
          <p:cNvPr id="11" name="Text 9"/>
          <p:cNvSpPr/>
          <p:nvPr/>
        </p:nvSpPr>
        <p:spPr>
          <a:xfrm>
            <a:off x="676656" y="2011680"/>
            <a:ext cx="1709928" cy="16276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compressed reads</a:t>
            </a:r>
            <a:endParaRPr lang="en-US" sz="1500" dirty="0"/>
          </a:p>
        </p:txBody>
      </p:sp>
      <p:sp>
        <p:nvSpPr>
          <p:cNvPr id="12" name="Shape 10"/>
          <p:cNvSpPr/>
          <p:nvPr/>
        </p:nvSpPr>
        <p:spPr>
          <a:xfrm>
            <a:off x="2532888" y="2624328"/>
            <a:ext cx="265176" cy="0"/>
          </a:xfrm>
          <a:prstGeom prst="line">
            <a:avLst/>
          </a:prstGeom>
          <a:noFill/>
          <a:ln w="25400">
            <a:solidFill>
              <a:srgbClr val="5E6B78"/>
            </a:solidFill>
            <a:prstDash val="solid"/>
            <a:headEnd type="none"/>
            <a:tailEnd type="triangle"/>
          </a:ln>
        </p:spPr>
      </p:sp>
      <p:sp>
        <p:nvSpPr>
          <p:cNvPr id="13" name="Shape 11"/>
          <p:cNvSpPr/>
          <p:nvPr/>
        </p:nvSpPr>
        <p:spPr>
          <a:xfrm>
            <a:off x="2807208" y="1481328"/>
            <a:ext cx="2057400" cy="2286000"/>
          </a:xfrm>
          <a:prstGeom prst="roundRect">
            <a:avLst>
              <a:gd name="adj" fmla="val 3556"/>
            </a:avLst>
          </a:prstGeom>
          <a:solidFill>
            <a:srgbClr val="FFFFFF"/>
          </a:solidFill>
          <a:ln w="12700">
            <a:solidFill>
              <a:srgbClr val="D7E0E7"/>
            </a:solidFill>
            <a:prstDash val="solid"/>
          </a:ln>
        </p:spPr>
      </p:sp>
      <p:sp>
        <p:nvSpPr>
          <p:cNvPr id="14" name="Shape 12"/>
          <p:cNvSpPr/>
          <p:nvPr/>
        </p:nvSpPr>
        <p:spPr>
          <a:xfrm>
            <a:off x="2807208" y="1481328"/>
            <a:ext cx="64008" cy="2286000"/>
          </a:xfrm>
          <a:prstGeom prst="rect">
            <a:avLst/>
          </a:prstGeom>
          <a:solidFill>
            <a:srgbClr val="2C6EAF"/>
          </a:solidFill>
          <a:ln w="12700">
            <a:solidFill>
              <a:srgbClr val="2C6EAF">
                <a:alpha val="0"/>
              </a:srgbClr>
            </a:solidFill>
            <a:prstDash val="solid"/>
          </a:ln>
        </p:spPr>
      </p:sp>
      <p:sp>
        <p:nvSpPr>
          <p:cNvPr id="15" name="Text 13"/>
          <p:cNvSpPr/>
          <p:nvPr/>
        </p:nvSpPr>
        <p:spPr>
          <a:xfrm>
            <a:off x="3008376" y="162763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FASTA</a:t>
            </a:r>
            <a:endParaRPr lang="en-US" sz="1700" dirty="0"/>
          </a:p>
        </p:txBody>
      </p:sp>
      <p:sp>
        <p:nvSpPr>
          <p:cNvPr id="16" name="Text 14"/>
          <p:cNvSpPr/>
          <p:nvPr/>
        </p:nvSpPr>
        <p:spPr>
          <a:xfrm>
            <a:off x="3008376" y="2011680"/>
            <a:ext cx="1709928" cy="16276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reference</a:t>
            </a:r>
            <a:endParaRPr lang="en-US" sz="1500" dirty="0"/>
          </a:p>
        </p:txBody>
      </p:sp>
      <p:sp>
        <p:nvSpPr>
          <p:cNvPr id="17" name="Shape 15"/>
          <p:cNvSpPr/>
          <p:nvPr/>
        </p:nvSpPr>
        <p:spPr>
          <a:xfrm>
            <a:off x="4864608" y="2624328"/>
            <a:ext cx="265176" cy="0"/>
          </a:xfrm>
          <a:prstGeom prst="line">
            <a:avLst/>
          </a:prstGeom>
          <a:noFill/>
          <a:ln w="25400">
            <a:solidFill>
              <a:srgbClr val="5E6B78"/>
            </a:solidFill>
            <a:prstDash val="solid"/>
            <a:headEnd type="none"/>
            <a:tailEnd type="triangle"/>
          </a:ln>
        </p:spPr>
      </p:sp>
      <p:sp>
        <p:nvSpPr>
          <p:cNvPr id="18" name="Shape 16"/>
          <p:cNvSpPr/>
          <p:nvPr/>
        </p:nvSpPr>
        <p:spPr>
          <a:xfrm>
            <a:off x="5138928" y="1481328"/>
            <a:ext cx="2057400" cy="2286000"/>
          </a:xfrm>
          <a:prstGeom prst="roundRect">
            <a:avLst>
              <a:gd name="adj" fmla="val 3556"/>
            </a:avLst>
          </a:prstGeom>
          <a:solidFill>
            <a:srgbClr val="FFFFFF"/>
          </a:solidFill>
          <a:ln w="12700">
            <a:solidFill>
              <a:srgbClr val="D7E0E7"/>
            </a:solidFill>
            <a:prstDash val="solid"/>
          </a:ln>
        </p:spPr>
      </p:sp>
      <p:sp>
        <p:nvSpPr>
          <p:cNvPr id="19" name="Shape 17"/>
          <p:cNvSpPr/>
          <p:nvPr/>
        </p:nvSpPr>
        <p:spPr>
          <a:xfrm>
            <a:off x="5138928" y="1481328"/>
            <a:ext cx="64008" cy="2286000"/>
          </a:xfrm>
          <a:prstGeom prst="rect">
            <a:avLst/>
          </a:prstGeom>
          <a:solidFill>
            <a:srgbClr val="2C6EAF"/>
          </a:solidFill>
          <a:ln w="12700">
            <a:solidFill>
              <a:srgbClr val="2C6EAF">
                <a:alpha val="0"/>
              </a:srgbClr>
            </a:solidFill>
            <a:prstDash val="solid"/>
          </a:ln>
        </p:spPr>
      </p:sp>
      <p:sp>
        <p:nvSpPr>
          <p:cNvPr id="20" name="Text 18"/>
          <p:cNvSpPr/>
          <p:nvPr/>
        </p:nvSpPr>
        <p:spPr>
          <a:xfrm>
            <a:off x="5340096" y="162763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BAM / CRAM</a:t>
            </a:r>
            <a:endParaRPr lang="en-US" sz="1700" dirty="0"/>
          </a:p>
        </p:txBody>
      </p:sp>
      <p:sp>
        <p:nvSpPr>
          <p:cNvPr id="21" name="Text 19"/>
          <p:cNvSpPr/>
          <p:nvPr/>
        </p:nvSpPr>
        <p:spPr>
          <a:xfrm>
            <a:off x="5340096" y="2011680"/>
            <a:ext cx="1709928" cy="16276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aligned reads</a:t>
            </a:r>
            <a:endParaRPr lang="en-US" sz="1500" dirty="0"/>
          </a:p>
        </p:txBody>
      </p:sp>
      <p:sp>
        <p:nvSpPr>
          <p:cNvPr id="22" name="Shape 20"/>
          <p:cNvSpPr/>
          <p:nvPr/>
        </p:nvSpPr>
        <p:spPr>
          <a:xfrm>
            <a:off x="7196328" y="2624328"/>
            <a:ext cx="265176" cy="0"/>
          </a:xfrm>
          <a:prstGeom prst="line">
            <a:avLst/>
          </a:prstGeom>
          <a:noFill/>
          <a:ln w="25400">
            <a:solidFill>
              <a:srgbClr val="5E6B78"/>
            </a:solidFill>
            <a:prstDash val="solid"/>
            <a:headEnd type="none"/>
            <a:tailEnd type="triangle"/>
          </a:ln>
        </p:spPr>
      </p:sp>
      <p:sp>
        <p:nvSpPr>
          <p:cNvPr id="23" name="Shape 21"/>
          <p:cNvSpPr/>
          <p:nvPr/>
        </p:nvSpPr>
        <p:spPr>
          <a:xfrm>
            <a:off x="7470648" y="1481328"/>
            <a:ext cx="2057400" cy="2286000"/>
          </a:xfrm>
          <a:prstGeom prst="roundRect">
            <a:avLst>
              <a:gd name="adj" fmla="val 3556"/>
            </a:avLst>
          </a:prstGeom>
          <a:solidFill>
            <a:srgbClr val="FFFFFF"/>
          </a:solidFill>
          <a:ln w="12700">
            <a:solidFill>
              <a:srgbClr val="D7E0E7"/>
            </a:solidFill>
            <a:prstDash val="solid"/>
          </a:ln>
        </p:spPr>
      </p:sp>
      <p:sp>
        <p:nvSpPr>
          <p:cNvPr id="24" name="Shape 22"/>
          <p:cNvSpPr/>
          <p:nvPr/>
        </p:nvSpPr>
        <p:spPr>
          <a:xfrm>
            <a:off x="7470648" y="1481328"/>
            <a:ext cx="64008" cy="2286000"/>
          </a:xfrm>
          <a:prstGeom prst="rect">
            <a:avLst/>
          </a:prstGeom>
          <a:solidFill>
            <a:srgbClr val="2C6EAF"/>
          </a:solidFill>
          <a:ln w="12700">
            <a:solidFill>
              <a:srgbClr val="2C6EAF">
                <a:alpha val="0"/>
              </a:srgbClr>
            </a:solidFill>
            <a:prstDash val="solid"/>
          </a:ln>
        </p:spPr>
      </p:sp>
      <p:sp>
        <p:nvSpPr>
          <p:cNvPr id="25" name="Text 23"/>
          <p:cNvSpPr/>
          <p:nvPr/>
        </p:nvSpPr>
        <p:spPr>
          <a:xfrm>
            <a:off x="7671816" y="162763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VCF.gz</a:t>
            </a:r>
            <a:endParaRPr lang="en-US" sz="1700" dirty="0"/>
          </a:p>
        </p:txBody>
      </p:sp>
      <p:sp>
        <p:nvSpPr>
          <p:cNvPr id="26" name="Text 24"/>
          <p:cNvSpPr/>
          <p:nvPr/>
        </p:nvSpPr>
        <p:spPr>
          <a:xfrm>
            <a:off x="7671816" y="2011680"/>
            <a:ext cx="1709928" cy="16276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variants</a:t>
            </a:r>
            <a:endParaRPr lang="en-US" sz="1500" dirty="0"/>
          </a:p>
        </p:txBody>
      </p:sp>
      <p:sp>
        <p:nvSpPr>
          <p:cNvPr id="27" name="Shape 25"/>
          <p:cNvSpPr/>
          <p:nvPr/>
        </p:nvSpPr>
        <p:spPr>
          <a:xfrm>
            <a:off x="9528048" y="2624328"/>
            <a:ext cx="265176" cy="0"/>
          </a:xfrm>
          <a:prstGeom prst="line">
            <a:avLst/>
          </a:prstGeom>
          <a:noFill/>
          <a:ln w="25400">
            <a:solidFill>
              <a:srgbClr val="5E6B78"/>
            </a:solidFill>
            <a:prstDash val="solid"/>
            <a:headEnd type="none"/>
            <a:tailEnd type="triangle"/>
          </a:ln>
        </p:spPr>
      </p:sp>
      <p:sp>
        <p:nvSpPr>
          <p:cNvPr id="28" name="Shape 26"/>
          <p:cNvSpPr/>
          <p:nvPr/>
        </p:nvSpPr>
        <p:spPr>
          <a:xfrm>
            <a:off x="9802368" y="1481328"/>
            <a:ext cx="2057400" cy="2286000"/>
          </a:xfrm>
          <a:prstGeom prst="roundRect">
            <a:avLst>
              <a:gd name="adj" fmla="val 3556"/>
            </a:avLst>
          </a:prstGeom>
          <a:solidFill>
            <a:srgbClr val="FFFFFF"/>
          </a:solidFill>
          <a:ln w="12700">
            <a:solidFill>
              <a:srgbClr val="D7E0E7"/>
            </a:solidFill>
            <a:prstDash val="solid"/>
          </a:ln>
        </p:spPr>
      </p:sp>
      <p:sp>
        <p:nvSpPr>
          <p:cNvPr id="29" name="Shape 27"/>
          <p:cNvSpPr/>
          <p:nvPr/>
        </p:nvSpPr>
        <p:spPr>
          <a:xfrm>
            <a:off x="9802368" y="1481328"/>
            <a:ext cx="64008" cy="2286000"/>
          </a:xfrm>
          <a:prstGeom prst="rect">
            <a:avLst/>
          </a:prstGeom>
          <a:solidFill>
            <a:srgbClr val="3A8D63"/>
          </a:solidFill>
          <a:ln w="12700">
            <a:solidFill>
              <a:srgbClr val="3A8D63">
                <a:alpha val="0"/>
              </a:srgbClr>
            </a:solidFill>
            <a:prstDash val="solid"/>
          </a:ln>
        </p:spPr>
      </p:sp>
      <p:sp>
        <p:nvSpPr>
          <p:cNvPr id="30" name="Text 28"/>
          <p:cNvSpPr/>
          <p:nvPr/>
        </p:nvSpPr>
        <p:spPr>
          <a:xfrm>
            <a:off x="10003536" y="162763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HTML / TSV</a:t>
            </a:r>
            <a:endParaRPr lang="en-US" sz="1700" dirty="0"/>
          </a:p>
        </p:txBody>
      </p:sp>
      <p:sp>
        <p:nvSpPr>
          <p:cNvPr id="31" name="Text 29"/>
          <p:cNvSpPr/>
          <p:nvPr/>
        </p:nvSpPr>
        <p:spPr>
          <a:xfrm>
            <a:off x="10003536" y="2011680"/>
            <a:ext cx="1709928" cy="16276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QC + summary</a:t>
            </a:r>
            <a:endParaRPr lang="en-US" sz="1500" dirty="0"/>
          </a:p>
        </p:txBody>
      </p:sp>
      <p:sp>
        <p:nvSpPr>
          <p:cNvPr id="32" name="Text 30"/>
          <p:cNvSpPr/>
          <p:nvPr/>
        </p:nvSpPr>
        <p:spPr>
          <a:xfrm>
            <a:off x="1325880" y="4709160"/>
            <a:ext cx="9509760" cy="420624"/>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Liberation Sans" pitchFamily="34" charset="0"/>
                <a:ea typeface="Liberation Sans" pitchFamily="34" charset="-122"/>
                <a:cs typeface="Liberation Sans" pitchFamily="34" charset="-120"/>
              </a:rPr>
              <a:t>Keep compressed, indexed, provenance-rich formats when the toolchain supports them.</a:t>
            </a:r>
            <a:endParaRPr lang="en-US" sz="2000" dirty="0"/>
          </a:p>
        </p:txBody>
      </p:sp>
      <p:sp>
        <p:nvSpPr>
          <p:cNvPr id="33" name="Shape 31"/>
          <p:cNvSpPr/>
          <p:nvPr/>
        </p:nvSpPr>
        <p:spPr>
          <a:xfrm>
            <a:off x="4370832" y="5413248"/>
            <a:ext cx="3474720" cy="310896"/>
          </a:xfrm>
          <a:prstGeom prst="roundRect">
            <a:avLst/>
          </a:prstGeom>
          <a:solidFill>
            <a:srgbClr val="D15B47">
              <a:alpha val="12000"/>
            </a:srgbClr>
          </a:solidFill>
          <a:ln w="12700">
            <a:solidFill>
              <a:srgbClr val="D15B47">
                <a:alpha val="0"/>
              </a:srgbClr>
            </a:solidFill>
            <a:prstDash val="solid"/>
          </a:ln>
        </p:spPr>
      </p:sp>
      <p:sp>
        <p:nvSpPr>
          <p:cNvPr id="34" name="Text 32"/>
          <p:cNvSpPr/>
          <p:nvPr/>
        </p:nvSpPr>
        <p:spPr>
          <a:xfrm>
            <a:off x="4443984" y="5431536"/>
            <a:ext cx="3328416" cy="256032"/>
          </a:xfrm>
          <a:prstGeom prst="rect">
            <a:avLst/>
          </a:prstGeom>
          <a:noFill/>
          <a:ln/>
        </p:spPr>
        <p:txBody>
          <a:bodyPr wrap="square" lIns="0" tIns="0" rIns="0" bIns="0" rtlCol="0" anchor="ctr">
            <a:normAutofit/>
          </a:bodyPr>
          <a:lstStyle/>
          <a:p>
            <a:pPr algn="ctr" indent="0" marL="0">
              <a:buNone/>
            </a:pPr>
            <a:r>
              <a:rPr lang="en-US" sz="1100" b="1" dirty="0">
                <a:solidFill>
                  <a:srgbClr val="D15B47"/>
                </a:solidFill>
                <a:latin typeface="Liberation Sans" pitchFamily="34" charset="0"/>
                <a:ea typeface="Liberation Sans" pitchFamily="34" charset="-122"/>
                <a:cs typeface="Liberation Sans" pitchFamily="34" charset="-120"/>
              </a:rPr>
              <a:t>synthetic training data only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9. Dry runs, targets, logs, and benchmarks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Know what will run and preserve what happened</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10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1143000" y="1371600"/>
            <a:ext cx="713232" cy="713232"/>
          </a:xfrm>
          <a:prstGeom prst="ellipse">
            <a:avLst/>
          </a:prstGeom>
          <a:solidFill>
            <a:srgbClr val="2C6EAF"/>
          </a:solidFill>
          <a:ln w="12700">
            <a:solidFill>
              <a:srgbClr val="2C6EAF">
                <a:alpha val="0"/>
              </a:srgbClr>
            </a:solidFill>
            <a:prstDash val="solid"/>
          </a:ln>
        </p:spPr>
      </p:sp>
      <p:sp>
        <p:nvSpPr>
          <p:cNvPr id="9" name="Text 7"/>
          <p:cNvSpPr/>
          <p:nvPr/>
        </p:nvSpPr>
        <p:spPr>
          <a:xfrm>
            <a:off x="1143000" y="154533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1</a:t>
            </a:r>
            <a:endParaRPr lang="en-US" sz="1800" dirty="0"/>
          </a:p>
        </p:txBody>
      </p:sp>
      <p:sp>
        <p:nvSpPr>
          <p:cNvPr id="10" name="Shape 8"/>
          <p:cNvSpPr/>
          <p:nvPr/>
        </p:nvSpPr>
        <p:spPr>
          <a:xfrm>
            <a:off x="475488" y="2423160"/>
            <a:ext cx="2057400" cy="2240280"/>
          </a:xfrm>
          <a:prstGeom prst="roundRect">
            <a:avLst>
              <a:gd name="adj" fmla="val 3556"/>
            </a:avLst>
          </a:prstGeom>
          <a:solidFill>
            <a:srgbClr val="FFFFFF"/>
          </a:solidFill>
          <a:ln w="12700">
            <a:solidFill>
              <a:srgbClr val="D7E0E7"/>
            </a:solidFill>
            <a:prstDash val="solid"/>
          </a:ln>
        </p:spPr>
      </p:sp>
      <p:sp>
        <p:nvSpPr>
          <p:cNvPr id="11" name="Shape 9"/>
          <p:cNvSpPr/>
          <p:nvPr/>
        </p:nvSpPr>
        <p:spPr>
          <a:xfrm>
            <a:off x="475488" y="2423160"/>
            <a:ext cx="64008" cy="2240280"/>
          </a:xfrm>
          <a:prstGeom prst="rect">
            <a:avLst/>
          </a:prstGeom>
          <a:solidFill>
            <a:srgbClr val="2C6EAF"/>
          </a:solidFill>
          <a:ln w="12700">
            <a:solidFill>
              <a:srgbClr val="2C6EAF">
                <a:alpha val="0"/>
              </a:srgbClr>
            </a:solidFill>
            <a:prstDash val="solid"/>
          </a:ln>
        </p:spPr>
      </p:sp>
      <p:sp>
        <p:nvSpPr>
          <p:cNvPr id="12" name="Text 10"/>
          <p:cNvSpPr/>
          <p:nvPr/>
        </p:nvSpPr>
        <p:spPr>
          <a:xfrm>
            <a:off x="676656" y="25694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Plan</a:t>
            </a:r>
            <a:endParaRPr lang="en-US" sz="1700" dirty="0"/>
          </a:p>
        </p:txBody>
      </p:sp>
      <p:sp>
        <p:nvSpPr>
          <p:cNvPr id="13" name="Text 11"/>
          <p:cNvSpPr/>
          <p:nvPr/>
        </p:nvSpPr>
        <p:spPr>
          <a:xfrm>
            <a:off x="676656" y="2953512"/>
            <a:ext cx="1709928" cy="15819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snakemake -n</a:t>
            </a:r>
            <a:endParaRPr lang="en-US" sz="1500" dirty="0"/>
          </a:p>
        </p:txBody>
      </p:sp>
      <p:sp>
        <p:nvSpPr>
          <p:cNvPr id="14" name="Shape 12"/>
          <p:cNvSpPr/>
          <p:nvPr/>
        </p:nvSpPr>
        <p:spPr>
          <a:xfrm>
            <a:off x="1847088" y="1728216"/>
            <a:ext cx="1444752" cy="0"/>
          </a:xfrm>
          <a:prstGeom prst="line">
            <a:avLst/>
          </a:prstGeom>
          <a:noFill/>
          <a:ln w="25400">
            <a:solidFill>
              <a:srgbClr val="5E6B78"/>
            </a:solidFill>
            <a:prstDash val="solid"/>
            <a:headEnd type="none"/>
            <a:tailEnd type="triangle"/>
          </a:ln>
        </p:spPr>
      </p:sp>
      <p:sp>
        <p:nvSpPr>
          <p:cNvPr id="15" name="Shape 13"/>
          <p:cNvSpPr/>
          <p:nvPr/>
        </p:nvSpPr>
        <p:spPr>
          <a:xfrm>
            <a:off x="3474720" y="1371600"/>
            <a:ext cx="713232" cy="713232"/>
          </a:xfrm>
          <a:prstGeom prst="ellipse">
            <a:avLst/>
          </a:prstGeom>
          <a:solidFill>
            <a:srgbClr val="2C6EAF"/>
          </a:solidFill>
          <a:ln w="12700">
            <a:solidFill>
              <a:srgbClr val="2C6EAF">
                <a:alpha val="0"/>
              </a:srgbClr>
            </a:solidFill>
            <a:prstDash val="solid"/>
          </a:ln>
        </p:spPr>
      </p:sp>
      <p:sp>
        <p:nvSpPr>
          <p:cNvPr id="16" name="Text 14"/>
          <p:cNvSpPr/>
          <p:nvPr/>
        </p:nvSpPr>
        <p:spPr>
          <a:xfrm>
            <a:off x="3474720" y="154533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2</a:t>
            </a:r>
            <a:endParaRPr lang="en-US" sz="1800" dirty="0"/>
          </a:p>
        </p:txBody>
      </p:sp>
      <p:sp>
        <p:nvSpPr>
          <p:cNvPr id="17" name="Shape 15"/>
          <p:cNvSpPr/>
          <p:nvPr/>
        </p:nvSpPr>
        <p:spPr>
          <a:xfrm>
            <a:off x="2807208" y="2423160"/>
            <a:ext cx="2057400" cy="2240280"/>
          </a:xfrm>
          <a:prstGeom prst="roundRect">
            <a:avLst>
              <a:gd name="adj" fmla="val 3556"/>
            </a:avLst>
          </a:prstGeom>
          <a:solidFill>
            <a:srgbClr val="FFFFFF"/>
          </a:solidFill>
          <a:ln w="12700">
            <a:solidFill>
              <a:srgbClr val="D7E0E7"/>
            </a:solidFill>
            <a:prstDash val="solid"/>
          </a:ln>
        </p:spPr>
      </p:sp>
      <p:sp>
        <p:nvSpPr>
          <p:cNvPr id="18" name="Shape 16"/>
          <p:cNvSpPr/>
          <p:nvPr/>
        </p:nvSpPr>
        <p:spPr>
          <a:xfrm>
            <a:off x="2807208" y="2423160"/>
            <a:ext cx="64008" cy="2240280"/>
          </a:xfrm>
          <a:prstGeom prst="rect">
            <a:avLst/>
          </a:prstGeom>
          <a:solidFill>
            <a:srgbClr val="2C6EAF"/>
          </a:solidFill>
          <a:ln w="12700">
            <a:solidFill>
              <a:srgbClr val="2C6EAF">
                <a:alpha val="0"/>
              </a:srgbClr>
            </a:solidFill>
            <a:prstDash val="solid"/>
          </a:ln>
        </p:spPr>
      </p:sp>
      <p:sp>
        <p:nvSpPr>
          <p:cNvPr id="19" name="Text 17"/>
          <p:cNvSpPr/>
          <p:nvPr/>
        </p:nvSpPr>
        <p:spPr>
          <a:xfrm>
            <a:off x="3008376" y="25694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Visualize</a:t>
            </a:r>
            <a:endParaRPr lang="en-US" sz="1700" dirty="0"/>
          </a:p>
        </p:txBody>
      </p:sp>
      <p:sp>
        <p:nvSpPr>
          <p:cNvPr id="20" name="Text 18"/>
          <p:cNvSpPr/>
          <p:nvPr/>
        </p:nvSpPr>
        <p:spPr>
          <a:xfrm>
            <a:off x="3008376" y="2953512"/>
            <a:ext cx="1709928" cy="15819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DAG / summary</a:t>
            </a:r>
            <a:endParaRPr lang="en-US" sz="1500" dirty="0"/>
          </a:p>
        </p:txBody>
      </p:sp>
      <p:sp>
        <p:nvSpPr>
          <p:cNvPr id="21" name="Shape 19"/>
          <p:cNvSpPr/>
          <p:nvPr/>
        </p:nvSpPr>
        <p:spPr>
          <a:xfrm>
            <a:off x="4178808" y="1728216"/>
            <a:ext cx="1444752" cy="0"/>
          </a:xfrm>
          <a:prstGeom prst="line">
            <a:avLst/>
          </a:prstGeom>
          <a:noFill/>
          <a:ln w="25400">
            <a:solidFill>
              <a:srgbClr val="5E6B78"/>
            </a:solidFill>
            <a:prstDash val="solid"/>
            <a:headEnd type="none"/>
            <a:tailEnd type="triangle"/>
          </a:ln>
        </p:spPr>
      </p:sp>
      <p:sp>
        <p:nvSpPr>
          <p:cNvPr id="22" name="Shape 20"/>
          <p:cNvSpPr/>
          <p:nvPr/>
        </p:nvSpPr>
        <p:spPr>
          <a:xfrm>
            <a:off x="5806440" y="1371600"/>
            <a:ext cx="713232" cy="713232"/>
          </a:xfrm>
          <a:prstGeom prst="ellipse">
            <a:avLst/>
          </a:prstGeom>
          <a:solidFill>
            <a:srgbClr val="2C6EAF"/>
          </a:solidFill>
          <a:ln w="12700">
            <a:solidFill>
              <a:srgbClr val="2C6EAF">
                <a:alpha val="0"/>
              </a:srgbClr>
            </a:solidFill>
            <a:prstDash val="solid"/>
          </a:ln>
        </p:spPr>
      </p:sp>
      <p:sp>
        <p:nvSpPr>
          <p:cNvPr id="23" name="Text 21"/>
          <p:cNvSpPr/>
          <p:nvPr/>
        </p:nvSpPr>
        <p:spPr>
          <a:xfrm>
            <a:off x="5806440" y="154533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3</a:t>
            </a:r>
            <a:endParaRPr lang="en-US" sz="1800" dirty="0"/>
          </a:p>
        </p:txBody>
      </p:sp>
      <p:sp>
        <p:nvSpPr>
          <p:cNvPr id="24" name="Shape 22"/>
          <p:cNvSpPr/>
          <p:nvPr/>
        </p:nvSpPr>
        <p:spPr>
          <a:xfrm>
            <a:off x="5138928" y="2423160"/>
            <a:ext cx="2057400" cy="2240280"/>
          </a:xfrm>
          <a:prstGeom prst="roundRect">
            <a:avLst>
              <a:gd name="adj" fmla="val 3556"/>
            </a:avLst>
          </a:prstGeom>
          <a:solidFill>
            <a:srgbClr val="FFFFFF"/>
          </a:solidFill>
          <a:ln w="12700">
            <a:solidFill>
              <a:srgbClr val="D7E0E7"/>
            </a:solidFill>
            <a:prstDash val="solid"/>
          </a:ln>
        </p:spPr>
      </p:sp>
      <p:sp>
        <p:nvSpPr>
          <p:cNvPr id="25" name="Shape 23"/>
          <p:cNvSpPr/>
          <p:nvPr/>
        </p:nvSpPr>
        <p:spPr>
          <a:xfrm>
            <a:off x="5138928" y="2423160"/>
            <a:ext cx="64008" cy="2240280"/>
          </a:xfrm>
          <a:prstGeom prst="rect">
            <a:avLst/>
          </a:prstGeom>
          <a:solidFill>
            <a:srgbClr val="2C6EAF"/>
          </a:solidFill>
          <a:ln w="12700">
            <a:solidFill>
              <a:srgbClr val="2C6EAF">
                <a:alpha val="0"/>
              </a:srgbClr>
            </a:solidFill>
            <a:prstDash val="solid"/>
          </a:ln>
        </p:spPr>
      </p:sp>
      <p:sp>
        <p:nvSpPr>
          <p:cNvPr id="26" name="Text 24"/>
          <p:cNvSpPr/>
          <p:nvPr/>
        </p:nvSpPr>
        <p:spPr>
          <a:xfrm>
            <a:off x="5340096" y="25694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Execute</a:t>
            </a:r>
            <a:endParaRPr lang="en-US" sz="1700" dirty="0"/>
          </a:p>
        </p:txBody>
      </p:sp>
      <p:sp>
        <p:nvSpPr>
          <p:cNvPr id="27" name="Text 25"/>
          <p:cNvSpPr/>
          <p:nvPr/>
        </p:nvSpPr>
        <p:spPr>
          <a:xfrm>
            <a:off x="5340096" y="2953512"/>
            <a:ext cx="1709928" cy="15819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Slurm profile</a:t>
            </a:r>
            <a:endParaRPr lang="en-US" sz="1500" dirty="0"/>
          </a:p>
        </p:txBody>
      </p:sp>
      <p:sp>
        <p:nvSpPr>
          <p:cNvPr id="28" name="Shape 26"/>
          <p:cNvSpPr/>
          <p:nvPr/>
        </p:nvSpPr>
        <p:spPr>
          <a:xfrm>
            <a:off x="6510528" y="1728216"/>
            <a:ext cx="1444752" cy="0"/>
          </a:xfrm>
          <a:prstGeom prst="line">
            <a:avLst/>
          </a:prstGeom>
          <a:noFill/>
          <a:ln w="25400">
            <a:solidFill>
              <a:srgbClr val="5E6B78"/>
            </a:solidFill>
            <a:prstDash val="solid"/>
            <a:headEnd type="none"/>
            <a:tailEnd type="triangle"/>
          </a:ln>
        </p:spPr>
      </p:sp>
      <p:sp>
        <p:nvSpPr>
          <p:cNvPr id="29" name="Shape 27"/>
          <p:cNvSpPr/>
          <p:nvPr/>
        </p:nvSpPr>
        <p:spPr>
          <a:xfrm>
            <a:off x="8138160" y="1371600"/>
            <a:ext cx="713232" cy="713232"/>
          </a:xfrm>
          <a:prstGeom prst="ellipse">
            <a:avLst/>
          </a:prstGeom>
          <a:solidFill>
            <a:srgbClr val="2C6EAF"/>
          </a:solidFill>
          <a:ln w="12700">
            <a:solidFill>
              <a:srgbClr val="2C6EAF">
                <a:alpha val="0"/>
              </a:srgbClr>
            </a:solidFill>
            <a:prstDash val="solid"/>
          </a:ln>
        </p:spPr>
      </p:sp>
      <p:sp>
        <p:nvSpPr>
          <p:cNvPr id="30" name="Text 28"/>
          <p:cNvSpPr/>
          <p:nvPr/>
        </p:nvSpPr>
        <p:spPr>
          <a:xfrm>
            <a:off x="8138160" y="154533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4</a:t>
            </a:r>
            <a:endParaRPr lang="en-US" sz="1800" dirty="0"/>
          </a:p>
        </p:txBody>
      </p:sp>
      <p:sp>
        <p:nvSpPr>
          <p:cNvPr id="31" name="Shape 29"/>
          <p:cNvSpPr/>
          <p:nvPr/>
        </p:nvSpPr>
        <p:spPr>
          <a:xfrm>
            <a:off x="7470648" y="2423160"/>
            <a:ext cx="2057400" cy="2240280"/>
          </a:xfrm>
          <a:prstGeom prst="roundRect">
            <a:avLst>
              <a:gd name="adj" fmla="val 3556"/>
            </a:avLst>
          </a:prstGeom>
          <a:solidFill>
            <a:srgbClr val="FFFFFF"/>
          </a:solidFill>
          <a:ln w="12700">
            <a:solidFill>
              <a:srgbClr val="D7E0E7"/>
            </a:solidFill>
            <a:prstDash val="solid"/>
          </a:ln>
        </p:spPr>
      </p:sp>
      <p:sp>
        <p:nvSpPr>
          <p:cNvPr id="32" name="Shape 30"/>
          <p:cNvSpPr/>
          <p:nvPr/>
        </p:nvSpPr>
        <p:spPr>
          <a:xfrm>
            <a:off x="7470648" y="2423160"/>
            <a:ext cx="64008" cy="2240280"/>
          </a:xfrm>
          <a:prstGeom prst="rect">
            <a:avLst/>
          </a:prstGeom>
          <a:solidFill>
            <a:srgbClr val="2C6EAF"/>
          </a:solidFill>
          <a:ln w="12700">
            <a:solidFill>
              <a:srgbClr val="2C6EAF">
                <a:alpha val="0"/>
              </a:srgbClr>
            </a:solidFill>
            <a:prstDash val="solid"/>
          </a:ln>
        </p:spPr>
      </p:sp>
      <p:sp>
        <p:nvSpPr>
          <p:cNvPr id="33" name="Text 31"/>
          <p:cNvSpPr/>
          <p:nvPr/>
        </p:nvSpPr>
        <p:spPr>
          <a:xfrm>
            <a:off x="7671816" y="25694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Observe</a:t>
            </a:r>
            <a:endParaRPr lang="en-US" sz="1700" dirty="0"/>
          </a:p>
        </p:txBody>
      </p:sp>
      <p:sp>
        <p:nvSpPr>
          <p:cNvPr id="34" name="Text 32"/>
          <p:cNvSpPr/>
          <p:nvPr/>
        </p:nvSpPr>
        <p:spPr>
          <a:xfrm>
            <a:off x="7671816" y="2953512"/>
            <a:ext cx="1709928" cy="15819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logs + benchmarks</a:t>
            </a:r>
            <a:endParaRPr lang="en-US" sz="1500" dirty="0"/>
          </a:p>
        </p:txBody>
      </p:sp>
      <p:sp>
        <p:nvSpPr>
          <p:cNvPr id="35" name="Shape 33"/>
          <p:cNvSpPr/>
          <p:nvPr/>
        </p:nvSpPr>
        <p:spPr>
          <a:xfrm>
            <a:off x="8842248" y="1728216"/>
            <a:ext cx="1444752" cy="0"/>
          </a:xfrm>
          <a:prstGeom prst="line">
            <a:avLst/>
          </a:prstGeom>
          <a:noFill/>
          <a:ln w="25400">
            <a:solidFill>
              <a:srgbClr val="5E6B78"/>
            </a:solidFill>
            <a:prstDash val="solid"/>
            <a:headEnd type="none"/>
            <a:tailEnd type="triangle"/>
          </a:ln>
        </p:spPr>
      </p:sp>
      <p:sp>
        <p:nvSpPr>
          <p:cNvPr id="36" name="Shape 34"/>
          <p:cNvSpPr/>
          <p:nvPr/>
        </p:nvSpPr>
        <p:spPr>
          <a:xfrm>
            <a:off x="10469880" y="1371600"/>
            <a:ext cx="713232" cy="713232"/>
          </a:xfrm>
          <a:prstGeom prst="ellipse">
            <a:avLst/>
          </a:prstGeom>
          <a:solidFill>
            <a:srgbClr val="3A8D63"/>
          </a:solidFill>
          <a:ln w="12700">
            <a:solidFill>
              <a:srgbClr val="3A8D63">
                <a:alpha val="0"/>
              </a:srgbClr>
            </a:solidFill>
            <a:prstDash val="solid"/>
          </a:ln>
        </p:spPr>
      </p:sp>
      <p:sp>
        <p:nvSpPr>
          <p:cNvPr id="37" name="Text 35"/>
          <p:cNvSpPr/>
          <p:nvPr/>
        </p:nvSpPr>
        <p:spPr>
          <a:xfrm>
            <a:off x="10469880" y="1545336"/>
            <a:ext cx="713232" cy="31089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5</a:t>
            </a:r>
            <a:endParaRPr lang="en-US" sz="1800" dirty="0"/>
          </a:p>
        </p:txBody>
      </p:sp>
      <p:sp>
        <p:nvSpPr>
          <p:cNvPr id="38" name="Shape 36"/>
          <p:cNvSpPr/>
          <p:nvPr/>
        </p:nvSpPr>
        <p:spPr>
          <a:xfrm>
            <a:off x="9802368" y="2423160"/>
            <a:ext cx="2057400" cy="2240280"/>
          </a:xfrm>
          <a:prstGeom prst="roundRect">
            <a:avLst>
              <a:gd name="adj" fmla="val 3556"/>
            </a:avLst>
          </a:prstGeom>
          <a:solidFill>
            <a:srgbClr val="FFFFFF"/>
          </a:solidFill>
          <a:ln w="12700">
            <a:solidFill>
              <a:srgbClr val="D7E0E7"/>
            </a:solidFill>
            <a:prstDash val="solid"/>
          </a:ln>
        </p:spPr>
      </p:sp>
      <p:sp>
        <p:nvSpPr>
          <p:cNvPr id="39" name="Shape 37"/>
          <p:cNvSpPr/>
          <p:nvPr/>
        </p:nvSpPr>
        <p:spPr>
          <a:xfrm>
            <a:off x="9802368" y="2423160"/>
            <a:ext cx="64008" cy="2240280"/>
          </a:xfrm>
          <a:prstGeom prst="rect">
            <a:avLst/>
          </a:prstGeom>
          <a:solidFill>
            <a:srgbClr val="3A8D63"/>
          </a:solidFill>
          <a:ln w="12700">
            <a:solidFill>
              <a:srgbClr val="3A8D63">
                <a:alpha val="0"/>
              </a:srgbClr>
            </a:solidFill>
            <a:prstDash val="solid"/>
          </a:ln>
        </p:spPr>
      </p:sp>
      <p:sp>
        <p:nvSpPr>
          <p:cNvPr id="40" name="Text 38"/>
          <p:cNvSpPr/>
          <p:nvPr/>
        </p:nvSpPr>
        <p:spPr>
          <a:xfrm>
            <a:off x="10003536" y="25694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Validate</a:t>
            </a:r>
            <a:endParaRPr lang="en-US" sz="1700" dirty="0"/>
          </a:p>
        </p:txBody>
      </p:sp>
      <p:sp>
        <p:nvSpPr>
          <p:cNvPr id="41" name="Text 39"/>
          <p:cNvSpPr/>
          <p:nvPr/>
        </p:nvSpPr>
        <p:spPr>
          <a:xfrm>
            <a:off x="10003536" y="2953512"/>
            <a:ext cx="1709928" cy="158191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scientific checks</a:t>
            </a:r>
            <a:endParaRPr lang="en-US" sz="1500" dirty="0"/>
          </a:p>
        </p:txBody>
      </p:sp>
      <p:sp>
        <p:nvSpPr>
          <p:cNvPr id="42" name="Text 40"/>
          <p:cNvSpPr/>
          <p:nvPr/>
        </p:nvSpPr>
        <p:spPr>
          <a:xfrm>
            <a:off x="1828800" y="5212080"/>
            <a:ext cx="8503920" cy="347472"/>
          </a:xfrm>
          <a:prstGeom prst="rect">
            <a:avLst/>
          </a:prstGeom>
          <a:noFill/>
          <a:ln/>
        </p:spPr>
        <p:txBody>
          <a:bodyPr wrap="square" lIns="0" tIns="0" rIns="0" bIns="0" rtlCol="0" anchor="ctr">
            <a:normAutofit/>
          </a:bodyPr>
          <a:lstStyle/>
          <a:p>
            <a:pPr algn="ctr" indent="0" marL="0">
              <a:buNone/>
            </a:pPr>
            <a:r>
              <a:rPr lang="en-US" sz="1900" b="1" dirty="0">
                <a:solidFill>
                  <a:srgbClr val="17324D"/>
                </a:solidFill>
                <a:latin typeface="Liberation Sans" pitchFamily="34" charset="0"/>
                <a:ea typeface="Liberation Sans" pitchFamily="34" charset="-122"/>
                <a:cs typeface="Liberation Sans" pitchFamily="34" charset="-120"/>
              </a:rPr>
              <a:t>Success = correct files + correct states + plausible scientific content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10. Git records changes - not sensitive data</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Version workflow logic, configuration, and documentation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11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685800" y="1325880"/>
            <a:ext cx="5212080" cy="4297680"/>
          </a:xfrm>
          <a:prstGeom prst="roundRect">
            <a:avLst>
              <a:gd name="adj" fmla="val 1702"/>
            </a:avLst>
          </a:prstGeom>
          <a:solidFill>
            <a:srgbClr val="F7FCF9"/>
          </a:solidFill>
          <a:ln w="12700">
            <a:solidFill>
              <a:srgbClr val="D7E0E7"/>
            </a:solidFill>
            <a:prstDash val="solid"/>
          </a:ln>
        </p:spPr>
      </p:sp>
      <p:sp>
        <p:nvSpPr>
          <p:cNvPr id="9" name="Shape 7"/>
          <p:cNvSpPr/>
          <p:nvPr/>
        </p:nvSpPr>
        <p:spPr>
          <a:xfrm>
            <a:off x="685800" y="1325880"/>
            <a:ext cx="64008" cy="4297680"/>
          </a:xfrm>
          <a:prstGeom prst="rect">
            <a:avLst/>
          </a:prstGeom>
          <a:solidFill>
            <a:srgbClr val="3A8D63"/>
          </a:solidFill>
          <a:ln w="12700">
            <a:solidFill>
              <a:srgbClr val="3A8D63">
                <a:alpha val="0"/>
              </a:srgbClr>
            </a:solidFill>
            <a:prstDash val="solid"/>
          </a:ln>
        </p:spPr>
      </p:sp>
      <p:sp>
        <p:nvSpPr>
          <p:cNvPr id="10" name="Text 8"/>
          <p:cNvSpPr/>
          <p:nvPr/>
        </p:nvSpPr>
        <p:spPr>
          <a:xfrm>
            <a:off x="886968" y="1472184"/>
            <a:ext cx="4864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COMMIT</a:t>
            </a:r>
            <a:endParaRPr lang="en-US" sz="1700" dirty="0"/>
          </a:p>
        </p:txBody>
      </p:sp>
      <p:sp>
        <p:nvSpPr>
          <p:cNvPr id="11" name="Text 9"/>
          <p:cNvSpPr/>
          <p:nvPr/>
        </p:nvSpPr>
        <p:spPr>
          <a:xfrm>
            <a:off x="886968" y="1856232"/>
            <a:ext cx="4864608" cy="363931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Snakefile and rules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scripts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environment definitions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configuration templates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README and methods notes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small synthetic test data</a:t>
            </a:r>
            <a:endParaRPr lang="en-US" sz="1800" dirty="0"/>
          </a:p>
        </p:txBody>
      </p:sp>
      <p:sp>
        <p:nvSpPr>
          <p:cNvPr id="12" name="Shape 10"/>
          <p:cNvSpPr/>
          <p:nvPr/>
        </p:nvSpPr>
        <p:spPr>
          <a:xfrm>
            <a:off x="6291072" y="1325880"/>
            <a:ext cx="5212080" cy="4297680"/>
          </a:xfrm>
          <a:prstGeom prst="roundRect">
            <a:avLst>
              <a:gd name="adj" fmla="val 1702"/>
            </a:avLst>
          </a:prstGeom>
          <a:solidFill>
            <a:srgbClr val="FFF9F8"/>
          </a:solidFill>
          <a:ln w="12700">
            <a:solidFill>
              <a:srgbClr val="D7E0E7"/>
            </a:solidFill>
            <a:prstDash val="solid"/>
          </a:ln>
        </p:spPr>
      </p:sp>
      <p:sp>
        <p:nvSpPr>
          <p:cNvPr id="13" name="Shape 11"/>
          <p:cNvSpPr/>
          <p:nvPr/>
        </p:nvSpPr>
        <p:spPr>
          <a:xfrm>
            <a:off x="6291072" y="1325880"/>
            <a:ext cx="64008" cy="4297680"/>
          </a:xfrm>
          <a:prstGeom prst="rect">
            <a:avLst/>
          </a:prstGeom>
          <a:solidFill>
            <a:srgbClr val="B23B3B"/>
          </a:solidFill>
          <a:ln w="12700">
            <a:solidFill>
              <a:srgbClr val="B23B3B">
                <a:alpha val="0"/>
              </a:srgbClr>
            </a:solidFill>
            <a:prstDash val="solid"/>
          </a:ln>
        </p:spPr>
      </p:sp>
      <p:sp>
        <p:nvSpPr>
          <p:cNvPr id="14" name="Text 12"/>
          <p:cNvSpPr/>
          <p:nvPr/>
        </p:nvSpPr>
        <p:spPr>
          <a:xfrm>
            <a:off x="6492240" y="1472184"/>
            <a:ext cx="4864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DO NOT COMMIT</a:t>
            </a:r>
            <a:endParaRPr lang="en-US" sz="1700" dirty="0"/>
          </a:p>
        </p:txBody>
      </p:sp>
      <p:sp>
        <p:nvSpPr>
          <p:cNvPr id="15" name="Text 13"/>
          <p:cNvSpPr/>
          <p:nvPr/>
        </p:nvSpPr>
        <p:spPr>
          <a:xfrm>
            <a:off x="6492240" y="1856232"/>
            <a:ext cx="4864608" cy="363931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patient identifiers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private SSH keys or tokens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raw biomedical data</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large generated results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passwords and secrets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unapproved reference data</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11. Part Two completion checklist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reproducible small workflow before scaling up</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2</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12 / 12</a:t>
            </a:r>
            <a:endParaRPr lang="en-US" sz="900" dirty="0"/>
          </a:p>
        </p:txBody>
      </p:sp>
      <p:sp>
        <p:nvSpPr>
          <p:cNvPr id="7" name="Shape 5"/>
          <p:cNvSpPr/>
          <p:nvPr/>
        </p:nvSpPr>
        <p:spPr>
          <a:xfrm>
            <a:off x="411480" y="6510528"/>
            <a:ext cx="502920" cy="27432"/>
          </a:xfrm>
          <a:prstGeom prst="rect">
            <a:avLst/>
          </a:prstGeom>
          <a:solidFill>
            <a:srgbClr val="2C6EAF"/>
          </a:solidFill>
          <a:ln w="12700">
            <a:solidFill>
              <a:srgbClr val="2C6EAF">
                <a:alpha val="0"/>
              </a:srgbClr>
            </a:solidFill>
            <a:prstDash val="solid"/>
          </a:ln>
        </p:spPr>
      </p:sp>
      <p:sp>
        <p:nvSpPr>
          <p:cNvPr id="8" name="Shape 6"/>
          <p:cNvSpPr/>
          <p:nvPr/>
        </p:nvSpPr>
        <p:spPr>
          <a:xfrm>
            <a:off x="594360" y="1325880"/>
            <a:ext cx="365760" cy="365760"/>
          </a:xfrm>
          <a:prstGeom prst="ellipse">
            <a:avLst/>
          </a:prstGeom>
          <a:solidFill>
            <a:srgbClr val="3A8D63"/>
          </a:solidFill>
          <a:ln w="12700">
            <a:solidFill>
              <a:srgbClr val="3A8D63">
                <a:alpha val="0"/>
              </a:srgbClr>
            </a:solidFill>
            <a:prstDash val="solid"/>
          </a:ln>
        </p:spPr>
      </p:sp>
      <p:sp>
        <p:nvSpPr>
          <p:cNvPr id="9" name="Text 7"/>
          <p:cNvSpPr/>
          <p:nvPr/>
        </p:nvSpPr>
        <p:spPr>
          <a:xfrm>
            <a:off x="594360" y="134416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0" name="Text 8"/>
          <p:cNvSpPr/>
          <p:nvPr/>
        </p:nvSpPr>
        <p:spPr>
          <a:xfrm>
            <a:off x="1115568" y="129844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Project structure is explicit</a:t>
            </a:r>
            <a:endParaRPr lang="en-US" sz="1650" dirty="0"/>
          </a:p>
        </p:txBody>
      </p:sp>
      <p:sp>
        <p:nvSpPr>
          <p:cNvPr id="11" name="Shape 9"/>
          <p:cNvSpPr/>
          <p:nvPr/>
        </p:nvSpPr>
        <p:spPr>
          <a:xfrm>
            <a:off x="4434840" y="1325880"/>
            <a:ext cx="365760" cy="365760"/>
          </a:xfrm>
          <a:prstGeom prst="ellipse">
            <a:avLst/>
          </a:prstGeom>
          <a:solidFill>
            <a:srgbClr val="3A8D63"/>
          </a:solidFill>
          <a:ln w="12700">
            <a:solidFill>
              <a:srgbClr val="3A8D63">
                <a:alpha val="0"/>
              </a:srgbClr>
            </a:solidFill>
            <a:prstDash val="solid"/>
          </a:ln>
        </p:spPr>
      </p:sp>
      <p:sp>
        <p:nvSpPr>
          <p:cNvPr id="12" name="Text 10"/>
          <p:cNvSpPr/>
          <p:nvPr/>
        </p:nvSpPr>
        <p:spPr>
          <a:xfrm>
            <a:off x="4434840" y="134416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3" name="Text 11"/>
          <p:cNvSpPr/>
          <p:nvPr/>
        </p:nvSpPr>
        <p:spPr>
          <a:xfrm>
            <a:off x="4956048" y="129844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Raw inputs are read-only</a:t>
            </a:r>
            <a:endParaRPr lang="en-US" sz="1650" dirty="0"/>
          </a:p>
        </p:txBody>
      </p:sp>
      <p:sp>
        <p:nvSpPr>
          <p:cNvPr id="14" name="Shape 12"/>
          <p:cNvSpPr/>
          <p:nvPr/>
        </p:nvSpPr>
        <p:spPr>
          <a:xfrm>
            <a:off x="8275320" y="1325880"/>
            <a:ext cx="365760" cy="365760"/>
          </a:xfrm>
          <a:prstGeom prst="ellipse">
            <a:avLst/>
          </a:prstGeom>
          <a:solidFill>
            <a:srgbClr val="3A8D63"/>
          </a:solidFill>
          <a:ln w="12700">
            <a:solidFill>
              <a:srgbClr val="3A8D63">
                <a:alpha val="0"/>
              </a:srgbClr>
            </a:solidFill>
            <a:prstDash val="solid"/>
          </a:ln>
        </p:spPr>
      </p:sp>
      <p:sp>
        <p:nvSpPr>
          <p:cNvPr id="15" name="Text 13"/>
          <p:cNvSpPr/>
          <p:nvPr/>
        </p:nvSpPr>
        <p:spPr>
          <a:xfrm>
            <a:off x="8275320" y="134416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6" name="Text 14"/>
          <p:cNvSpPr/>
          <p:nvPr/>
        </p:nvSpPr>
        <p:spPr>
          <a:xfrm>
            <a:off x="8796528" y="129844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Software is declared</a:t>
            </a:r>
            <a:endParaRPr lang="en-US" sz="1650" dirty="0"/>
          </a:p>
        </p:txBody>
      </p:sp>
      <p:sp>
        <p:nvSpPr>
          <p:cNvPr id="17" name="Shape 15"/>
          <p:cNvSpPr/>
          <p:nvPr/>
        </p:nvSpPr>
        <p:spPr>
          <a:xfrm>
            <a:off x="594360" y="2560320"/>
            <a:ext cx="365760" cy="365760"/>
          </a:xfrm>
          <a:prstGeom prst="ellipse">
            <a:avLst/>
          </a:prstGeom>
          <a:solidFill>
            <a:srgbClr val="3A8D63"/>
          </a:solidFill>
          <a:ln w="12700">
            <a:solidFill>
              <a:srgbClr val="3A8D63">
                <a:alpha val="0"/>
              </a:srgbClr>
            </a:solidFill>
            <a:prstDash val="solid"/>
          </a:ln>
        </p:spPr>
      </p:sp>
      <p:sp>
        <p:nvSpPr>
          <p:cNvPr id="18" name="Text 16"/>
          <p:cNvSpPr/>
          <p:nvPr/>
        </p:nvSpPr>
        <p:spPr>
          <a:xfrm>
            <a:off x="594360" y="257860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9" name="Text 17"/>
          <p:cNvSpPr/>
          <p:nvPr/>
        </p:nvSpPr>
        <p:spPr>
          <a:xfrm>
            <a:off x="1115568" y="253288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Dry run is understood</a:t>
            </a:r>
            <a:endParaRPr lang="en-US" sz="1650" dirty="0"/>
          </a:p>
        </p:txBody>
      </p:sp>
      <p:sp>
        <p:nvSpPr>
          <p:cNvPr id="20" name="Shape 18"/>
          <p:cNvSpPr/>
          <p:nvPr/>
        </p:nvSpPr>
        <p:spPr>
          <a:xfrm>
            <a:off x="4434840" y="2560320"/>
            <a:ext cx="365760" cy="365760"/>
          </a:xfrm>
          <a:prstGeom prst="ellipse">
            <a:avLst/>
          </a:prstGeom>
          <a:solidFill>
            <a:srgbClr val="3A8D63"/>
          </a:solidFill>
          <a:ln w="12700">
            <a:solidFill>
              <a:srgbClr val="3A8D63">
                <a:alpha val="0"/>
              </a:srgbClr>
            </a:solidFill>
            <a:prstDash val="solid"/>
          </a:ln>
        </p:spPr>
      </p:sp>
      <p:sp>
        <p:nvSpPr>
          <p:cNvPr id="21" name="Text 19"/>
          <p:cNvSpPr/>
          <p:nvPr/>
        </p:nvSpPr>
        <p:spPr>
          <a:xfrm>
            <a:off x="4434840" y="257860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2" name="Text 20"/>
          <p:cNvSpPr/>
          <p:nvPr/>
        </p:nvSpPr>
        <p:spPr>
          <a:xfrm>
            <a:off x="4956048" y="253288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Rules request Slurm resources</a:t>
            </a:r>
            <a:endParaRPr lang="en-US" sz="1650" dirty="0"/>
          </a:p>
        </p:txBody>
      </p:sp>
      <p:sp>
        <p:nvSpPr>
          <p:cNvPr id="23" name="Shape 21"/>
          <p:cNvSpPr/>
          <p:nvPr/>
        </p:nvSpPr>
        <p:spPr>
          <a:xfrm>
            <a:off x="8275320" y="2560320"/>
            <a:ext cx="365760" cy="365760"/>
          </a:xfrm>
          <a:prstGeom prst="ellipse">
            <a:avLst/>
          </a:prstGeom>
          <a:solidFill>
            <a:srgbClr val="3A8D63"/>
          </a:solidFill>
          <a:ln w="12700">
            <a:solidFill>
              <a:srgbClr val="3A8D63">
                <a:alpha val="0"/>
              </a:srgbClr>
            </a:solidFill>
            <a:prstDash val="solid"/>
          </a:ln>
        </p:spPr>
      </p:sp>
      <p:sp>
        <p:nvSpPr>
          <p:cNvPr id="24" name="Text 22"/>
          <p:cNvSpPr/>
          <p:nvPr/>
        </p:nvSpPr>
        <p:spPr>
          <a:xfrm>
            <a:off x="8275320" y="257860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5" name="Text 23"/>
          <p:cNvSpPr/>
          <p:nvPr/>
        </p:nvSpPr>
        <p:spPr>
          <a:xfrm>
            <a:off x="8796528" y="253288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Statistics begin with validation</a:t>
            </a:r>
            <a:endParaRPr lang="en-US" sz="1650" dirty="0"/>
          </a:p>
        </p:txBody>
      </p:sp>
      <p:sp>
        <p:nvSpPr>
          <p:cNvPr id="26" name="Shape 24"/>
          <p:cNvSpPr/>
          <p:nvPr/>
        </p:nvSpPr>
        <p:spPr>
          <a:xfrm>
            <a:off x="594360" y="3794760"/>
            <a:ext cx="365760" cy="365760"/>
          </a:xfrm>
          <a:prstGeom prst="ellipse">
            <a:avLst/>
          </a:prstGeom>
          <a:solidFill>
            <a:srgbClr val="3A8D63"/>
          </a:solidFill>
          <a:ln w="12700">
            <a:solidFill>
              <a:srgbClr val="3A8D63">
                <a:alpha val="0"/>
              </a:srgbClr>
            </a:solidFill>
            <a:prstDash val="solid"/>
          </a:ln>
        </p:spPr>
      </p:sp>
      <p:sp>
        <p:nvSpPr>
          <p:cNvPr id="27" name="Text 25"/>
          <p:cNvSpPr/>
          <p:nvPr/>
        </p:nvSpPr>
        <p:spPr>
          <a:xfrm>
            <a:off x="594360" y="381304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8" name="Text 26"/>
          <p:cNvSpPr/>
          <p:nvPr/>
        </p:nvSpPr>
        <p:spPr>
          <a:xfrm>
            <a:off x="1115568" y="376732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Sequence formats are appropriate</a:t>
            </a:r>
            <a:endParaRPr lang="en-US" sz="1650" dirty="0"/>
          </a:p>
        </p:txBody>
      </p:sp>
      <p:sp>
        <p:nvSpPr>
          <p:cNvPr id="29" name="Shape 27"/>
          <p:cNvSpPr/>
          <p:nvPr/>
        </p:nvSpPr>
        <p:spPr>
          <a:xfrm>
            <a:off x="4434840" y="3794760"/>
            <a:ext cx="365760" cy="365760"/>
          </a:xfrm>
          <a:prstGeom prst="ellipse">
            <a:avLst/>
          </a:prstGeom>
          <a:solidFill>
            <a:srgbClr val="3A8D63"/>
          </a:solidFill>
          <a:ln w="12700">
            <a:solidFill>
              <a:srgbClr val="3A8D63">
                <a:alpha val="0"/>
              </a:srgbClr>
            </a:solidFill>
            <a:prstDash val="solid"/>
          </a:ln>
        </p:spPr>
      </p:sp>
      <p:sp>
        <p:nvSpPr>
          <p:cNvPr id="30" name="Text 28"/>
          <p:cNvSpPr/>
          <p:nvPr/>
        </p:nvSpPr>
        <p:spPr>
          <a:xfrm>
            <a:off x="4434840" y="381304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1" name="Text 29"/>
          <p:cNvSpPr/>
          <p:nvPr/>
        </p:nvSpPr>
        <p:spPr>
          <a:xfrm>
            <a:off x="4956048" y="376732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Logs and benchmarks exist</a:t>
            </a:r>
            <a:endParaRPr lang="en-US" sz="1650" dirty="0"/>
          </a:p>
        </p:txBody>
      </p:sp>
      <p:sp>
        <p:nvSpPr>
          <p:cNvPr id="32" name="Shape 30"/>
          <p:cNvSpPr/>
          <p:nvPr/>
        </p:nvSpPr>
        <p:spPr>
          <a:xfrm>
            <a:off x="8275320" y="3794760"/>
            <a:ext cx="365760" cy="365760"/>
          </a:xfrm>
          <a:prstGeom prst="ellipse">
            <a:avLst/>
          </a:prstGeom>
          <a:solidFill>
            <a:srgbClr val="3A8D63"/>
          </a:solidFill>
          <a:ln w="12700">
            <a:solidFill>
              <a:srgbClr val="3A8D63">
                <a:alpha val="0"/>
              </a:srgbClr>
            </a:solidFill>
            <a:prstDash val="solid"/>
          </a:ln>
        </p:spPr>
      </p:sp>
      <p:sp>
        <p:nvSpPr>
          <p:cNvPr id="33" name="Text 31"/>
          <p:cNvSpPr/>
          <p:nvPr/>
        </p:nvSpPr>
        <p:spPr>
          <a:xfrm>
            <a:off x="8275320" y="3813048"/>
            <a:ext cx="365760"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4" name="Text 32"/>
          <p:cNvSpPr/>
          <p:nvPr/>
        </p:nvSpPr>
        <p:spPr>
          <a:xfrm>
            <a:off x="8796528" y="3767328"/>
            <a:ext cx="3063240" cy="502920"/>
          </a:xfrm>
          <a:prstGeom prst="rect">
            <a:avLst/>
          </a:prstGeom>
          <a:noFill/>
          <a:ln/>
        </p:spPr>
        <p:txBody>
          <a:bodyPr wrap="square" lIns="0" tIns="0" rIns="0" bIns="0" rtlCol="0" anchor="ctr">
            <a:normAutofit/>
          </a:bodyPr>
          <a:lstStyle/>
          <a:p>
            <a:pPr algn="l" indent="0" marL="0">
              <a:buNone/>
            </a:pPr>
            <a:r>
              <a:rPr lang="en-US" sz="1650" b="1" dirty="0">
                <a:solidFill>
                  <a:srgbClr val="17324D"/>
                </a:solidFill>
                <a:latin typeface="Liberation Sans" pitchFamily="34" charset="0"/>
                <a:ea typeface="Liberation Sans" pitchFamily="34" charset="-122"/>
                <a:cs typeface="Liberation Sans" pitchFamily="34" charset="-120"/>
              </a:rPr>
              <a:t>Git excludes sensitive data</a:t>
            </a:r>
            <a:endParaRPr lang="en-US" sz="1650" dirty="0"/>
          </a:p>
        </p:txBody>
      </p:sp>
      <p:sp>
        <p:nvSpPr>
          <p:cNvPr id="35" name="Shape 33"/>
          <p:cNvSpPr/>
          <p:nvPr/>
        </p:nvSpPr>
        <p:spPr>
          <a:xfrm>
            <a:off x="1554480" y="5349240"/>
            <a:ext cx="9052560" cy="566928"/>
          </a:xfrm>
          <a:prstGeom prst="roundRect">
            <a:avLst/>
          </a:prstGeom>
          <a:solidFill>
            <a:srgbClr val="2C6EAF">
              <a:alpha val="8000"/>
            </a:srgbClr>
          </a:solidFill>
          <a:ln w="12700">
            <a:solidFill>
              <a:srgbClr val="2C6EAF">
                <a:alpha val="0"/>
              </a:srgbClr>
            </a:solidFill>
            <a:prstDash val="solid"/>
          </a:ln>
        </p:spPr>
      </p:sp>
      <p:sp>
        <p:nvSpPr>
          <p:cNvPr id="36" name="Text 34"/>
          <p:cNvSpPr/>
          <p:nvPr/>
        </p:nvSpPr>
        <p:spPr>
          <a:xfrm>
            <a:off x="1783080" y="5477256"/>
            <a:ext cx="8595360" cy="292608"/>
          </a:xfrm>
          <a:prstGeom prst="rect">
            <a:avLst/>
          </a:prstGeom>
          <a:noFill/>
          <a:ln/>
        </p:spPr>
        <p:txBody>
          <a:bodyPr wrap="square" lIns="0" tIns="0" rIns="0" bIns="0" rtlCol="0" anchor="ctr">
            <a:normAutofit/>
          </a:bodyPr>
          <a:lstStyle/>
          <a:p>
            <a:pPr algn="ctr" indent="0" marL="0">
              <a:buNone/>
            </a:pPr>
            <a:r>
              <a:rPr lang="en-US" sz="1700" b="1" dirty="0">
                <a:solidFill>
                  <a:srgbClr val="2C6EAF"/>
                </a:solidFill>
                <a:latin typeface="Liberation Sans" pitchFamily="34" charset="0"/>
                <a:ea typeface="Liberation Sans" pitchFamily="34" charset="-122"/>
                <a:cs typeface="Liberation Sans" pitchFamily="34" charset="-120"/>
              </a:rPr>
              <a:t>Next: CPU, GPU, RAM, storage, I/O, and bottleneck diagnosis.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Institute for AI in Medicine, University Hospital Essen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RCC Onboarding Part 2: Reproducible scientific workflows</dc:title>
  <dc:subject>Use environments, Snakemake, Slurm, and version control for statistical and DNA analysis.</dc:subject>
  <dc:creator>RCC / IKIM Essen</dc:creator>
  <cp:lastModifiedBy>RCC / IKIM Essen</cp:lastModifiedBy>
  <cp:revision>1</cp:revision>
  <dcterms:created xsi:type="dcterms:W3CDTF">2026-07-11T21:46:00Z</dcterms:created>
  <dcterms:modified xsi:type="dcterms:W3CDTF">2026-07-11T21:46:00Z</dcterms:modified>
</cp:coreProperties>
</file>