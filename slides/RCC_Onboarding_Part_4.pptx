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introduces containers using Apptainer. Containers package an application and its libraries into a portable image. On RCC, the operational reason is especially important: a large Conda environment contains thousands of small files. If those files are repeatedly opened from network storage by many jobs, metadata and random input-output can dominate runtime. A read-only Apptainer S I F image consolidates that software stack into one managed artifact and is suitable for shared high-performance computing. We will distinguish the image from project data, explain cache and temporary storage, cover bind mounts and GPU access, and show how Snakemake associates a container with a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Conda environment can contain tens of thousands of files: Python modules, shared libraries, metadata records, executables, and package caches. Starting a command may trigger many opens, stats, library searches, and imports before useful computation begins. On local solid-state storage this may be acceptable. On shared network storage, hundreds of simultaneous jobs can turn environment startup into a metadata bottleneck. The result may look like slow software even though the CPU is mostly waiting. Containers address this by packaging the software stack into a smaller number of image artifacts and by making the environment immutable and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container image packages user-space software, libraries, and selected configuration. It does not include a separate hardware machine and normally shares the host Linux kernel. Apptainer is designed for multi-user high-performance computing and runs processes with the user identity rather than a privileged daemon model. The image is not the correct place for active project data, credentials, or patient information. Project inputs and outputs remain in approved storage and are made visible through explicit bind mounts. Containers improve reproducibility of software, but they do not validate algorithms, reference data, parameters, or scientific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Apptainer commonly uses the Singularity Image Format, or S I F. A SIF image can contain a compressed read-only filesystem plus metadata and signatures. Read-only images reduce accidental drift: a job cannot silently install a different library into the image. The same image can be used by many jobs. Record the image source, digest or checksum, creation recipe, and validation status. Do not rely only on a floating tag such as latest. A container is a versioned research dependency and should be managed with the same care as a reference genome or analysis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 workflows involve several storage locations. The SIF image is a durable, versioned software artifact. The Apptainer cache stores downloaded layers and should use an RCC-approved path; uncontrolled caches on a shared home directory can consume space and create metadata traffic. Temporary build or extraction space should use local scratch when possible. Project data remains in approved shared storage and is bound into the container. Distinguishing these locations prevents accidental data loss and avoids turning network storage into a scratch disk. The RCC should publish standard environment variables and paths for image stores, caches, and temporary directories.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run images from trusted sources or images built from reviewed definitions. Prefer immutable digests over floating tags. Calculate and record a checksum for a SIF image when it is transferred. Inspect image metadata and labels. Record the base image, installed package versions, build date, and definition file. Scan or review images according to institutional policy. Most importantly, validate the scientific behavior with synthetic and reference data. A correctly signed image can still contain an unsuitable algorithm, outdated database, or incorrect default parameter. Trust has both a software-supply-chain component and a scientific-validation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Apptainer exec runs a command inside an image. Start with a harmless version check, then a small synthetic test. The clean environment option reduces accidental inheritance of host variables that could change behavior. The contain-all or site-recommended isolation options may be appropriate depending on policy. Record the full command in the workflow log. Avoid interactive changes inside writable sandboxes for production work because those changes are difficult to reproduce. If a command depends on locale, threads, temporary paths, or license variables, declare them explicitly and document why they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bind mount makes a host path visible at a chosen path inside the container. Bind source data read-only whenever possible. Bind a dedicated result directory read-write. Bind node-local scratch for temporary work. Avoid binding your entire home directory merely for convenience, because that makes hidden configuration and credentials visible and reduces reproducibility. Use stable internal paths such as slash data, slash results, and slash tmp so the command is independent of the host project layout. Verify ownership and permissions before starting thousands of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container does not make random network input-output fast. The executable may be packaged efficiently, but inputs, outputs, caches, and temporary files still follow the underlying storage behavior. Keep compressed inputs compressed when supported. Stage files that require random access or many temporary writes to node-local scratch. Avoid writing package caches or application caches into the project directory. Limit the number of tiny output files and organize directories. A container can even make performance worse if every job independently pulls an image from a registry. Pre-stage approved images and use a shared read-only image location or an RCC-supported cache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GPU job, request the GPU through Slurm and run Apptainer with the N V option so the relevant NVIDIA devices and host driver libraries are available inside the container. The image should contain compatible user-space frameworks such as CUDA-enabled PyTorch or TensorFlow, but it should not attempt to replace the host kernel driver. Test compatibility on a small allocation and use nvidia-smi both on the host allocation and, where appropriate, inside the container. Record image digest, GPU type, driver, framework version, and command. GPU access does not change the need to optimize data loading and batch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Snakemake can associate a container image with a rule and execute the workflow using the Apptainer deployment method. This places the software dependency next to the declared inputs, outputs, threads, resources, log, and command. Use an RCC-supported Apptainer prefix or image store so jobs do not repeatedly download images. The rule should still use tmpdir or a shadow pattern when the tool needs local temporary work. Pin the image to an immutable digest or version and record it in reports. Test both the workflow logic and the image before scaling to production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production image should be built from a version-controlled Apptainer definition file or an equivalent reviewed recipe. Build in an approved environment, because image construction may require privileges or a remote builder. Record base images and package versions. Run automated smoke tests, workflow tests with synthetic data, and scientific validation. Publish the image to an approved registry or image store, record the digest, and make it read-only. Rebuild through the recipe rather than modifying an existing image. Deprecate images that contain security problems or obsolete references, but preserve provenance for completed analyses.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container rules are these. Use trusted, immutable SIF images. Record source, digest, build recipe, and validation. Keep project data outside the image. Bind source data read-only, results deliberately, and temporary space to local scratch. Place caches and images in RCC-approved locations. Use clean environments and explicit commands. Request GPUs through Slurm and use the Apptainer GPU option only for compatible images. In Snakemake, pin the container per rule or workflow and avoid repeated pulls. Remember that containers improve software reproducibility and startup I/O, but good data input-output patterns, performance measurement, and scientific validation remain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6F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7057A3"/>
          </a:solidFill>
          <a:ln w="12700">
            <a:solidFill>
              <a:srgbClr val="7057A3">
                <a:alpha val="0"/>
              </a:srgbClr>
            </a:solidFill>
            <a:prstDash val="solid"/>
          </a:ln>
        </p:spPr>
      </p:sp>
      <p:sp>
        <p:nvSpPr>
          <p:cNvPr id="3" name="Shape 1"/>
          <p:cNvSpPr/>
          <p:nvPr/>
        </p:nvSpPr>
        <p:spPr>
          <a:xfrm>
            <a:off x="228600" y="228600"/>
            <a:ext cx="11734495" cy="6400800"/>
          </a:xfrm>
          <a:prstGeom prst="rect">
            <a:avLst/>
          </a:prstGeom>
          <a:solidFill>
            <a:srgbClr val="FFFFFF">
              <a:alpha val="0"/>
            </a:srgbClr>
          </a:solidFill>
          <a:ln w="12700">
            <a:solidFill>
              <a:srgbClr val="FFFFFF">
                <a:alpha val="0"/>
              </a:srgbClr>
            </a:solidFill>
            <a:prstDash val="solid"/>
          </a:ln>
        </p:spPr>
      </p:sp>
      <p:sp>
        <p:nvSpPr>
          <p:cNvPr id="4" name="Text 2"/>
          <p:cNvSpPr/>
          <p:nvPr/>
        </p:nvSpPr>
        <p:spPr>
          <a:xfrm>
            <a:off x="914400" y="685800"/>
            <a:ext cx="2011680" cy="347472"/>
          </a:xfrm>
          <a:prstGeom prst="rect">
            <a:avLst/>
          </a:prstGeom>
          <a:noFill/>
          <a:ln/>
        </p:spPr>
        <p:txBody>
          <a:bodyPr wrap="square" lIns="0" tIns="0" rIns="0" bIns="0" rtlCol="0" anchor="ctr">
            <a:normAutofit/>
          </a:bodyPr>
          <a:lstStyle/>
          <a:p>
            <a:pPr algn="l" indent="0" marL="0">
              <a:buNone/>
            </a:pPr>
            <a:r>
              <a:rPr lang="en-US" sz="1600" b="1" spc="250" kern="0" dirty="0">
                <a:solidFill>
                  <a:srgbClr val="FFFFFF"/>
                </a:solidFill>
                <a:latin typeface="Liberation Sans" pitchFamily="34" charset="0"/>
                <a:ea typeface="Liberation Sans" pitchFamily="34" charset="-122"/>
                <a:cs typeface="Liberation Sans" pitchFamily="34" charset="-120"/>
              </a:rPr>
              <a:t>PART 4</a:t>
            </a:r>
            <a:endParaRPr lang="en-US" sz="1600" dirty="0"/>
          </a:p>
        </p:txBody>
      </p:sp>
      <p:sp>
        <p:nvSpPr>
          <p:cNvPr id="5" name="Text 3"/>
          <p:cNvSpPr/>
          <p:nvPr/>
        </p:nvSpPr>
        <p:spPr>
          <a:xfrm>
            <a:off x="914400" y="1234440"/>
            <a:ext cx="9966960" cy="1097280"/>
          </a:xfrm>
          <a:prstGeom prst="rect">
            <a:avLst/>
          </a:prstGeom>
          <a:noFill/>
          <a:ln/>
        </p:spPr>
        <p:txBody>
          <a:bodyPr wrap="square" lIns="0" tIns="0" rIns="0" bIns="0" rtlCol="0" anchor="t">
            <a:normAutofit/>
          </a:bodyPr>
          <a:lstStyle/>
          <a:p>
            <a:pPr algn="l" indent="0" marL="0">
              <a:buNone/>
            </a:pPr>
            <a:r>
              <a:rPr lang="en-US" sz="3400" b="1" dirty="0">
                <a:solidFill>
                  <a:srgbClr val="FFFFFF"/>
                </a:solidFill>
                <a:latin typeface="Liberation Sans" pitchFamily="34" charset="0"/>
                <a:ea typeface="Liberation Sans" pitchFamily="34" charset="-122"/>
                <a:cs typeface="Liberation Sans" pitchFamily="34" charset="-120"/>
              </a:rPr>
              <a:t>Containers with Apptainer</a:t>
            </a:r>
            <a:endParaRPr lang="en-US" sz="3400" dirty="0"/>
          </a:p>
        </p:txBody>
      </p:sp>
      <p:sp>
        <p:nvSpPr>
          <p:cNvPr id="6" name="Text 4"/>
          <p:cNvSpPr/>
          <p:nvPr/>
        </p:nvSpPr>
        <p:spPr>
          <a:xfrm>
            <a:off x="932688" y="2487168"/>
            <a:ext cx="9601200" cy="822960"/>
          </a:xfrm>
          <a:prstGeom prst="rect">
            <a:avLst/>
          </a:prstGeom>
          <a:noFill/>
          <a:ln/>
        </p:spPr>
        <p:txBody>
          <a:bodyPr wrap="square" lIns="0" tIns="0" rIns="0" bIns="0" rtlCol="0" anchor="t">
            <a:normAutofit/>
          </a:bodyPr>
          <a:lstStyle/>
          <a:p>
            <a:pPr algn="l" indent="0" marL="0">
              <a:buNone/>
            </a:pPr>
            <a:r>
              <a:rPr lang="en-US" sz="1900" dirty="0">
                <a:solidFill>
                  <a:srgbClr val="FFFFFF"/>
                </a:solidFill>
                <a:latin typeface="Liberation Sans" pitchFamily="34" charset="0"/>
                <a:ea typeface="Liberation Sans" pitchFamily="34" charset="-122"/>
                <a:cs typeface="Liberation Sans" pitchFamily="34" charset="-120"/>
              </a:rPr>
              <a:t>Package software reproducibly while keeping network storage out of the small-file hot path.</a:t>
            </a:r>
            <a:endParaRPr lang="en-US" sz="1900" dirty="0"/>
          </a:p>
        </p:txBody>
      </p:sp>
      <p:sp>
        <p:nvSpPr>
          <p:cNvPr id="7" name="Shape 5"/>
          <p:cNvSpPr/>
          <p:nvPr/>
        </p:nvSpPr>
        <p:spPr>
          <a:xfrm>
            <a:off x="914400" y="3977640"/>
            <a:ext cx="5120640" cy="1051560"/>
          </a:xfrm>
          <a:prstGeom prst="roundRect">
            <a:avLst/>
          </a:prstGeom>
          <a:solidFill>
            <a:srgbClr val="FFFFFF">
              <a:alpha val="12000"/>
            </a:srgbClr>
          </a:solidFill>
          <a:ln w="12700">
            <a:solidFill>
              <a:srgbClr val="FFFFFF">
                <a:alpha val="25000"/>
              </a:srgbClr>
            </a:solidFill>
            <a:prstDash val="solid"/>
          </a:ln>
        </p:spPr>
      </p:sp>
      <p:sp>
        <p:nvSpPr>
          <p:cNvPr id="8" name="Text 6"/>
          <p:cNvSpPr/>
          <p:nvPr/>
        </p:nvSpPr>
        <p:spPr>
          <a:xfrm>
            <a:off x="1170432" y="4187952"/>
            <a:ext cx="4617720" cy="658368"/>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Liberation Sans" pitchFamily="34" charset="0"/>
                <a:ea typeface="Liberation Sans" pitchFamily="34" charset="-122"/>
                <a:cs typeface="Liberation Sans" pitchFamily="34" charset="-120"/>
              </a:rPr>
              <a:t>Outcome: run trusted Apptainer images manually and from Snakemake with deliberate binds, cache, scratch, and provenance.</a:t>
            </a:r>
            <a:endParaRPr lang="en-US" sz="1600" dirty="0"/>
          </a:p>
        </p:txBody>
      </p:sp>
      <p:sp>
        <p:nvSpPr>
          <p:cNvPr id="9" name="Text 7"/>
          <p:cNvSpPr/>
          <p:nvPr/>
        </p:nvSpPr>
        <p:spPr>
          <a:xfrm>
            <a:off x="932688" y="5852160"/>
            <a:ext cx="7955280" cy="320040"/>
          </a:xfrm>
          <a:prstGeom prst="rect">
            <a:avLst/>
          </a:prstGeom>
          <a:noFill/>
          <a:ln/>
        </p:spPr>
        <p:txBody>
          <a:bodyPr wrap="square" lIns="0" tIns="0" rIns="0" bIns="0" rtlCol="0" anchor="ctr">
            <a:normAutofit/>
          </a:bodyPr>
          <a:lstStyle/>
          <a:p>
            <a:pPr algn="l" indent="0" marL="0">
              <a:buNone/>
            </a:pPr>
            <a:r>
              <a:rPr lang="en-US" sz="1300" dirty="0">
                <a:solidFill>
                  <a:srgbClr val="FFFFFF"/>
                </a:solidFill>
                <a:latin typeface="Liberation Sans" pitchFamily="34" charset="0"/>
                <a:ea typeface="Liberation Sans" pitchFamily="34" charset="-122"/>
                <a:cs typeface="Liberation Sans" pitchFamily="34" charset="-120"/>
              </a:rPr>
              <a:t>For biomedical researchers new to distributed computing</a:t>
            </a:r>
            <a:endParaRPr lang="en-US" sz="1300" dirty="0"/>
          </a:p>
        </p:txBody>
      </p:sp>
      <p:sp>
        <p:nvSpPr>
          <p:cNvPr id="10" name="Text 8"/>
          <p:cNvSpPr/>
          <p:nvPr/>
        </p:nvSpPr>
        <p:spPr>
          <a:xfrm>
            <a:off x="9326880" y="5852160"/>
            <a:ext cx="1920240" cy="320040"/>
          </a:xfrm>
          <a:prstGeom prst="rect">
            <a:avLst/>
          </a:prstGeom>
          <a:noFill/>
          <a:ln/>
        </p:spPr>
        <p:txBody>
          <a:bodyPr wrap="square" lIns="0" tIns="0" rIns="0" bIns="0" rtlCol="0" anchor="ctr">
            <a:normAutofit/>
          </a:bodyPr>
          <a:lstStyle/>
          <a:p>
            <a:pPr algn="r" indent="0" marL="0">
              <a:buNone/>
            </a:pPr>
            <a:r>
              <a:rPr lang="en-US" sz="1100" dirty="0">
                <a:solidFill>
                  <a:srgbClr val="FFFFFF"/>
                </a:solidFill>
                <a:latin typeface="Liberation Sans" pitchFamily="34" charset="0"/>
                <a:ea typeface="Liberation Sans" pitchFamily="34" charset="-122"/>
                <a:cs typeface="Liberation Sans" pitchFamily="34" charset="-120"/>
              </a:rPr>
              <a:t>RCC onboarding curriculum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 The problem: software can become an I/O workload</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Conda environments contain many small files and metadata operations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4</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2 / 13</a:t>
            </a:r>
            <a:endParaRPr lang="en-US" sz="900" dirty="0"/>
          </a:p>
        </p:txBody>
      </p:sp>
      <p:sp>
        <p:nvSpPr>
          <p:cNvPr id="7" name="Shape 5"/>
          <p:cNvSpPr/>
          <p:nvPr/>
        </p:nvSpPr>
        <p:spPr>
          <a:xfrm>
            <a:off x="411480" y="6510528"/>
            <a:ext cx="502920" cy="27432"/>
          </a:xfrm>
          <a:prstGeom prst="rect">
            <a:avLst/>
          </a:prstGeom>
          <a:solidFill>
            <a:srgbClr val="7057A3"/>
          </a:solidFill>
          <a:ln w="12700">
            <a:solidFill>
              <a:srgbClr val="7057A3">
                <a:alpha val="0"/>
              </a:srgbClr>
            </a:solidFill>
            <a:prstDash val="solid"/>
          </a:ln>
        </p:spPr>
      </p:sp>
      <p:sp>
        <p:nvSpPr>
          <p:cNvPr id="8" name="Shape 6"/>
          <p:cNvSpPr/>
          <p:nvPr/>
        </p:nvSpPr>
        <p:spPr>
          <a:xfrm>
            <a:off x="594360" y="1280160"/>
            <a:ext cx="5394960" cy="4480560"/>
          </a:xfrm>
          <a:prstGeom prst="roundRect">
            <a:avLst/>
          </a:prstGeom>
          <a:solidFill>
            <a:srgbClr val="FFF9F8"/>
          </a:solidFill>
          <a:ln w="15240">
            <a:solidFill>
              <a:srgbClr val="B23B3B"/>
            </a:solidFill>
            <a:prstDash val="solid"/>
          </a:ln>
        </p:spPr>
      </p:sp>
      <p:sp>
        <p:nvSpPr>
          <p:cNvPr id="9" name="Text 7"/>
          <p:cNvSpPr/>
          <p:nvPr/>
        </p:nvSpPr>
        <p:spPr>
          <a:xfrm>
            <a:off x="914400" y="1572768"/>
            <a:ext cx="4754880" cy="365760"/>
          </a:xfrm>
          <a:prstGeom prst="rect">
            <a:avLst/>
          </a:prstGeom>
          <a:noFill/>
          <a:ln/>
        </p:spPr>
        <p:txBody>
          <a:bodyPr wrap="square" lIns="0" tIns="0" rIns="0" bIns="0" rtlCol="0" anchor="ctr">
            <a:normAutofit/>
          </a:bodyPr>
          <a:lstStyle/>
          <a:p>
            <a:pPr algn="ctr" indent="0" marL="0">
              <a:buNone/>
            </a:pPr>
            <a:r>
              <a:rPr lang="en-US" sz="2000" b="1" dirty="0">
                <a:solidFill>
                  <a:srgbClr val="B23B3B"/>
                </a:solidFill>
                <a:latin typeface="Liberation Sans" pitchFamily="34" charset="0"/>
                <a:ea typeface="Liberation Sans" pitchFamily="34" charset="-122"/>
                <a:cs typeface="Liberation Sans" pitchFamily="34" charset="-120"/>
              </a:rPr>
              <a:t>NETWORK CONDA ENVIRONMENT</a:t>
            </a:r>
            <a:endParaRPr lang="en-US" sz="2000" dirty="0"/>
          </a:p>
        </p:txBody>
      </p:sp>
      <p:sp>
        <p:nvSpPr>
          <p:cNvPr id="10" name="Shape 8"/>
          <p:cNvSpPr/>
          <p:nvPr/>
        </p:nvSpPr>
        <p:spPr>
          <a:xfrm>
            <a:off x="914400" y="2148840"/>
            <a:ext cx="164592" cy="137160"/>
          </a:xfrm>
          <a:prstGeom prst="rect">
            <a:avLst/>
          </a:prstGeom>
          <a:solidFill>
            <a:srgbClr val="B23B3B">
              <a:alpha val="50000"/>
            </a:srgbClr>
          </a:solidFill>
          <a:ln w="5080">
            <a:solidFill>
              <a:srgbClr val="B23B3B">
                <a:alpha val="30000"/>
              </a:srgbClr>
            </a:solidFill>
            <a:prstDash val="solid"/>
          </a:ln>
        </p:spPr>
      </p:sp>
      <p:sp>
        <p:nvSpPr>
          <p:cNvPr id="11" name="Shape 9"/>
          <p:cNvSpPr/>
          <p:nvPr/>
        </p:nvSpPr>
        <p:spPr>
          <a:xfrm>
            <a:off x="1252728" y="2148840"/>
            <a:ext cx="164592" cy="137160"/>
          </a:xfrm>
          <a:prstGeom prst="rect">
            <a:avLst/>
          </a:prstGeom>
          <a:solidFill>
            <a:srgbClr val="B23B3B">
              <a:alpha val="50000"/>
            </a:srgbClr>
          </a:solidFill>
          <a:ln w="5080">
            <a:solidFill>
              <a:srgbClr val="B23B3B">
                <a:alpha val="30000"/>
              </a:srgbClr>
            </a:solidFill>
            <a:prstDash val="solid"/>
          </a:ln>
        </p:spPr>
      </p:sp>
      <p:sp>
        <p:nvSpPr>
          <p:cNvPr id="12" name="Shape 10"/>
          <p:cNvSpPr/>
          <p:nvPr/>
        </p:nvSpPr>
        <p:spPr>
          <a:xfrm>
            <a:off x="1591056" y="2148840"/>
            <a:ext cx="164592" cy="137160"/>
          </a:xfrm>
          <a:prstGeom prst="rect">
            <a:avLst/>
          </a:prstGeom>
          <a:solidFill>
            <a:srgbClr val="B23B3B">
              <a:alpha val="50000"/>
            </a:srgbClr>
          </a:solidFill>
          <a:ln w="5080">
            <a:solidFill>
              <a:srgbClr val="B23B3B">
                <a:alpha val="30000"/>
              </a:srgbClr>
            </a:solidFill>
            <a:prstDash val="solid"/>
          </a:ln>
        </p:spPr>
      </p:sp>
      <p:sp>
        <p:nvSpPr>
          <p:cNvPr id="13" name="Shape 11"/>
          <p:cNvSpPr/>
          <p:nvPr/>
        </p:nvSpPr>
        <p:spPr>
          <a:xfrm>
            <a:off x="1929384" y="2148840"/>
            <a:ext cx="164592" cy="137160"/>
          </a:xfrm>
          <a:prstGeom prst="rect">
            <a:avLst/>
          </a:prstGeom>
          <a:solidFill>
            <a:srgbClr val="B23B3B">
              <a:alpha val="50000"/>
            </a:srgbClr>
          </a:solidFill>
          <a:ln w="5080">
            <a:solidFill>
              <a:srgbClr val="B23B3B">
                <a:alpha val="30000"/>
              </a:srgbClr>
            </a:solidFill>
            <a:prstDash val="solid"/>
          </a:ln>
        </p:spPr>
      </p:sp>
      <p:sp>
        <p:nvSpPr>
          <p:cNvPr id="14" name="Shape 12"/>
          <p:cNvSpPr/>
          <p:nvPr/>
        </p:nvSpPr>
        <p:spPr>
          <a:xfrm>
            <a:off x="2267712" y="2148840"/>
            <a:ext cx="164592" cy="137160"/>
          </a:xfrm>
          <a:prstGeom prst="rect">
            <a:avLst/>
          </a:prstGeom>
          <a:solidFill>
            <a:srgbClr val="B23B3B">
              <a:alpha val="50000"/>
            </a:srgbClr>
          </a:solidFill>
          <a:ln w="5080">
            <a:solidFill>
              <a:srgbClr val="B23B3B">
                <a:alpha val="30000"/>
              </a:srgbClr>
            </a:solidFill>
            <a:prstDash val="solid"/>
          </a:ln>
        </p:spPr>
      </p:sp>
      <p:sp>
        <p:nvSpPr>
          <p:cNvPr id="15" name="Shape 13"/>
          <p:cNvSpPr/>
          <p:nvPr/>
        </p:nvSpPr>
        <p:spPr>
          <a:xfrm>
            <a:off x="2606040" y="2148840"/>
            <a:ext cx="164592" cy="137160"/>
          </a:xfrm>
          <a:prstGeom prst="rect">
            <a:avLst/>
          </a:prstGeom>
          <a:solidFill>
            <a:srgbClr val="B23B3B">
              <a:alpha val="50000"/>
            </a:srgbClr>
          </a:solidFill>
          <a:ln w="5080">
            <a:solidFill>
              <a:srgbClr val="B23B3B">
                <a:alpha val="30000"/>
              </a:srgbClr>
            </a:solidFill>
            <a:prstDash val="solid"/>
          </a:ln>
        </p:spPr>
      </p:sp>
      <p:sp>
        <p:nvSpPr>
          <p:cNvPr id="16" name="Shape 14"/>
          <p:cNvSpPr/>
          <p:nvPr/>
        </p:nvSpPr>
        <p:spPr>
          <a:xfrm>
            <a:off x="2944368" y="2148840"/>
            <a:ext cx="164592" cy="137160"/>
          </a:xfrm>
          <a:prstGeom prst="rect">
            <a:avLst/>
          </a:prstGeom>
          <a:solidFill>
            <a:srgbClr val="B23B3B">
              <a:alpha val="50000"/>
            </a:srgbClr>
          </a:solidFill>
          <a:ln w="5080">
            <a:solidFill>
              <a:srgbClr val="B23B3B">
                <a:alpha val="30000"/>
              </a:srgbClr>
            </a:solidFill>
            <a:prstDash val="solid"/>
          </a:ln>
        </p:spPr>
      </p:sp>
      <p:sp>
        <p:nvSpPr>
          <p:cNvPr id="17" name="Shape 15"/>
          <p:cNvSpPr/>
          <p:nvPr/>
        </p:nvSpPr>
        <p:spPr>
          <a:xfrm>
            <a:off x="3282696" y="2148840"/>
            <a:ext cx="164592" cy="137160"/>
          </a:xfrm>
          <a:prstGeom prst="rect">
            <a:avLst/>
          </a:prstGeom>
          <a:solidFill>
            <a:srgbClr val="B23B3B">
              <a:alpha val="50000"/>
            </a:srgbClr>
          </a:solidFill>
          <a:ln w="5080">
            <a:solidFill>
              <a:srgbClr val="B23B3B">
                <a:alpha val="30000"/>
              </a:srgbClr>
            </a:solidFill>
            <a:prstDash val="solid"/>
          </a:ln>
        </p:spPr>
      </p:sp>
      <p:sp>
        <p:nvSpPr>
          <p:cNvPr id="18" name="Shape 16"/>
          <p:cNvSpPr/>
          <p:nvPr/>
        </p:nvSpPr>
        <p:spPr>
          <a:xfrm>
            <a:off x="3621024" y="2148840"/>
            <a:ext cx="164592" cy="137160"/>
          </a:xfrm>
          <a:prstGeom prst="rect">
            <a:avLst/>
          </a:prstGeom>
          <a:solidFill>
            <a:srgbClr val="B23B3B">
              <a:alpha val="50000"/>
            </a:srgbClr>
          </a:solidFill>
          <a:ln w="5080">
            <a:solidFill>
              <a:srgbClr val="B23B3B">
                <a:alpha val="30000"/>
              </a:srgbClr>
            </a:solidFill>
            <a:prstDash val="solid"/>
          </a:ln>
        </p:spPr>
      </p:sp>
      <p:sp>
        <p:nvSpPr>
          <p:cNvPr id="19" name="Shape 17"/>
          <p:cNvSpPr/>
          <p:nvPr/>
        </p:nvSpPr>
        <p:spPr>
          <a:xfrm>
            <a:off x="3959352" y="2148840"/>
            <a:ext cx="164592" cy="137160"/>
          </a:xfrm>
          <a:prstGeom prst="rect">
            <a:avLst/>
          </a:prstGeom>
          <a:solidFill>
            <a:srgbClr val="B23B3B">
              <a:alpha val="50000"/>
            </a:srgbClr>
          </a:solidFill>
          <a:ln w="5080">
            <a:solidFill>
              <a:srgbClr val="B23B3B">
                <a:alpha val="30000"/>
              </a:srgbClr>
            </a:solidFill>
            <a:prstDash val="solid"/>
          </a:ln>
        </p:spPr>
      </p:sp>
      <p:sp>
        <p:nvSpPr>
          <p:cNvPr id="20" name="Shape 18"/>
          <p:cNvSpPr/>
          <p:nvPr/>
        </p:nvSpPr>
        <p:spPr>
          <a:xfrm>
            <a:off x="4297680" y="2148840"/>
            <a:ext cx="164592" cy="137160"/>
          </a:xfrm>
          <a:prstGeom prst="rect">
            <a:avLst/>
          </a:prstGeom>
          <a:solidFill>
            <a:srgbClr val="B23B3B">
              <a:alpha val="50000"/>
            </a:srgbClr>
          </a:solidFill>
          <a:ln w="5080">
            <a:solidFill>
              <a:srgbClr val="B23B3B">
                <a:alpha val="30000"/>
              </a:srgbClr>
            </a:solidFill>
            <a:prstDash val="solid"/>
          </a:ln>
        </p:spPr>
      </p:sp>
      <p:sp>
        <p:nvSpPr>
          <p:cNvPr id="21" name="Shape 19"/>
          <p:cNvSpPr/>
          <p:nvPr/>
        </p:nvSpPr>
        <p:spPr>
          <a:xfrm>
            <a:off x="4636008" y="2148840"/>
            <a:ext cx="164592" cy="137160"/>
          </a:xfrm>
          <a:prstGeom prst="rect">
            <a:avLst/>
          </a:prstGeom>
          <a:solidFill>
            <a:srgbClr val="B23B3B">
              <a:alpha val="50000"/>
            </a:srgbClr>
          </a:solidFill>
          <a:ln w="5080">
            <a:solidFill>
              <a:srgbClr val="B23B3B">
                <a:alpha val="30000"/>
              </a:srgbClr>
            </a:solidFill>
            <a:prstDash val="solid"/>
          </a:ln>
        </p:spPr>
      </p:sp>
      <p:sp>
        <p:nvSpPr>
          <p:cNvPr id="22" name="Shape 20"/>
          <p:cNvSpPr/>
          <p:nvPr/>
        </p:nvSpPr>
        <p:spPr>
          <a:xfrm>
            <a:off x="4974336" y="2148840"/>
            <a:ext cx="164592" cy="137160"/>
          </a:xfrm>
          <a:prstGeom prst="rect">
            <a:avLst/>
          </a:prstGeom>
          <a:solidFill>
            <a:srgbClr val="B23B3B">
              <a:alpha val="50000"/>
            </a:srgbClr>
          </a:solidFill>
          <a:ln w="5080">
            <a:solidFill>
              <a:srgbClr val="B23B3B">
                <a:alpha val="30000"/>
              </a:srgbClr>
            </a:solidFill>
            <a:prstDash val="solid"/>
          </a:ln>
        </p:spPr>
      </p:sp>
      <p:sp>
        <p:nvSpPr>
          <p:cNvPr id="23" name="Shape 21"/>
          <p:cNvSpPr/>
          <p:nvPr/>
        </p:nvSpPr>
        <p:spPr>
          <a:xfrm>
            <a:off x="914400" y="2459736"/>
            <a:ext cx="164592" cy="137160"/>
          </a:xfrm>
          <a:prstGeom prst="rect">
            <a:avLst/>
          </a:prstGeom>
          <a:solidFill>
            <a:srgbClr val="B23B3B">
              <a:alpha val="50000"/>
            </a:srgbClr>
          </a:solidFill>
          <a:ln w="5080">
            <a:solidFill>
              <a:srgbClr val="B23B3B">
                <a:alpha val="30000"/>
              </a:srgbClr>
            </a:solidFill>
            <a:prstDash val="solid"/>
          </a:ln>
        </p:spPr>
      </p:sp>
      <p:sp>
        <p:nvSpPr>
          <p:cNvPr id="24" name="Shape 22"/>
          <p:cNvSpPr/>
          <p:nvPr/>
        </p:nvSpPr>
        <p:spPr>
          <a:xfrm>
            <a:off x="1252728" y="2459736"/>
            <a:ext cx="164592" cy="137160"/>
          </a:xfrm>
          <a:prstGeom prst="rect">
            <a:avLst/>
          </a:prstGeom>
          <a:solidFill>
            <a:srgbClr val="B23B3B">
              <a:alpha val="50000"/>
            </a:srgbClr>
          </a:solidFill>
          <a:ln w="5080">
            <a:solidFill>
              <a:srgbClr val="B23B3B">
                <a:alpha val="30000"/>
              </a:srgbClr>
            </a:solidFill>
            <a:prstDash val="solid"/>
          </a:ln>
        </p:spPr>
      </p:sp>
      <p:sp>
        <p:nvSpPr>
          <p:cNvPr id="25" name="Shape 23"/>
          <p:cNvSpPr/>
          <p:nvPr/>
        </p:nvSpPr>
        <p:spPr>
          <a:xfrm>
            <a:off x="1591056" y="2459736"/>
            <a:ext cx="164592" cy="137160"/>
          </a:xfrm>
          <a:prstGeom prst="rect">
            <a:avLst/>
          </a:prstGeom>
          <a:solidFill>
            <a:srgbClr val="B23B3B">
              <a:alpha val="50000"/>
            </a:srgbClr>
          </a:solidFill>
          <a:ln w="5080">
            <a:solidFill>
              <a:srgbClr val="B23B3B">
                <a:alpha val="30000"/>
              </a:srgbClr>
            </a:solidFill>
            <a:prstDash val="solid"/>
          </a:ln>
        </p:spPr>
      </p:sp>
      <p:sp>
        <p:nvSpPr>
          <p:cNvPr id="26" name="Shape 24"/>
          <p:cNvSpPr/>
          <p:nvPr/>
        </p:nvSpPr>
        <p:spPr>
          <a:xfrm>
            <a:off x="1929384" y="2459736"/>
            <a:ext cx="164592" cy="137160"/>
          </a:xfrm>
          <a:prstGeom prst="rect">
            <a:avLst/>
          </a:prstGeom>
          <a:solidFill>
            <a:srgbClr val="B23B3B">
              <a:alpha val="50000"/>
            </a:srgbClr>
          </a:solidFill>
          <a:ln w="5080">
            <a:solidFill>
              <a:srgbClr val="B23B3B">
                <a:alpha val="30000"/>
              </a:srgbClr>
            </a:solidFill>
            <a:prstDash val="solid"/>
          </a:ln>
        </p:spPr>
      </p:sp>
      <p:sp>
        <p:nvSpPr>
          <p:cNvPr id="27" name="Shape 25"/>
          <p:cNvSpPr/>
          <p:nvPr/>
        </p:nvSpPr>
        <p:spPr>
          <a:xfrm>
            <a:off x="2267712" y="2459736"/>
            <a:ext cx="164592" cy="137160"/>
          </a:xfrm>
          <a:prstGeom prst="rect">
            <a:avLst/>
          </a:prstGeom>
          <a:solidFill>
            <a:srgbClr val="B23B3B">
              <a:alpha val="50000"/>
            </a:srgbClr>
          </a:solidFill>
          <a:ln w="5080">
            <a:solidFill>
              <a:srgbClr val="B23B3B">
                <a:alpha val="30000"/>
              </a:srgbClr>
            </a:solidFill>
            <a:prstDash val="solid"/>
          </a:ln>
        </p:spPr>
      </p:sp>
      <p:sp>
        <p:nvSpPr>
          <p:cNvPr id="28" name="Shape 26"/>
          <p:cNvSpPr/>
          <p:nvPr/>
        </p:nvSpPr>
        <p:spPr>
          <a:xfrm>
            <a:off x="2606040" y="2459736"/>
            <a:ext cx="164592" cy="137160"/>
          </a:xfrm>
          <a:prstGeom prst="rect">
            <a:avLst/>
          </a:prstGeom>
          <a:solidFill>
            <a:srgbClr val="B23B3B">
              <a:alpha val="50000"/>
            </a:srgbClr>
          </a:solidFill>
          <a:ln w="5080">
            <a:solidFill>
              <a:srgbClr val="B23B3B">
                <a:alpha val="30000"/>
              </a:srgbClr>
            </a:solidFill>
            <a:prstDash val="solid"/>
          </a:ln>
        </p:spPr>
      </p:sp>
      <p:sp>
        <p:nvSpPr>
          <p:cNvPr id="29" name="Shape 27"/>
          <p:cNvSpPr/>
          <p:nvPr/>
        </p:nvSpPr>
        <p:spPr>
          <a:xfrm>
            <a:off x="2944368" y="2459736"/>
            <a:ext cx="164592" cy="137160"/>
          </a:xfrm>
          <a:prstGeom prst="rect">
            <a:avLst/>
          </a:prstGeom>
          <a:solidFill>
            <a:srgbClr val="B23B3B">
              <a:alpha val="50000"/>
            </a:srgbClr>
          </a:solidFill>
          <a:ln w="5080">
            <a:solidFill>
              <a:srgbClr val="B23B3B">
                <a:alpha val="30000"/>
              </a:srgbClr>
            </a:solidFill>
            <a:prstDash val="solid"/>
          </a:ln>
        </p:spPr>
      </p:sp>
      <p:sp>
        <p:nvSpPr>
          <p:cNvPr id="30" name="Shape 28"/>
          <p:cNvSpPr/>
          <p:nvPr/>
        </p:nvSpPr>
        <p:spPr>
          <a:xfrm>
            <a:off x="3282696" y="2459736"/>
            <a:ext cx="164592" cy="137160"/>
          </a:xfrm>
          <a:prstGeom prst="rect">
            <a:avLst/>
          </a:prstGeom>
          <a:solidFill>
            <a:srgbClr val="B23B3B">
              <a:alpha val="50000"/>
            </a:srgbClr>
          </a:solidFill>
          <a:ln w="5080">
            <a:solidFill>
              <a:srgbClr val="B23B3B">
                <a:alpha val="30000"/>
              </a:srgbClr>
            </a:solidFill>
            <a:prstDash val="solid"/>
          </a:ln>
        </p:spPr>
      </p:sp>
      <p:sp>
        <p:nvSpPr>
          <p:cNvPr id="31" name="Shape 29"/>
          <p:cNvSpPr/>
          <p:nvPr/>
        </p:nvSpPr>
        <p:spPr>
          <a:xfrm>
            <a:off x="3621024" y="2459736"/>
            <a:ext cx="164592" cy="137160"/>
          </a:xfrm>
          <a:prstGeom prst="rect">
            <a:avLst/>
          </a:prstGeom>
          <a:solidFill>
            <a:srgbClr val="B23B3B">
              <a:alpha val="50000"/>
            </a:srgbClr>
          </a:solidFill>
          <a:ln w="5080">
            <a:solidFill>
              <a:srgbClr val="B23B3B">
                <a:alpha val="30000"/>
              </a:srgbClr>
            </a:solidFill>
            <a:prstDash val="solid"/>
          </a:ln>
        </p:spPr>
      </p:sp>
      <p:sp>
        <p:nvSpPr>
          <p:cNvPr id="32" name="Shape 30"/>
          <p:cNvSpPr/>
          <p:nvPr/>
        </p:nvSpPr>
        <p:spPr>
          <a:xfrm>
            <a:off x="3959352" y="2459736"/>
            <a:ext cx="164592" cy="137160"/>
          </a:xfrm>
          <a:prstGeom prst="rect">
            <a:avLst/>
          </a:prstGeom>
          <a:solidFill>
            <a:srgbClr val="B23B3B">
              <a:alpha val="50000"/>
            </a:srgbClr>
          </a:solidFill>
          <a:ln w="5080">
            <a:solidFill>
              <a:srgbClr val="B23B3B">
                <a:alpha val="30000"/>
              </a:srgbClr>
            </a:solidFill>
            <a:prstDash val="solid"/>
          </a:ln>
        </p:spPr>
      </p:sp>
      <p:sp>
        <p:nvSpPr>
          <p:cNvPr id="33" name="Shape 31"/>
          <p:cNvSpPr/>
          <p:nvPr/>
        </p:nvSpPr>
        <p:spPr>
          <a:xfrm>
            <a:off x="4297680" y="2459736"/>
            <a:ext cx="164592" cy="137160"/>
          </a:xfrm>
          <a:prstGeom prst="rect">
            <a:avLst/>
          </a:prstGeom>
          <a:solidFill>
            <a:srgbClr val="B23B3B">
              <a:alpha val="50000"/>
            </a:srgbClr>
          </a:solidFill>
          <a:ln w="5080">
            <a:solidFill>
              <a:srgbClr val="B23B3B">
                <a:alpha val="30000"/>
              </a:srgbClr>
            </a:solidFill>
            <a:prstDash val="solid"/>
          </a:ln>
        </p:spPr>
      </p:sp>
      <p:sp>
        <p:nvSpPr>
          <p:cNvPr id="34" name="Shape 32"/>
          <p:cNvSpPr/>
          <p:nvPr/>
        </p:nvSpPr>
        <p:spPr>
          <a:xfrm>
            <a:off x="4636008" y="2459736"/>
            <a:ext cx="164592" cy="137160"/>
          </a:xfrm>
          <a:prstGeom prst="rect">
            <a:avLst/>
          </a:prstGeom>
          <a:solidFill>
            <a:srgbClr val="B23B3B">
              <a:alpha val="50000"/>
            </a:srgbClr>
          </a:solidFill>
          <a:ln w="5080">
            <a:solidFill>
              <a:srgbClr val="B23B3B">
                <a:alpha val="30000"/>
              </a:srgbClr>
            </a:solidFill>
            <a:prstDash val="solid"/>
          </a:ln>
        </p:spPr>
      </p:sp>
      <p:sp>
        <p:nvSpPr>
          <p:cNvPr id="35" name="Shape 33"/>
          <p:cNvSpPr/>
          <p:nvPr/>
        </p:nvSpPr>
        <p:spPr>
          <a:xfrm>
            <a:off x="4974336" y="2459736"/>
            <a:ext cx="164592" cy="137160"/>
          </a:xfrm>
          <a:prstGeom prst="rect">
            <a:avLst/>
          </a:prstGeom>
          <a:solidFill>
            <a:srgbClr val="B23B3B">
              <a:alpha val="50000"/>
            </a:srgbClr>
          </a:solidFill>
          <a:ln w="5080">
            <a:solidFill>
              <a:srgbClr val="B23B3B">
                <a:alpha val="30000"/>
              </a:srgbClr>
            </a:solidFill>
            <a:prstDash val="solid"/>
          </a:ln>
        </p:spPr>
      </p:sp>
      <p:sp>
        <p:nvSpPr>
          <p:cNvPr id="36" name="Shape 34"/>
          <p:cNvSpPr/>
          <p:nvPr/>
        </p:nvSpPr>
        <p:spPr>
          <a:xfrm>
            <a:off x="914400" y="2770632"/>
            <a:ext cx="164592" cy="137160"/>
          </a:xfrm>
          <a:prstGeom prst="rect">
            <a:avLst/>
          </a:prstGeom>
          <a:solidFill>
            <a:srgbClr val="B23B3B">
              <a:alpha val="50000"/>
            </a:srgbClr>
          </a:solidFill>
          <a:ln w="5080">
            <a:solidFill>
              <a:srgbClr val="B23B3B">
                <a:alpha val="30000"/>
              </a:srgbClr>
            </a:solidFill>
            <a:prstDash val="solid"/>
          </a:ln>
        </p:spPr>
      </p:sp>
      <p:sp>
        <p:nvSpPr>
          <p:cNvPr id="37" name="Shape 35"/>
          <p:cNvSpPr/>
          <p:nvPr/>
        </p:nvSpPr>
        <p:spPr>
          <a:xfrm>
            <a:off x="1252728" y="2770632"/>
            <a:ext cx="164592" cy="137160"/>
          </a:xfrm>
          <a:prstGeom prst="rect">
            <a:avLst/>
          </a:prstGeom>
          <a:solidFill>
            <a:srgbClr val="B23B3B">
              <a:alpha val="50000"/>
            </a:srgbClr>
          </a:solidFill>
          <a:ln w="5080">
            <a:solidFill>
              <a:srgbClr val="B23B3B">
                <a:alpha val="30000"/>
              </a:srgbClr>
            </a:solidFill>
            <a:prstDash val="solid"/>
          </a:ln>
        </p:spPr>
      </p:sp>
      <p:sp>
        <p:nvSpPr>
          <p:cNvPr id="38" name="Shape 36"/>
          <p:cNvSpPr/>
          <p:nvPr/>
        </p:nvSpPr>
        <p:spPr>
          <a:xfrm>
            <a:off x="1591056" y="2770632"/>
            <a:ext cx="164592" cy="137160"/>
          </a:xfrm>
          <a:prstGeom prst="rect">
            <a:avLst/>
          </a:prstGeom>
          <a:solidFill>
            <a:srgbClr val="B23B3B">
              <a:alpha val="50000"/>
            </a:srgbClr>
          </a:solidFill>
          <a:ln w="5080">
            <a:solidFill>
              <a:srgbClr val="B23B3B">
                <a:alpha val="30000"/>
              </a:srgbClr>
            </a:solidFill>
            <a:prstDash val="solid"/>
          </a:ln>
        </p:spPr>
      </p:sp>
      <p:sp>
        <p:nvSpPr>
          <p:cNvPr id="39" name="Shape 37"/>
          <p:cNvSpPr/>
          <p:nvPr/>
        </p:nvSpPr>
        <p:spPr>
          <a:xfrm>
            <a:off x="1929384" y="2770632"/>
            <a:ext cx="164592" cy="137160"/>
          </a:xfrm>
          <a:prstGeom prst="rect">
            <a:avLst/>
          </a:prstGeom>
          <a:solidFill>
            <a:srgbClr val="B23B3B">
              <a:alpha val="50000"/>
            </a:srgbClr>
          </a:solidFill>
          <a:ln w="5080">
            <a:solidFill>
              <a:srgbClr val="B23B3B">
                <a:alpha val="30000"/>
              </a:srgbClr>
            </a:solidFill>
            <a:prstDash val="solid"/>
          </a:ln>
        </p:spPr>
      </p:sp>
      <p:sp>
        <p:nvSpPr>
          <p:cNvPr id="40" name="Shape 38"/>
          <p:cNvSpPr/>
          <p:nvPr/>
        </p:nvSpPr>
        <p:spPr>
          <a:xfrm>
            <a:off x="2267712" y="2770632"/>
            <a:ext cx="164592" cy="137160"/>
          </a:xfrm>
          <a:prstGeom prst="rect">
            <a:avLst/>
          </a:prstGeom>
          <a:solidFill>
            <a:srgbClr val="B23B3B">
              <a:alpha val="50000"/>
            </a:srgbClr>
          </a:solidFill>
          <a:ln w="5080">
            <a:solidFill>
              <a:srgbClr val="B23B3B">
                <a:alpha val="30000"/>
              </a:srgbClr>
            </a:solidFill>
            <a:prstDash val="solid"/>
          </a:ln>
        </p:spPr>
      </p:sp>
      <p:sp>
        <p:nvSpPr>
          <p:cNvPr id="41" name="Shape 39"/>
          <p:cNvSpPr/>
          <p:nvPr/>
        </p:nvSpPr>
        <p:spPr>
          <a:xfrm>
            <a:off x="2606040" y="2770632"/>
            <a:ext cx="164592" cy="137160"/>
          </a:xfrm>
          <a:prstGeom prst="rect">
            <a:avLst/>
          </a:prstGeom>
          <a:solidFill>
            <a:srgbClr val="B23B3B">
              <a:alpha val="50000"/>
            </a:srgbClr>
          </a:solidFill>
          <a:ln w="5080">
            <a:solidFill>
              <a:srgbClr val="B23B3B">
                <a:alpha val="30000"/>
              </a:srgbClr>
            </a:solidFill>
            <a:prstDash val="solid"/>
          </a:ln>
        </p:spPr>
      </p:sp>
      <p:sp>
        <p:nvSpPr>
          <p:cNvPr id="42" name="Shape 40"/>
          <p:cNvSpPr/>
          <p:nvPr/>
        </p:nvSpPr>
        <p:spPr>
          <a:xfrm>
            <a:off x="2944368" y="2770632"/>
            <a:ext cx="164592" cy="137160"/>
          </a:xfrm>
          <a:prstGeom prst="rect">
            <a:avLst/>
          </a:prstGeom>
          <a:solidFill>
            <a:srgbClr val="B23B3B">
              <a:alpha val="50000"/>
            </a:srgbClr>
          </a:solidFill>
          <a:ln w="5080">
            <a:solidFill>
              <a:srgbClr val="B23B3B">
                <a:alpha val="30000"/>
              </a:srgbClr>
            </a:solidFill>
            <a:prstDash val="solid"/>
          </a:ln>
        </p:spPr>
      </p:sp>
      <p:sp>
        <p:nvSpPr>
          <p:cNvPr id="43" name="Shape 41"/>
          <p:cNvSpPr/>
          <p:nvPr/>
        </p:nvSpPr>
        <p:spPr>
          <a:xfrm>
            <a:off x="3282696" y="2770632"/>
            <a:ext cx="164592" cy="137160"/>
          </a:xfrm>
          <a:prstGeom prst="rect">
            <a:avLst/>
          </a:prstGeom>
          <a:solidFill>
            <a:srgbClr val="B23B3B">
              <a:alpha val="50000"/>
            </a:srgbClr>
          </a:solidFill>
          <a:ln w="5080">
            <a:solidFill>
              <a:srgbClr val="B23B3B">
                <a:alpha val="30000"/>
              </a:srgbClr>
            </a:solidFill>
            <a:prstDash val="solid"/>
          </a:ln>
        </p:spPr>
      </p:sp>
      <p:sp>
        <p:nvSpPr>
          <p:cNvPr id="44" name="Shape 42"/>
          <p:cNvSpPr/>
          <p:nvPr/>
        </p:nvSpPr>
        <p:spPr>
          <a:xfrm>
            <a:off x="3621024" y="2770632"/>
            <a:ext cx="164592" cy="137160"/>
          </a:xfrm>
          <a:prstGeom prst="rect">
            <a:avLst/>
          </a:prstGeom>
          <a:solidFill>
            <a:srgbClr val="B23B3B">
              <a:alpha val="50000"/>
            </a:srgbClr>
          </a:solidFill>
          <a:ln w="5080">
            <a:solidFill>
              <a:srgbClr val="B23B3B">
                <a:alpha val="30000"/>
              </a:srgbClr>
            </a:solidFill>
            <a:prstDash val="solid"/>
          </a:ln>
        </p:spPr>
      </p:sp>
      <p:sp>
        <p:nvSpPr>
          <p:cNvPr id="45" name="Shape 43"/>
          <p:cNvSpPr/>
          <p:nvPr/>
        </p:nvSpPr>
        <p:spPr>
          <a:xfrm>
            <a:off x="3959352" y="2770632"/>
            <a:ext cx="164592" cy="137160"/>
          </a:xfrm>
          <a:prstGeom prst="rect">
            <a:avLst/>
          </a:prstGeom>
          <a:solidFill>
            <a:srgbClr val="B23B3B">
              <a:alpha val="50000"/>
            </a:srgbClr>
          </a:solidFill>
          <a:ln w="5080">
            <a:solidFill>
              <a:srgbClr val="B23B3B">
                <a:alpha val="30000"/>
              </a:srgbClr>
            </a:solidFill>
            <a:prstDash val="solid"/>
          </a:ln>
        </p:spPr>
      </p:sp>
      <p:sp>
        <p:nvSpPr>
          <p:cNvPr id="46" name="Shape 44"/>
          <p:cNvSpPr/>
          <p:nvPr/>
        </p:nvSpPr>
        <p:spPr>
          <a:xfrm>
            <a:off x="4297680" y="2770632"/>
            <a:ext cx="164592" cy="137160"/>
          </a:xfrm>
          <a:prstGeom prst="rect">
            <a:avLst/>
          </a:prstGeom>
          <a:solidFill>
            <a:srgbClr val="B23B3B">
              <a:alpha val="50000"/>
            </a:srgbClr>
          </a:solidFill>
          <a:ln w="5080">
            <a:solidFill>
              <a:srgbClr val="B23B3B">
                <a:alpha val="30000"/>
              </a:srgbClr>
            </a:solidFill>
            <a:prstDash val="solid"/>
          </a:ln>
        </p:spPr>
      </p:sp>
      <p:sp>
        <p:nvSpPr>
          <p:cNvPr id="47" name="Shape 45"/>
          <p:cNvSpPr/>
          <p:nvPr/>
        </p:nvSpPr>
        <p:spPr>
          <a:xfrm>
            <a:off x="4636008" y="2770632"/>
            <a:ext cx="164592" cy="137160"/>
          </a:xfrm>
          <a:prstGeom prst="rect">
            <a:avLst/>
          </a:prstGeom>
          <a:solidFill>
            <a:srgbClr val="B23B3B">
              <a:alpha val="50000"/>
            </a:srgbClr>
          </a:solidFill>
          <a:ln w="5080">
            <a:solidFill>
              <a:srgbClr val="B23B3B">
                <a:alpha val="30000"/>
              </a:srgbClr>
            </a:solidFill>
            <a:prstDash val="solid"/>
          </a:ln>
        </p:spPr>
      </p:sp>
      <p:sp>
        <p:nvSpPr>
          <p:cNvPr id="48" name="Shape 46"/>
          <p:cNvSpPr/>
          <p:nvPr/>
        </p:nvSpPr>
        <p:spPr>
          <a:xfrm>
            <a:off x="4974336" y="2770632"/>
            <a:ext cx="164592" cy="137160"/>
          </a:xfrm>
          <a:prstGeom prst="rect">
            <a:avLst/>
          </a:prstGeom>
          <a:solidFill>
            <a:srgbClr val="B23B3B">
              <a:alpha val="50000"/>
            </a:srgbClr>
          </a:solidFill>
          <a:ln w="5080">
            <a:solidFill>
              <a:srgbClr val="B23B3B">
                <a:alpha val="30000"/>
              </a:srgbClr>
            </a:solidFill>
            <a:prstDash val="solid"/>
          </a:ln>
        </p:spPr>
      </p:sp>
      <p:sp>
        <p:nvSpPr>
          <p:cNvPr id="49" name="Shape 47"/>
          <p:cNvSpPr/>
          <p:nvPr/>
        </p:nvSpPr>
        <p:spPr>
          <a:xfrm>
            <a:off x="914400" y="3081528"/>
            <a:ext cx="164592" cy="137160"/>
          </a:xfrm>
          <a:prstGeom prst="rect">
            <a:avLst/>
          </a:prstGeom>
          <a:solidFill>
            <a:srgbClr val="B23B3B">
              <a:alpha val="50000"/>
            </a:srgbClr>
          </a:solidFill>
          <a:ln w="5080">
            <a:solidFill>
              <a:srgbClr val="B23B3B">
                <a:alpha val="30000"/>
              </a:srgbClr>
            </a:solidFill>
            <a:prstDash val="solid"/>
          </a:ln>
        </p:spPr>
      </p:sp>
      <p:sp>
        <p:nvSpPr>
          <p:cNvPr id="50" name="Shape 48"/>
          <p:cNvSpPr/>
          <p:nvPr/>
        </p:nvSpPr>
        <p:spPr>
          <a:xfrm>
            <a:off x="1252728" y="3081528"/>
            <a:ext cx="164592" cy="137160"/>
          </a:xfrm>
          <a:prstGeom prst="rect">
            <a:avLst/>
          </a:prstGeom>
          <a:solidFill>
            <a:srgbClr val="B23B3B">
              <a:alpha val="50000"/>
            </a:srgbClr>
          </a:solidFill>
          <a:ln w="5080">
            <a:solidFill>
              <a:srgbClr val="B23B3B">
                <a:alpha val="30000"/>
              </a:srgbClr>
            </a:solidFill>
            <a:prstDash val="solid"/>
          </a:ln>
        </p:spPr>
      </p:sp>
      <p:sp>
        <p:nvSpPr>
          <p:cNvPr id="51" name="Shape 49"/>
          <p:cNvSpPr/>
          <p:nvPr/>
        </p:nvSpPr>
        <p:spPr>
          <a:xfrm>
            <a:off x="1591056" y="3081528"/>
            <a:ext cx="164592" cy="137160"/>
          </a:xfrm>
          <a:prstGeom prst="rect">
            <a:avLst/>
          </a:prstGeom>
          <a:solidFill>
            <a:srgbClr val="B23B3B">
              <a:alpha val="50000"/>
            </a:srgbClr>
          </a:solidFill>
          <a:ln w="5080">
            <a:solidFill>
              <a:srgbClr val="B23B3B">
                <a:alpha val="30000"/>
              </a:srgbClr>
            </a:solidFill>
            <a:prstDash val="solid"/>
          </a:ln>
        </p:spPr>
      </p:sp>
      <p:sp>
        <p:nvSpPr>
          <p:cNvPr id="52" name="Shape 50"/>
          <p:cNvSpPr/>
          <p:nvPr/>
        </p:nvSpPr>
        <p:spPr>
          <a:xfrm>
            <a:off x="1929384" y="3081528"/>
            <a:ext cx="164592" cy="137160"/>
          </a:xfrm>
          <a:prstGeom prst="rect">
            <a:avLst/>
          </a:prstGeom>
          <a:solidFill>
            <a:srgbClr val="B23B3B">
              <a:alpha val="50000"/>
            </a:srgbClr>
          </a:solidFill>
          <a:ln w="5080">
            <a:solidFill>
              <a:srgbClr val="B23B3B">
                <a:alpha val="30000"/>
              </a:srgbClr>
            </a:solidFill>
            <a:prstDash val="solid"/>
          </a:ln>
        </p:spPr>
      </p:sp>
      <p:sp>
        <p:nvSpPr>
          <p:cNvPr id="53" name="Shape 51"/>
          <p:cNvSpPr/>
          <p:nvPr/>
        </p:nvSpPr>
        <p:spPr>
          <a:xfrm>
            <a:off x="2267712" y="3081528"/>
            <a:ext cx="164592" cy="137160"/>
          </a:xfrm>
          <a:prstGeom prst="rect">
            <a:avLst/>
          </a:prstGeom>
          <a:solidFill>
            <a:srgbClr val="B23B3B">
              <a:alpha val="50000"/>
            </a:srgbClr>
          </a:solidFill>
          <a:ln w="5080">
            <a:solidFill>
              <a:srgbClr val="B23B3B">
                <a:alpha val="30000"/>
              </a:srgbClr>
            </a:solidFill>
            <a:prstDash val="solid"/>
          </a:ln>
        </p:spPr>
      </p:sp>
      <p:sp>
        <p:nvSpPr>
          <p:cNvPr id="54" name="Shape 52"/>
          <p:cNvSpPr/>
          <p:nvPr/>
        </p:nvSpPr>
        <p:spPr>
          <a:xfrm>
            <a:off x="2606040" y="3081528"/>
            <a:ext cx="164592" cy="137160"/>
          </a:xfrm>
          <a:prstGeom prst="rect">
            <a:avLst/>
          </a:prstGeom>
          <a:solidFill>
            <a:srgbClr val="B23B3B">
              <a:alpha val="50000"/>
            </a:srgbClr>
          </a:solidFill>
          <a:ln w="5080">
            <a:solidFill>
              <a:srgbClr val="B23B3B">
                <a:alpha val="30000"/>
              </a:srgbClr>
            </a:solidFill>
            <a:prstDash val="solid"/>
          </a:ln>
        </p:spPr>
      </p:sp>
      <p:sp>
        <p:nvSpPr>
          <p:cNvPr id="55" name="Shape 53"/>
          <p:cNvSpPr/>
          <p:nvPr/>
        </p:nvSpPr>
        <p:spPr>
          <a:xfrm>
            <a:off x="2944368" y="3081528"/>
            <a:ext cx="164592" cy="137160"/>
          </a:xfrm>
          <a:prstGeom prst="rect">
            <a:avLst/>
          </a:prstGeom>
          <a:solidFill>
            <a:srgbClr val="B23B3B">
              <a:alpha val="50000"/>
            </a:srgbClr>
          </a:solidFill>
          <a:ln w="5080">
            <a:solidFill>
              <a:srgbClr val="B23B3B">
                <a:alpha val="30000"/>
              </a:srgbClr>
            </a:solidFill>
            <a:prstDash val="solid"/>
          </a:ln>
        </p:spPr>
      </p:sp>
      <p:sp>
        <p:nvSpPr>
          <p:cNvPr id="56" name="Shape 54"/>
          <p:cNvSpPr/>
          <p:nvPr/>
        </p:nvSpPr>
        <p:spPr>
          <a:xfrm>
            <a:off x="3282696" y="3081528"/>
            <a:ext cx="164592" cy="137160"/>
          </a:xfrm>
          <a:prstGeom prst="rect">
            <a:avLst/>
          </a:prstGeom>
          <a:solidFill>
            <a:srgbClr val="B23B3B">
              <a:alpha val="50000"/>
            </a:srgbClr>
          </a:solidFill>
          <a:ln w="5080">
            <a:solidFill>
              <a:srgbClr val="B23B3B">
                <a:alpha val="30000"/>
              </a:srgbClr>
            </a:solidFill>
            <a:prstDash val="solid"/>
          </a:ln>
        </p:spPr>
      </p:sp>
      <p:sp>
        <p:nvSpPr>
          <p:cNvPr id="57" name="Shape 55"/>
          <p:cNvSpPr/>
          <p:nvPr/>
        </p:nvSpPr>
        <p:spPr>
          <a:xfrm>
            <a:off x="3621024" y="3081528"/>
            <a:ext cx="164592" cy="137160"/>
          </a:xfrm>
          <a:prstGeom prst="rect">
            <a:avLst/>
          </a:prstGeom>
          <a:solidFill>
            <a:srgbClr val="B23B3B">
              <a:alpha val="50000"/>
            </a:srgbClr>
          </a:solidFill>
          <a:ln w="5080">
            <a:solidFill>
              <a:srgbClr val="B23B3B">
                <a:alpha val="30000"/>
              </a:srgbClr>
            </a:solidFill>
            <a:prstDash val="solid"/>
          </a:ln>
        </p:spPr>
      </p:sp>
      <p:sp>
        <p:nvSpPr>
          <p:cNvPr id="58" name="Shape 56"/>
          <p:cNvSpPr/>
          <p:nvPr/>
        </p:nvSpPr>
        <p:spPr>
          <a:xfrm>
            <a:off x="3959352" y="3081528"/>
            <a:ext cx="164592" cy="137160"/>
          </a:xfrm>
          <a:prstGeom prst="rect">
            <a:avLst/>
          </a:prstGeom>
          <a:solidFill>
            <a:srgbClr val="B23B3B">
              <a:alpha val="50000"/>
            </a:srgbClr>
          </a:solidFill>
          <a:ln w="5080">
            <a:solidFill>
              <a:srgbClr val="B23B3B">
                <a:alpha val="30000"/>
              </a:srgbClr>
            </a:solidFill>
            <a:prstDash val="solid"/>
          </a:ln>
        </p:spPr>
      </p:sp>
      <p:sp>
        <p:nvSpPr>
          <p:cNvPr id="59" name="Shape 57"/>
          <p:cNvSpPr/>
          <p:nvPr/>
        </p:nvSpPr>
        <p:spPr>
          <a:xfrm>
            <a:off x="4297680" y="3081528"/>
            <a:ext cx="164592" cy="137160"/>
          </a:xfrm>
          <a:prstGeom prst="rect">
            <a:avLst/>
          </a:prstGeom>
          <a:solidFill>
            <a:srgbClr val="B23B3B">
              <a:alpha val="50000"/>
            </a:srgbClr>
          </a:solidFill>
          <a:ln w="5080">
            <a:solidFill>
              <a:srgbClr val="B23B3B">
                <a:alpha val="30000"/>
              </a:srgbClr>
            </a:solidFill>
            <a:prstDash val="solid"/>
          </a:ln>
        </p:spPr>
      </p:sp>
      <p:sp>
        <p:nvSpPr>
          <p:cNvPr id="60" name="Shape 58"/>
          <p:cNvSpPr/>
          <p:nvPr/>
        </p:nvSpPr>
        <p:spPr>
          <a:xfrm>
            <a:off x="4636008" y="3081528"/>
            <a:ext cx="164592" cy="137160"/>
          </a:xfrm>
          <a:prstGeom prst="rect">
            <a:avLst/>
          </a:prstGeom>
          <a:solidFill>
            <a:srgbClr val="B23B3B">
              <a:alpha val="50000"/>
            </a:srgbClr>
          </a:solidFill>
          <a:ln w="5080">
            <a:solidFill>
              <a:srgbClr val="B23B3B">
                <a:alpha val="30000"/>
              </a:srgbClr>
            </a:solidFill>
            <a:prstDash val="solid"/>
          </a:ln>
        </p:spPr>
      </p:sp>
      <p:sp>
        <p:nvSpPr>
          <p:cNvPr id="61" name="Shape 59"/>
          <p:cNvSpPr/>
          <p:nvPr/>
        </p:nvSpPr>
        <p:spPr>
          <a:xfrm>
            <a:off x="4974336" y="3081528"/>
            <a:ext cx="164592" cy="137160"/>
          </a:xfrm>
          <a:prstGeom prst="rect">
            <a:avLst/>
          </a:prstGeom>
          <a:solidFill>
            <a:srgbClr val="B23B3B">
              <a:alpha val="50000"/>
            </a:srgbClr>
          </a:solidFill>
          <a:ln w="5080">
            <a:solidFill>
              <a:srgbClr val="B23B3B">
                <a:alpha val="30000"/>
              </a:srgbClr>
            </a:solidFill>
            <a:prstDash val="solid"/>
          </a:ln>
        </p:spPr>
      </p:sp>
      <p:sp>
        <p:nvSpPr>
          <p:cNvPr id="62" name="Shape 60"/>
          <p:cNvSpPr/>
          <p:nvPr/>
        </p:nvSpPr>
        <p:spPr>
          <a:xfrm>
            <a:off x="914400" y="3392424"/>
            <a:ext cx="164592" cy="137160"/>
          </a:xfrm>
          <a:prstGeom prst="rect">
            <a:avLst/>
          </a:prstGeom>
          <a:solidFill>
            <a:srgbClr val="B23B3B">
              <a:alpha val="50000"/>
            </a:srgbClr>
          </a:solidFill>
          <a:ln w="5080">
            <a:solidFill>
              <a:srgbClr val="B23B3B">
                <a:alpha val="30000"/>
              </a:srgbClr>
            </a:solidFill>
            <a:prstDash val="solid"/>
          </a:ln>
        </p:spPr>
      </p:sp>
      <p:sp>
        <p:nvSpPr>
          <p:cNvPr id="63" name="Shape 61"/>
          <p:cNvSpPr/>
          <p:nvPr/>
        </p:nvSpPr>
        <p:spPr>
          <a:xfrm>
            <a:off x="1252728" y="3392424"/>
            <a:ext cx="164592" cy="137160"/>
          </a:xfrm>
          <a:prstGeom prst="rect">
            <a:avLst/>
          </a:prstGeom>
          <a:solidFill>
            <a:srgbClr val="B23B3B">
              <a:alpha val="50000"/>
            </a:srgbClr>
          </a:solidFill>
          <a:ln w="5080">
            <a:solidFill>
              <a:srgbClr val="B23B3B">
                <a:alpha val="30000"/>
              </a:srgbClr>
            </a:solidFill>
            <a:prstDash val="solid"/>
          </a:ln>
        </p:spPr>
      </p:sp>
      <p:sp>
        <p:nvSpPr>
          <p:cNvPr id="64" name="Shape 62"/>
          <p:cNvSpPr/>
          <p:nvPr/>
        </p:nvSpPr>
        <p:spPr>
          <a:xfrm>
            <a:off x="1591056" y="3392424"/>
            <a:ext cx="164592" cy="137160"/>
          </a:xfrm>
          <a:prstGeom prst="rect">
            <a:avLst/>
          </a:prstGeom>
          <a:solidFill>
            <a:srgbClr val="B23B3B">
              <a:alpha val="50000"/>
            </a:srgbClr>
          </a:solidFill>
          <a:ln w="5080">
            <a:solidFill>
              <a:srgbClr val="B23B3B">
                <a:alpha val="30000"/>
              </a:srgbClr>
            </a:solidFill>
            <a:prstDash val="solid"/>
          </a:ln>
        </p:spPr>
      </p:sp>
      <p:sp>
        <p:nvSpPr>
          <p:cNvPr id="65" name="Shape 63"/>
          <p:cNvSpPr/>
          <p:nvPr/>
        </p:nvSpPr>
        <p:spPr>
          <a:xfrm>
            <a:off x="1929384" y="3392424"/>
            <a:ext cx="164592" cy="137160"/>
          </a:xfrm>
          <a:prstGeom prst="rect">
            <a:avLst/>
          </a:prstGeom>
          <a:solidFill>
            <a:srgbClr val="B23B3B">
              <a:alpha val="50000"/>
            </a:srgbClr>
          </a:solidFill>
          <a:ln w="5080">
            <a:solidFill>
              <a:srgbClr val="B23B3B">
                <a:alpha val="30000"/>
              </a:srgbClr>
            </a:solidFill>
            <a:prstDash val="solid"/>
          </a:ln>
        </p:spPr>
      </p:sp>
      <p:sp>
        <p:nvSpPr>
          <p:cNvPr id="66" name="Shape 64"/>
          <p:cNvSpPr/>
          <p:nvPr/>
        </p:nvSpPr>
        <p:spPr>
          <a:xfrm>
            <a:off x="2267712" y="3392424"/>
            <a:ext cx="164592" cy="137160"/>
          </a:xfrm>
          <a:prstGeom prst="rect">
            <a:avLst/>
          </a:prstGeom>
          <a:solidFill>
            <a:srgbClr val="B23B3B">
              <a:alpha val="50000"/>
            </a:srgbClr>
          </a:solidFill>
          <a:ln w="5080">
            <a:solidFill>
              <a:srgbClr val="B23B3B">
                <a:alpha val="30000"/>
              </a:srgbClr>
            </a:solidFill>
            <a:prstDash val="solid"/>
          </a:ln>
        </p:spPr>
      </p:sp>
      <p:sp>
        <p:nvSpPr>
          <p:cNvPr id="67" name="Shape 65"/>
          <p:cNvSpPr/>
          <p:nvPr/>
        </p:nvSpPr>
        <p:spPr>
          <a:xfrm>
            <a:off x="2606040" y="3392424"/>
            <a:ext cx="164592" cy="137160"/>
          </a:xfrm>
          <a:prstGeom prst="rect">
            <a:avLst/>
          </a:prstGeom>
          <a:solidFill>
            <a:srgbClr val="B23B3B">
              <a:alpha val="50000"/>
            </a:srgbClr>
          </a:solidFill>
          <a:ln w="5080">
            <a:solidFill>
              <a:srgbClr val="B23B3B">
                <a:alpha val="30000"/>
              </a:srgbClr>
            </a:solidFill>
            <a:prstDash val="solid"/>
          </a:ln>
        </p:spPr>
      </p:sp>
      <p:sp>
        <p:nvSpPr>
          <p:cNvPr id="68" name="Shape 66"/>
          <p:cNvSpPr/>
          <p:nvPr/>
        </p:nvSpPr>
        <p:spPr>
          <a:xfrm>
            <a:off x="2944368" y="3392424"/>
            <a:ext cx="164592" cy="137160"/>
          </a:xfrm>
          <a:prstGeom prst="rect">
            <a:avLst/>
          </a:prstGeom>
          <a:solidFill>
            <a:srgbClr val="B23B3B">
              <a:alpha val="50000"/>
            </a:srgbClr>
          </a:solidFill>
          <a:ln w="5080">
            <a:solidFill>
              <a:srgbClr val="B23B3B">
                <a:alpha val="30000"/>
              </a:srgbClr>
            </a:solidFill>
            <a:prstDash val="solid"/>
          </a:ln>
        </p:spPr>
      </p:sp>
      <p:sp>
        <p:nvSpPr>
          <p:cNvPr id="69" name="Shape 67"/>
          <p:cNvSpPr/>
          <p:nvPr/>
        </p:nvSpPr>
        <p:spPr>
          <a:xfrm>
            <a:off x="3282696" y="3392424"/>
            <a:ext cx="164592" cy="137160"/>
          </a:xfrm>
          <a:prstGeom prst="rect">
            <a:avLst/>
          </a:prstGeom>
          <a:solidFill>
            <a:srgbClr val="B23B3B">
              <a:alpha val="50000"/>
            </a:srgbClr>
          </a:solidFill>
          <a:ln w="5080">
            <a:solidFill>
              <a:srgbClr val="B23B3B">
                <a:alpha val="30000"/>
              </a:srgbClr>
            </a:solidFill>
            <a:prstDash val="solid"/>
          </a:ln>
        </p:spPr>
      </p:sp>
      <p:sp>
        <p:nvSpPr>
          <p:cNvPr id="70" name="Shape 68"/>
          <p:cNvSpPr/>
          <p:nvPr/>
        </p:nvSpPr>
        <p:spPr>
          <a:xfrm>
            <a:off x="3621024" y="3392424"/>
            <a:ext cx="164592" cy="137160"/>
          </a:xfrm>
          <a:prstGeom prst="rect">
            <a:avLst/>
          </a:prstGeom>
          <a:solidFill>
            <a:srgbClr val="B23B3B">
              <a:alpha val="50000"/>
            </a:srgbClr>
          </a:solidFill>
          <a:ln w="5080">
            <a:solidFill>
              <a:srgbClr val="B23B3B">
                <a:alpha val="30000"/>
              </a:srgbClr>
            </a:solidFill>
            <a:prstDash val="solid"/>
          </a:ln>
        </p:spPr>
      </p:sp>
      <p:sp>
        <p:nvSpPr>
          <p:cNvPr id="71" name="Shape 69"/>
          <p:cNvSpPr/>
          <p:nvPr/>
        </p:nvSpPr>
        <p:spPr>
          <a:xfrm>
            <a:off x="3959352" y="3392424"/>
            <a:ext cx="164592" cy="137160"/>
          </a:xfrm>
          <a:prstGeom prst="rect">
            <a:avLst/>
          </a:prstGeom>
          <a:solidFill>
            <a:srgbClr val="B23B3B">
              <a:alpha val="50000"/>
            </a:srgbClr>
          </a:solidFill>
          <a:ln w="5080">
            <a:solidFill>
              <a:srgbClr val="B23B3B">
                <a:alpha val="30000"/>
              </a:srgbClr>
            </a:solidFill>
            <a:prstDash val="solid"/>
          </a:ln>
        </p:spPr>
      </p:sp>
      <p:sp>
        <p:nvSpPr>
          <p:cNvPr id="72" name="Shape 70"/>
          <p:cNvSpPr/>
          <p:nvPr/>
        </p:nvSpPr>
        <p:spPr>
          <a:xfrm>
            <a:off x="4297680" y="3392424"/>
            <a:ext cx="164592" cy="137160"/>
          </a:xfrm>
          <a:prstGeom prst="rect">
            <a:avLst/>
          </a:prstGeom>
          <a:solidFill>
            <a:srgbClr val="B23B3B">
              <a:alpha val="50000"/>
            </a:srgbClr>
          </a:solidFill>
          <a:ln w="5080">
            <a:solidFill>
              <a:srgbClr val="B23B3B">
                <a:alpha val="30000"/>
              </a:srgbClr>
            </a:solidFill>
            <a:prstDash val="solid"/>
          </a:ln>
        </p:spPr>
      </p:sp>
      <p:sp>
        <p:nvSpPr>
          <p:cNvPr id="73" name="Shape 71"/>
          <p:cNvSpPr/>
          <p:nvPr/>
        </p:nvSpPr>
        <p:spPr>
          <a:xfrm>
            <a:off x="4636008" y="3392424"/>
            <a:ext cx="164592" cy="137160"/>
          </a:xfrm>
          <a:prstGeom prst="rect">
            <a:avLst/>
          </a:prstGeom>
          <a:solidFill>
            <a:srgbClr val="B23B3B">
              <a:alpha val="50000"/>
            </a:srgbClr>
          </a:solidFill>
          <a:ln w="5080">
            <a:solidFill>
              <a:srgbClr val="B23B3B">
                <a:alpha val="30000"/>
              </a:srgbClr>
            </a:solidFill>
            <a:prstDash val="solid"/>
          </a:ln>
        </p:spPr>
      </p:sp>
      <p:sp>
        <p:nvSpPr>
          <p:cNvPr id="74" name="Shape 72"/>
          <p:cNvSpPr/>
          <p:nvPr/>
        </p:nvSpPr>
        <p:spPr>
          <a:xfrm>
            <a:off x="4974336" y="3392424"/>
            <a:ext cx="164592" cy="137160"/>
          </a:xfrm>
          <a:prstGeom prst="rect">
            <a:avLst/>
          </a:prstGeom>
          <a:solidFill>
            <a:srgbClr val="B23B3B">
              <a:alpha val="50000"/>
            </a:srgbClr>
          </a:solidFill>
          <a:ln w="5080">
            <a:solidFill>
              <a:srgbClr val="B23B3B">
                <a:alpha val="30000"/>
              </a:srgbClr>
            </a:solidFill>
            <a:prstDash val="solid"/>
          </a:ln>
        </p:spPr>
      </p:sp>
      <p:sp>
        <p:nvSpPr>
          <p:cNvPr id="75" name="Shape 73"/>
          <p:cNvSpPr/>
          <p:nvPr/>
        </p:nvSpPr>
        <p:spPr>
          <a:xfrm>
            <a:off x="914400" y="3703320"/>
            <a:ext cx="164592" cy="137160"/>
          </a:xfrm>
          <a:prstGeom prst="rect">
            <a:avLst/>
          </a:prstGeom>
          <a:solidFill>
            <a:srgbClr val="B23B3B">
              <a:alpha val="50000"/>
            </a:srgbClr>
          </a:solidFill>
          <a:ln w="5080">
            <a:solidFill>
              <a:srgbClr val="B23B3B">
                <a:alpha val="30000"/>
              </a:srgbClr>
            </a:solidFill>
            <a:prstDash val="solid"/>
          </a:ln>
        </p:spPr>
      </p:sp>
      <p:sp>
        <p:nvSpPr>
          <p:cNvPr id="76" name="Shape 74"/>
          <p:cNvSpPr/>
          <p:nvPr/>
        </p:nvSpPr>
        <p:spPr>
          <a:xfrm>
            <a:off x="1252728" y="3703320"/>
            <a:ext cx="164592" cy="137160"/>
          </a:xfrm>
          <a:prstGeom prst="rect">
            <a:avLst/>
          </a:prstGeom>
          <a:solidFill>
            <a:srgbClr val="B23B3B">
              <a:alpha val="50000"/>
            </a:srgbClr>
          </a:solidFill>
          <a:ln w="5080">
            <a:solidFill>
              <a:srgbClr val="B23B3B">
                <a:alpha val="30000"/>
              </a:srgbClr>
            </a:solidFill>
            <a:prstDash val="solid"/>
          </a:ln>
        </p:spPr>
      </p:sp>
      <p:sp>
        <p:nvSpPr>
          <p:cNvPr id="77" name="Shape 75"/>
          <p:cNvSpPr/>
          <p:nvPr/>
        </p:nvSpPr>
        <p:spPr>
          <a:xfrm>
            <a:off x="1591056" y="3703320"/>
            <a:ext cx="164592" cy="137160"/>
          </a:xfrm>
          <a:prstGeom prst="rect">
            <a:avLst/>
          </a:prstGeom>
          <a:solidFill>
            <a:srgbClr val="B23B3B">
              <a:alpha val="50000"/>
            </a:srgbClr>
          </a:solidFill>
          <a:ln w="5080">
            <a:solidFill>
              <a:srgbClr val="B23B3B">
                <a:alpha val="30000"/>
              </a:srgbClr>
            </a:solidFill>
            <a:prstDash val="solid"/>
          </a:ln>
        </p:spPr>
      </p:sp>
      <p:sp>
        <p:nvSpPr>
          <p:cNvPr id="78" name="Shape 76"/>
          <p:cNvSpPr/>
          <p:nvPr/>
        </p:nvSpPr>
        <p:spPr>
          <a:xfrm>
            <a:off x="1929384" y="3703320"/>
            <a:ext cx="164592" cy="137160"/>
          </a:xfrm>
          <a:prstGeom prst="rect">
            <a:avLst/>
          </a:prstGeom>
          <a:solidFill>
            <a:srgbClr val="B23B3B">
              <a:alpha val="50000"/>
            </a:srgbClr>
          </a:solidFill>
          <a:ln w="5080">
            <a:solidFill>
              <a:srgbClr val="B23B3B">
                <a:alpha val="30000"/>
              </a:srgbClr>
            </a:solidFill>
            <a:prstDash val="solid"/>
          </a:ln>
        </p:spPr>
      </p:sp>
      <p:sp>
        <p:nvSpPr>
          <p:cNvPr id="79" name="Shape 77"/>
          <p:cNvSpPr/>
          <p:nvPr/>
        </p:nvSpPr>
        <p:spPr>
          <a:xfrm>
            <a:off x="2267712" y="3703320"/>
            <a:ext cx="164592" cy="137160"/>
          </a:xfrm>
          <a:prstGeom prst="rect">
            <a:avLst/>
          </a:prstGeom>
          <a:solidFill>
            <a:srgbClr val="B23B3B">
              <a:alpha val="50000"/>
            </a:srgbClr>
          </a:solidFill>
          <a:ln w="5080">
            <a:solidFill>
              <a:srgbClr val="B23B3B">
                <a:alpha val="30000"/>
              </a:srgbClr>
            </a:solidFill>
            <a:prstDash val="solid"/>
          </a:ln>
        </p:spPr>
      </p:sp>
      <p:sp>
        <p:nvSpPr>
          <p:cNvPr id="80" name="Shape 78"/>
          <p:cNvSpPr/>
          <p:nvPr/>
        </p:nvSpPr>
        <p:spPr>
          <a:xfrm>
            <a:off x="2606040" y="3703320"/>
            <a:ext cx="164592" cy="137160"/>
          </a:xfrm>
          <a:prstGeom prst="rect">
            <a:avLst/>
          </a:prstGeom>
          <a:solidFill>
            <a:srgbClr val="B23B3B">
              <a:alpha val="50000"/>
            </a:srgbClr>
          </a:solidFill>
          <a:ln w="5080">
            <a:solidFill>
              <a:srgbClr val="B23B3B">
                <a:alpha val="30000"/>
              </a:srgbClr>
            </a:solidFill>
            <a:prstDash val="solid"/>
          </a:ln>
        </p:spPr>
      </p:sp>
      <p:sp>
        <p:nvSpPr>
          <p:cNvPr id="81" name="Shape 79"/>
          <p:cNvSpPr/>
          <p:nvPr/>
        </p:nvSpPr>
        <p:spPr>
          <a:xfrm>
            <a:off x="2944368" y="3703320"/>
            <a:ext cx="164592" cy="137160"/>
          </a:xfrm>
          <a:prstGeom prst="rect">
            <a:avLst/>
          </a:prstGeom>
          <a:solidFill>
            <a:srgbClr val="B23B3B">
              <a:alpha val="50000"/>
            </a:srgbClr>
          </a:solidFill>
          <a:ln w="5080">
            <a:solidFill>
              <a:srgbClr val="B23B3B">
                <a:alpha val="30000"/>
              </a:srgbClr>
            </a:solidFill>
            <a:prstDash val="solid"/>
          </a:ln>
        </p:spPr>
      </p:sp>
      <p:sp>
        <p:nvSpPr>
          <p:cNvPr id="82" name="Shape 80"/>
          <p:cNvSpPr/>
          <p:nvPr/>
        </p:nvSpPr>
        <p:spPr>
          <a:xfrm>
            <a:off x="3282696" y="3703320"/>
            <a:ext cx="164592" cy="137160"/>
          </a:xfrm>
          <a:prstGeom prst="rect">
            <a:avLst/>
          </a:prstGeom>
          <a:solidFill>
            <a:srgbClr val="B23B3B">
              <a:alpha val="50000"/>
            </a:srgbClr>
          </a:solidFill>
          <a:ln w="5080">
            <a:solidFill>
              <a:srgbClr val="B23B3B">
                <a:alpha val="30000"/>
              </a:srgbClr>
            </a:solidFill>
            <a:prstDash val="solid"/>
          </a:ln>
        </p:spPr>
      </p:sp>
      <p:sp>
        <p:nvSpPr>
          <p:cNvPr id="83" name="Shape 81"/>
          <p:cNvSpPr/>
          <p:nvPr/>
        </p:nvSpPr>
        <p:spPr>
          <a:xfrm>
            <a:off x="3621024" y="3703320"/>
            <a:ext cx="164592" cy="137160"/>
          </a:xfrm>
          <a:prstGeom prst="rect">
            <a:avLst/>
          </a:prstGeom>
          <a:solidFill>
            <a:srgbClr val="B23B3B">
              <a:alpha val="50000"/>
            </a:srgbClr>
          </a:solidFill>
          <a:ln w="5080">
            <a:solidFill>
              <a:srgbClr val="B23B3B">
                <a:alpha val="30000"/>
              </a:srgbClr>
            </a:solidFill>
            <a:prstDash val="solid"/>
          </a:ln>
        </p:spPr>
      </p:sp>
      <p:sp>
        <p:nvSpPr>
          <p:cNvPr id="84" name="Shape 82"/>
          <p:cNvSpPr/>
          <p:nvPr/>
        </p:nvSpPr>
        <p:spPr>
          <a:xfrm>
            <a:off x="3959352" y="3703320"/>
            <a:ext cx="164592" cy="137160"/>
          </a:xfrm>
          <a:prstGeom prst="rect">
            <a:avLst/>
          </a:prstGeom>
          <a:solidFill>
            <a:srgbClr val="B23B3B">
              <a:alpha val="50000"/>
            </a:srgbClr>
          </a:solidFill>
          <a:ln w="5080">
            <a:solidFill>
              <a:srgbClr val="B23B3B">
                <a:alpha val="30000"/>
              </a:srgbClr>
            </a:solidFill>
            <a:prstDash val="solid"/>
          </a:ln>
        </p:spPr>
      </p:sp>
      <p:sp>
        <p:nvSpPr>
          <p:cNvPr id="85" name="Shape 83"/>
          <p:cNvSpPr/>
          <p:nvPr/>
        </p:nvSpPr>
        <p:spPr>
          <a:xfrm>
            <a:off x="4297680" y="3703320"/>
            <a:ext cx="164592" cy="137160"/>
          </a:xfrm>
          <a:prstGeom prst="rect">
            <a:avLst/>
          </a:prstGeom>
          <a:solidFill>
            <a:srgbClr val="B23B3B">
              <a:alpha val="50000"/>
            </a:srgbClr>
          </a:solidFill>
          <a:ln w="5080">
            <a:solidFill>
              <a:srgbClr val="B23B3B">
                <a:alpha val="30000"/>
              </a:srgbClr>
            </a:solidFill>
            <a:prstDash val="solid"/>
          </a:ln>
        </p:spPr>
      </p:sp>
      <p:sp>
        <p:nvSpPr>
          <p:cNvPr id="86" name="Shape 84"/>
          <p:cNvSpPr/>
          <p:nvPr/>
        </p:nvSpPr>
        <p:spPr>
          <a:xfrm>
            <a:off x="4636008" y="3703320"/>
            <a:ext cx="164592" cy="137160"/>
          </a:xfrm>
          <a:prstGeom prst="rect">
            <a:avLst/>
          </a:prstGeom>
          <a:solidFill>
            <a:srgbClr val="B23B3B">
              <a:alpha val="50000"/>
            </a:srgbClr>
          </a:solidFill>
          <a:ln w="5080">
            <a:solidFill>
              <a:srgbClr val="B23B3B">
                <a:alpha val="30000"/>
              </a:srgbClr>
            </a:solidFill>
            <a:prstDash val="solid"/>
          </a:ln>
        </p:spPr>
      </p:sp>
      <p:sp>
        <p:nvSpPr>
          <p:cNvPr id="87" name="Shape 85"/>
          <p:cNvSpPr/>
          <p:nvPr/>
        </p:nvSpPr>
        <p:spPr>
          <a:xfrm>
            <a:off x="4974336" y="3703320"/>
            <a:ext cx="164592" cy="137160"/>
          </a:xfrm>
          <a:prstGeom prst="rect">
            <a:avLst/>
          </a:prstGeom>
          <a:solidFill>
            <a:srgbClr val="B23B3B">
              <a:alpha val="50000"/>
            </a:srgbClr>
          </a:solidFill>
          <a:ln w="5080">
            <a:solidFill>
              <a:srgbClr val="B23B3B">
                <a:alpha val="30000"/>
              </a:srgbClr>
            </a:solidFill>
            <a:prstDash val="solid"/>
          </a:ln>
        </p:spPr>
      </p:sp>
      <p:sp>
        <p:nvSpPr>
          <p:cNvPr id="88" name="Shape 86"/>
          <p:cNvSpPr/>
          <p:nvPr/>
        </p:nvSpPr>
        <p:spPr>
          <a:xfrm>
            <a:off x="914400" y="4014216"/>
            <a:ext cx="164592" cy="137160"/>
          </a:xfrm>
          <a:prstGeom prst="rect">
            <a:avLst/>
          </a:prstGeom>
          <a:solidFill>
            <a:srgbClr val="B23B3B">
              <a:alpha val="50000"/>
            </a:srgbClr>
          </a:solidFill>
          <a:ln w="5080">
            <a:solidFill>
              <a:srgbClr val="B23B3B">
                <a:alpha val="30000"/>
              </a:srgbClr>
            </a:solidFill>
            <a:prstDash val="solid"/>
          </a:ln>
        </p:spPr>
      </p:sp>
      <p:sp>
        <p:nvSpPr>
          <p:cNvPr id="89" name="Shape 87"/>
          <p:cNvSpPr/>
          <p:nvPr/>
        </p:nvSpPr>
        <p:spPr>
          <a:xfrm>
            <a:off x="1252728" y="4014216"/>
            <a:ext cx="164592" cy="137160"/>
          </a:xfrm>
          <a:prstGeom prst="rect">
            <a:avLst/>
          </a:prstGeom>
          <a:solidFill>
            <a:srgbClr val="B23B3B">
              <a:alpha val="50000"/>
            </a:srgbClr>
          </a:solidFill>
          <a:ln w="5080">
            <a:solidFill>
              <a:srgbClr val="B23B3B">
                <a:alpha val="30000"/>
              </a:srgbClr>
            </a:solidFill>
            <a:prstDash val="solid"/>
          </a:ln>
        </p:spPr>
      </p:sp>
      <p:sp>
        <p:nvSpPr>
          <p:cNvPr id="90" name="Shape 88"/>
          <p:cNvSpPr/>
          <p:nvPr/>
        </p:nvSpPr>
        <p:spPr>
          <a:xfrm>
            <a:off x="1591056" y="4014216"/>
            <a:ext cx="164592" cy="137160"/>
          </a:xfrm>
          <a:prstGeom prst="rect">
            <a:avLst/>
          </a:prstGeom>
          <a:solidFill>
            <a:srgbClr val="B23B3B">
              <a:alpha val="50000"/>
            </a:srgbClr>
          </a:solidFill>
          <a:ln w="5080">
            <a:solidFill>
              <a:srgbClr val="B23B3B">
                <a:alpha val="30000"/>
              </a:srgbClr>
            </a:solidFill>
            <a:prstDash val="solid"/>
          </a:ln>
        </p:spPr>
      </p:sp>
      <p:sp>
        <p:nvSpPr>
          <p:cNvPr id="91" name="Shape 89"/>
          <p:cNvSpPr/>
          <p:nvPr/>
        </p:nvSpPr>
        <p:spPr>
          <a:xfrm>
            <a:off x="1929384" y="4014216"/>
            <a:ext cx="164592" cy="137160"/>
          </a:xfrm>
          <a:prstGeom prst="rect">
            <a:avLst/>
          </a:prstGeom>
          <a:solidFill>
            <a:srgbClr val="B23B3B">
              <a:alpha val="50000"/>
            </a:srgbClr>
          </a:solidFill>
          <a:ln w="5080">
            <a:solidFill>
              <a:srgbClr val="B23B3B">
                <a:alpha val="30000"/>
              </a:srgbClr>
            </a:solidFill>
            <a:prstDash val="solid"/>
          </a:ln>
        </p:spPr>
      </p:sp>
      <p:sp>
        <p:nvSpPr>
          <p:cNvPr id="92" name="Shape 90"/>
          <p:cNvSpPr/>
          <p:nvPr/>
        </p:nvSpPr>
        <p:spPr>
          <a:xfrm>
            <a:off x="2267712" y="4014216"/>
            <a:ext cx="164592" cy="137160"/>
          </a:xfrm>
          <a:prstGeom prst="rect">
            <a:avLst/>
          </a:prstGeom>
          <a:solidFill>
            <a:srgbClr val="B23B3B">
              <a:alpha val="50000"/>
            </a:srgbClr>
          </a:solidFill>
          <a:ln w="5080">
            <a:solidFill>
              <a:srgbClr val="B23B3B">
                <a:alpha val="30000"/>
              </a:srgbClr>
            </a:solidFill>
            <a:prstDash val="solid"/>
          </a:ln>
        </p:spPr>
      </p:sp>
      <p:sp>
        <p:nvSpPr>
          <p:cNvPr id="93" name="Shape 91"/>
          <p:cNvSpPr/>
          <p:nvPr/>
        </p:nvSpPr>
        <p:spPr>
          <a:xfrm>
            <a:off x="2606040" y="4014216"/>
            <a:ext cx="164592" cy="137160"/>
          </a:xfrm>
          <a:prstGeom prst="rect">
            <a:avLst/>
          </a:prstGeom>
          <a:solidFill>
            <a:srgbClr val="B23B3B">
              <a:alpha val="50000"/>
            </a:srgbClr>
          </a:solidFill>
          <a:ln w="5080">
            <a:solidFill>
              <a:srgbClr val="B23B3B">
                <a:alpha val="30000"/>
              </a:srgbClr>
            </a:solidFill>
            <a:prstDash val="solid"/>
          </a:ln>
        </p:spPr>
      </p:sp>
      <p:sp>
        <p:nvSpPr>
          <p:cNvPr id="94" name="Shape 92"/>
          <p:cNvSpPr/>
          <p:nvPr/>
        </p:nvSpPr>
        <p:spPr>
          <a:xfrm>
            <a:off x="2944368" y="4014216"/>
            <a:ext cx="164592" cy="137160"/>
          </a:xfrm>
          <a:prstGeom prst="rect">
            <a:avLst/>
          </a:prstGeom>
          <a:solidFill>
            <a:srgbClr val="B23B3B">
              <a:alpha val="50000"/>
            </a:srgbClr>
          </a:solidFill>
          <a:ln w="5080">
            <a:solidFill>
              <a:srgbClr val="B23B3B">
                <a:alpha val="30000"/>
              </a:srgbClr>
            </a:solidFill>
            <a:prstDash val="solid"/>
          </a:ln>
        </p:spPr>
      </p:sp>
      <p:sp>
        <p:nvSpPr>
          <p:cNvPr id="95" name="Shape 93"/>
          <p:cNvSpPr/>
          <p:nvPr/>
        </p:nvSpPr>
        <p:spPr>
          <a:xfrm>
            <a:off x="3282696" y="4014216"/>
            <a:ext cx="164592" cy="137160"/>
          </a:xfrm>
          <a:prstGeom prst="rect">
            <a:avLst/>
          </a:prstGeom>
          <a:solidFill>
            <a:srgbClr val="B23B3B">
              <a:alpha val="50000"/>
            </a:srgbClr>
          </a:solidFill>
          <a:ln w="5080">
            <a:solidFill>
              <a:srgbClr val="B23B3B">
                <a:alpha val="30000"/>
              </a:srgbClr>
            </a:solidFill>
            <a:prstDash val="solid"/>
          </a:ln>
        </p:spPr>
      </p:sp>
      <p:sp>
        <p:nvSpPr>
          <p:cNvPr id="96" name="Shape 94"/>
          <p:cNvSpPr/>
          <p:nvPr/>
        </p:nvSpPr>
        <p:spPr>
          <a:xfrm>
            <a:off x="3621024" y="4014216"/>
            <a:ext cx="164592" cy="137160"/>
          </a:xfrm>
          <a:prstGeom prst="rect">
            <a:avLst/>
          </a:prstGeom>
          <a:solidFill>
            <a:srgbClr val="B23B3B">
              <a:alpha val="50000"/>
            </a:srgbClr>
          </a:solidFill>
          <a:ln w="5080">
            <a:solidFill>
              <a:srgbClr val="B23B3B">
                <a:alpha val="30000"/>
              </a:srgbClr>
            </a:solidFill>
            <a:prstDash val="solid"/>
          </a:ln>
        </p:spPr>
      </p:sp>
      <p:sp>
        <p:nvSpPr>
          <p:cNvPr id="97" name="Shape 95"/>
          <p:cNvSpPr/>
          <p:nvPr/>
        </p:nvSpPr>
        <p:spPr>
          <a:xfrm>
            <a:off x="3959352" y="4014216"/>
            <a:ext cx="164592" cy="137160"/>
          </a:xfrm>
          <a:prstGeom prst="rect">
            <a:avLst/>
          </a:prstGeom>
          <a:solidFill>
            <a:srgbClr val="B23B3B">
              <a:alpha val="50000"/>
            </a:srgbClr>
          </a:solidFill>
          <a:ln w="5080">
            <a:solidFill>
              <a:srgbClr val="B23B3B">
                <a:alpha val="30000"/>
              </a:srgbClr>
            </a:solidFill>
            <a:prstDash val="solid"/>
          </a:ln>
        </p:spPr>
      </p:sp>
      <p:sp>
        <p:nvSpPr>
          <p:cNvPr id="98" name="Shape 96"/>
          <p:cNvSpPr/>
          <p:nvPr/>
        </p:nvSpPr>
        <p:spPr>
          <a:xfrm>
            <a:off x="4297680" y="4014216"/>
            <a:ext cx="164592" cy="137160"/>
          </a:xfrm>
          <a:prstGeom prst="rect">
            <a:avLst/>
          </a:prstGeom>
          <a:solidFill>
            <a:srgbClr val="B23B3B">
              <a:alpha val="50000"/>
            </a:srgbClr>
          </a:solidFill>
          <a:ln w="5080">
            <a:solidFill>
              <a:srgbClr val="B23B3B">
                <a:alpha val="30000"/>
              </a:srgbClr>
            </a:solidFill>
            <a:prstDash val="solid"/>
          </a:ln>
        </p:spPr>
      </p:sp>
      <p:sp>
        <p:nvSpPr>
          <p:cNvPr id="99" name="Shape 97"/>
          <p:cNvSpPr/>
          <p:nvPr/>
        </p:nvSpPr>
        <p:spPr>
          <a:xfrm>
            <a:off x="4636008" y="4014216"/>
            <a:ext cx="164592" cy="137160"/>
          </a:xfrm>
          <a:prstGeom prst="rect">
            <a:avLst/>
          </a:prstGeom>
          <a:solidFill>
            <a:srgbClr val="B23B3B">
              <a:alpha val="50000"/>
            </a:srgbClr>
          </a:solidFill>
          <a:ln w="5080">
            <a:solidFill>
              <a:srgbClr val="B23B3B">
                <a:alpha val="30000"/>
              </a:srgbClr>
            </a:solidFill>
            <a:prstDash val="solid"/>
          </a:ln>
        </p:spPr>
      </p:sp>
      <p:sp>
        <p:nvSpPr>
          <p:cNvPr id="100" name="Shape 98"/>
          <p:cNvSpPr/>
          <p:nvPr/>
        </p:nvSpPr>
        <p:spPr>
          <a:xfrm>
            <a:off x="4974336" y="4014216"/>
            <a:ext cx="164592" cy="137160"/>
          </a:xfrm>
          <a:prstGeom prst="rect">
            <a:avLst/>
          </a:prstGeom>
          <a:solidFill>
            <a:srgbClr val="B23B3B">
              <a:alpha val="50000"/>
            </a:srgbClr>
          </a:solidFill>
          <a:ln w="5080">
            <a:solidFill>
              <a:srgbClr val="B23B3B">
                <a:alpha val="30000"/>
              </a:srgbClr>
            </a:solidFill>
            <a:prstDash val="solid"/>
          </a:ln>
        </p:spPr>
      </p:sp>
      <p:sp>
        <p:nvSpPr>
          <p:cNvPr id="101" name="Shape 99"/>
          <p:cNvSpPr/>
          <p:nvPr/>
        </p:nvSpPr>
        <p:spPr>
          <a:xfrm>
            <a:off x="914400" y="4325112"/>
            <a:ext cx="164592" cy="137160"/>
          </a:xfrm>
          <a:prstGeom prst="rect">
            <a:avLst/>
          </a:prstGeom>
          <a:solidFill>
            <a:srgbClr val="B23B3B">
              <a:alpha val="50000"/>
            </a:srgbClr>
          </a:solidFill>
          <a:ln w="5080">
            <a:solidFill>
              <a:srgbClr val="B23B3B">
                <a:alpha val="30000"/>
              </a:srgbClr>
            </a:solidFill>
            <a:prstDash val="solid"/>
          </a:ln>
        </p:spPr>
      </p:sp>
      <p:sp>
        <p:nvSpPr>
          <p:cNvPr id="102" name="Shape 100"/>
          <p:cNvSpPr/>
          <p:nvPr/>
        </p:nvSpPr>
        <p:spPr>
          <a:xfrm>
            <a:off x="1252728" y="4325112"/>
            <a:ext cx="164592" cy="137160"/>
          </a:xfrm>
          <a:prstGeom prst="rect">
            <a:avLst/>
          </a:prstGeom>
          <a:solidFill>
            <a:srgbClr val="B23B3B">
              <a:alpha val="50000"/>
            </a:srgbClr>
          </a:solidFill>
          <a:ln w="5080">
            <a:solidFill>
              <a:srgbClr val="B23B3B">
                <a:alpha val="30000"/>
              </a:srgbClr>
            </a:solidFill>
            <a:prstDash val="solid"/>
          </a:ln>
        </p:spPr>
      </p:sp>
      <p:sp>
        <p:nvSpPr>
          <p:cNvPr id="103" name="Shape 101"/>
          <p:cNvSpPr/>
          <p:nvPr/>
        </p:nvSpPr>
        <p:spPr>
          <a:xfrm>
            <a:off x="1591056" y="4325112"/>
            <a:ext cx="164592" cy="137160"/>
          </a:xfrm>
          <a:prstGeom prst="rect">
            <a:avLst/>
          </a:prstGeom>
          <a:solidFill>
            <a:srgbClr val="B23B3B">
              <a:alpha val="50000"/>
            </a:srgbClr>
          </a:solidFill>
          <a:ln w="5080">
            <a:solidFill>
              <a:srgbClr val="B23B3B">
                <a:alpha val="30000"/>
              </a:srgbClr>
            </a:solidFill>
            <a:prstDash val="solid"/>
          </a:ln>
        </p:spPr>
      </p:sp>
      <p:sp>
        <p:nvSpPr>
          <p:cNvPr id="104" name="Shape 102"/>
          <p:cNvSpPr/>
          <p:nvPr/>
        </p:nvSpPr>
        <p:spPr>
          <a:xfrm>
            <a:off x="1929384" y="4325112"/>
            <a:ext cx="164592" cy="137160"/>
          </a:xfrm>
          <a:prstGeom prst="rect">
            <a:avLst/>
          </a:prstGeom>
          <a:solidFill>
            <a:srgbClr val="B23B3B">
              <a:alpha val="50000"/>
            </a:srgbClr>
          </a:solidFill>
          <a:ln w="5080">
            <a:solidFill>
              <a:srgbClr val="B23B3B">
                <a:alpha val="30000"/>
              </a:srgbClr>
            </a:solidFill>
            <a:prstDash val="solid"/>
          </a:ln>
        </p:spPr>
      </p:sp>
      <p:sp>
        <p:nvSpPr>
          <p:cNvPr id="105" name="Shape 103"/>
          <p:cNvSpPr/>
          <p:nvPr/>
        </p:nvSpPr>
        <p:spPr>
          <a:xfrm>
            <a:off x="2267712" y="4325112"/>
            <a:ext cx="164592" cy="137160"/>
          </a:xfrm>
          <a:prstGeom prst="rect">
            <a:avLst/>
          </a:prstGeom>
          <a:solidFill>
            <a:srgbClr val="B23B3B">
              <a:alpha val="50000"/>
            </a:srgbClr>
          </a:solidFill>
          <a:ln w="5080">
            <a:solidFill>
              <a:srgbClr val="B23B3B">
                <a:alpha val="30000"/>
              </a:srgbClr>
            </a:solidFill>
            <a:prstDash val="solid"/>
          </a:ln>
        </p:spPr>
      </p:sp>
      <p:sp>
        <p:nvSpPr>
          <p:cNvPr id="106" name="Shape 104"/>
          <p:cNvSpPr/>
          <p:nvPr/>
        </p:nvSpPr>
        <p:spPr>
          <a:xfrm>
            <a:off x="2606040" y="4325112"/>
            <a:ext cx="164592" cy="137160"/>
          </a:xfrm>
          <a:prstGeom prst="rect">
            <a:avLst/>
          </a:prstGeom>
          <a:solidFill>
            <a:srgbClr val="B23B3B">
              <a:alpha val="50000"/>
            </a:srgbClr>
          </a:solidFill>
          <a:ln w="5080">
            <a:solidFill>
              <a:srgbClr val="B23B3B">
                <a:alpha val="30000"/>
              </a:srgbClr>
            </a:solidFill>
            <a:prstDash val="solid"/>
          </a:ln>
        </p:spPr>
      </p:sp>
      <p:sp>
        <p:nvSpPr>
          <p:cNvPr id="107" name="Shape 105"/>
          <p:cNvSpPr/>
          <p:nvPr/>
        </p:nvSpPr>
        <p:spPr>
          <a:xfrm>
            <a:off x="2944368" y="4325112"/>
            <a:ext cx="164592" cy="137160"/>
          </a:xfrm>
          <a:prstGeom prst="rect">
            <a:avLst/>
          </a:prstGeom>
          <a:solidFill>
            <a:srgbClr val="B23B3B">
              <a:alpha val="50000"/>
            </a:srgbClr>
          </a:solidFill>
          <a:ln w="5080">
            <a:solidFill>
              <a:srgbClr val="B23B3B">
                <a:alpha val="30000"/>
              </a:srgbClr>
            </a:solidFill>
            <a:prstDash val="solid"/>
          </a:ln>
        </p:spPr>
      </p:sp>
      <p:sp>
        <p:nvSpPr>
          <p:cNvPr id="108" name="Shape 106"/>
          <p:cNvSpPr/>
          <p:nvPr/>
        </p:nvSpPr>
        <p:spPr>
          <a:xfrm>
            <a:off x="3282696" y="4325112"/>
            <a:ext cx="164592" cy="137160"/>
          </a:xfrm>
          <a:prstGeom prst="rect">
            <a:avLst/>
          </a:prstGeom>
          <a:solidFill>
            <a:srgbClr val="B23B3B">
              <a:alpha val="50000"/>
            </a:srgbClr>
          </a:solidFill>
          <a:ln w="5080">
            <a:solidFill>
              <a:srgbClr val="B23B3B">
                <a:alpha val="30000"/>
              </a:srgbClr>
            </a:solidFill>
            <a:prstDash val="solid"/>
          </a:ln>
        </p:spPr>
      </p:sp>
      <p:sp>
        <p:nvSpPr>
          <p:cNvPr id="109" name="Shape 107"/>
          <p:cNvSpPr/>
          <p:nvPr/>
        </p:nvSpPr>
        <p:spPr>
          <a:xfrm>
            <a:off x="3621024" y="4325112"/>
            <a:ext cx="164592" cy="137160"/>
          </a:xfrm>
          <a:prstGeom prst="rect">
            <a:avLst/>
          </a:prstGeom>
          <a:solidFill>
            <a:srgbClr val="B23B3B">
              <a:alpha val="50000"/>
            </a:srgbClr>
          </a:solidFill>
          <a:ln w="5080">
            <a:solidFill>
              <a:srgbClr val="B23B3B">
                <a:alpha val="30000"/>
              </a:srgbClr>
            </a:solidFill>
            <a:prstDash val="solid"/>
          </a:ln>
        </p:spPr>
      </p:sp>
      <p:sp>
        <p:nvSpPr>
          <p:cNvPr id="110" name="Shape 108"/>
          <p:cNvSpPr/>
          <p:nvPr/>
        </p:nvSpPr>
        <p:spPr>
          <a:xfrm>
            <a:off x="3959352" y="4325112"/>
            <a:ext cx="164592" cy="137160"/>
          </a:xfrm>
          <a:prstGeom prst="rect">
            <a:avLst/>
          </a:prstGeom>
          <a:solidFill>
            <a:srgbClr val="B23B3B">
              <a:alpha val="50000"/>
            </a:srgbClr>
          </a:solidFill>
          <a:ln w="5080">
            <a:solidFill>
              <a:srgbClr val="B23B3B">
                <a:alpha val="30000"/>
              </a:srgbClr>
            </a:solidFill>
            <a:prstDash val="solid"/>
          </a:ln>
        </p:spPr>
      </p:sp>
      <p:sp>
        <p:nvSpPr>
          <p:cNvPr id="111" name="Shape 109"/>
          <p:cNvSpPr/>
          <p:nvPr/>
        </p:nvSpPr>
        <p:spPr>
          <a:xfrm>
            <a:off x="4297680" y="4325112"/>
            <a:ext cx="164592" cy="137160"/>
          </a:xfrm>
          <a:prstGeom prst="rect">
            <a:avLst/>
          </a:prstGeom>
          <a:solidFill>
            <a:srgbClr val="B23B3B">
              <a:alpha val="50000"/>
            </a:srgbClr>
          </a:solidFill>
          <a:ln w="5080">
            <a:solidFill>
              <a:srgbClr val="B23B3B">
                <a:alpha val="30000"/>
              </a:srgbClr>
            </a:solidFill>
            <a:prstDash val="solid"/>
          </a:ln>
        </p:spPr>
      </p:sp>
      <p:sp>
        <p:nvSpPr>
          <p:cNvPr id="112" name="Shape 110"/>
          <p:cNvSpPr/>
          <p:nvPr/>
        </p:nvSpPr>
        <p:spPr>
          <a:xfrm>
            <a:off x="4636008" y="4325112"/>
            <a:ext cx="164592" cy="137160"/>
          </a:xfrm>
          <a:prstGeom prst="rect">
            <a:avLst/>
          </a:prstGeom>
          <a:solidFill>
            <a:srgbClr val="B23B3B">
              <a:alpha val="50000"/>
            </a:srgbClr>
          </a:solidFill>
          <a:ln w="5080">
            <a:solidFill>
              <a:srgbClr val="B23B3B">
                <a:alpha val="30000"/>
              </a:srgbClr>
            </a:solidFill>
            <a:prstDash val="solid"/>
          </a:ln>
        </p:spPr>
      </p:sp>
      <p:sp>
        <p:nvSpPr>
          <p:cNvPr id="113" name="Shape 111"/>
          <p:cNvSpPr/>
          <p:nvPr/>
        </p:nvSpPr>
        <p:spPr>
          <a:xfrm>
            <a:off x="4974336" y="4325112"/>
            <a:ext cx="164592" cy="137160"/>
          </a:xfrm>
          <a:prstGeom prst="rect">
            <a:avLst/>
          </a:prstGeom>
          <a:solidFill>
            <a:srgbClr val="B23B3B">
              <a:alpha val="50000"/>
            </a:srgbClr>
          </a:solidFill>
          <a:ln w="5080">
            <a:solidFill>
              <a:srgbClr val="B23B3B">
                <a:alpha val="30000"/>
              </a:srgbClr>
            </a:solidFill>
            <a:prstDash val="solid"/>
          </a:ln>
        </p:spPr>
      </p:sp>
      <p:sp>
        <p:nvSpPr>
          <p:cNvPr id="114" name="Text 112"/>
          <p:cNvSpPr/>
          <p:nvPr/>
        </p:nvSpPr>
        <p:spPr>
          <a:xfrm>
            <a:off x="1234440" y="4983480"/>
            <a:ext cx="4114800" cy="329184"/>
          </a:xfrm>
          <a:prstGeom prst="rect">
            <a:avLst/>
          </a:prstGeom>
          <a:noFill/>
          <a:ln/>
        </p:spPr>
        <p:txBody>
          <a:bodyPr wrap="square" lIns="0" tIns="0" rIns="0" bIns="0" rtlCol="0" anchor="ctr">
            <a:normAutofit/>
          </a:bodyPr>
          <a:lstStyle/>
          <a:p>
            <a:pPr algn="ctr" indent="0" marL="0">
              <a:buNone/>
            </a:pPr>
            <a:r>
              <a:rPr lang="en-US" sz="1600" b="1" dirty="0">
                <a:solidFill>
                  <a:srgbClr val="B23B3B"/>
                </a:solidFill>
                <a:latin typeface="Liberation Sans" pitchFamily="34" charset="0"/>
                <a:ea typeface="Liberation Sans" pitchFamily="34" charset="-122"/>
                <a:cs typeface="Liberation Sans" pitchFamily="34" charset="-120"/>
              </a:rPr>
              <a:t>many small opens · stats · imports</a:t>
            </a:r>
            <a:endParaRPr lang="en-US" sz="1600" dirty="0"/>
          </a:p>
        </p:txBody>
      </p:sp>
      <p:sp>
        <p:nvSpPr>
          <p:cNvPr id="115" name="Shape 113"/>
          <p:cNvSpPr/>
          <p:nvPr/>
        </p:nvSpPr>
        <p:spPr>
          <a:xfrm>
            <a:off x="6263640" y="1280160"/>
            <a:ext cx="5394960" cy="4480560"/>
          </a:xfrm>
          <a:prstGeom prst="roundRect">
            <a:avLst/>
          </a:prstGeom>
          <a:solidFill>
            <a:srgbClr val="F9F7FC"/>
          </a:solidFill>
          <a:ln w="15240">
            <a:solidFill>
              <a:srgbClr val="7057A3"/>
            </a:solidFill>
            <a:prstDash val="solid"/>
          </a:ln>
        </p:spPr>
      </p:sp>
      <p:sp>
        <p:nvSpPr>
          <p:cNvPr id="116" name="Text 114"/>
          <p:cNvSpPr/>
          <p:nvPr/>
        </p:nvSpPr>
        <p:spPr>
          <a:xfrm>
            <a:off x="6583680" y="1572768"/>
            <a:ext cx="4754880" cy="365760"/>
          </a:xfrm>
          <a:prstGeom prst="rect">
            <a:avLst/>
          </a:prstGeom>
          <a:noFill/>
          <a:ln/>
        </p:spPr>
        <p:txBody>
          <a:bodyPr wrap="square" lIns="0" tIns="0" rIns="0" bIns="0" rtlCol="0" anchor="ctr">
            <a:normAutofit/>
          </a:bodyPr>
          <a:lstStyle/>
          <a:p>
            <a:pPr algn="ctr" indent="0" marL="0">
              <a:buNone/>
            </a:pPr>
            <a:r>
              <a:rPr lang="en-US" sz="2000" b="1" dirty="0">
                <a:solidFill>
                  <a:srgbClr val="7057A3"/>
                </a:solidFill>
                <a:latin typeface="Liberation Sans" pitchFamily="34" charset="0"/>
                <a:ea typeface="Liberation Sans" pitchFamily="34" charset="-122"/>
                <a:cs typeface="Liberation Sans" pitchFamily="34" charset="-120"/>
              </a:rPr>
              <a:t>APPTAINER SIF IMAGE</a:t>
            </a:r>
            <a:endParaRPr lang="en-US" sz="2000" dirty="0"/>
          </a:p>
        </p:txBody>
      </p:sp>
      <p:sp>
        <p:nvSpPr>
          <p:cNvPr id="117" name="Shape 115"/>
          <p:cNvSpPr/>
          <p:nvPr/>
        </p:nvSpPr>
        <p:spPr>
          <a:xfrm>
            <a:off x="7498080" y="2331720"/>
            <a:ext cx="3566160" cy="1920240"/>
          </a:xfrm>
          <a:prstGeom prst="roundRect">
            <a:avLst/>
          </a:prstGeom>
          <a:solidFill>
            <a:srgbClr val="7057A3">
              <a:alpha val="12000"/>
            </a:srgbClr>
          </a:solidFill>
          <a:ln w="25400">
            <a:solidFill>
              <a:srgbClr val="7057A3"/>
            </a:solidFill>
            <a:prstDash val="solid"/>
          </a:ln>
        </p:spPr>
      </p:sp>
      <p:sp>
        <p:nvSpPr>
          <p:cNvPr id="118" name="Text 116"/>
          <p:cNvSpPr/>
          <p:nvPr/>
        </p:nvSpPr>
        <p:spPr>
          <a:xfrm>
            <a:off x="7772400" y="2761488"/>
            <a:ext cx="3017520" cy="914400"/>
          </a:xfrm>
          <a:prstGeom prst="rect">
            <a:avLst/>
          </a:prstGeom>
          <a:noFill/>
          <a:ln/>
        </p:spPr>
        <p:txBody>
          <a:bodyPr wrap="square" lIns="0" tIns="0" rIns="0" bIns="0" rtlCol="0" anchor="ctr">
            <a:normAutofit/>
          </a:bodyPr>
          <a:lstStyle/>
          <a:p>
            <a:pPr algn="ctr" indent="0" marL="0">
              <a:buNone/>
            </a:pPr>
            <a:r>
              <a:rPr lang="en-US" sz="2000" b="1" dirty="0">
                <a:solidFill>
                  <a:srgbClr val="7057A3"/>
                </a:solidFill>
                <a:latin typeface="Liberation Mono" pitchFamily="34" charset="0"/>
                <a:ea typeface="Liberation Mono" pitchFamily="34" charset="-122"/>
                <a:cs typeface="Liberation Mono" pitchFamily="34" charset="-120"/>
              </a:rPr>
              <a:t>analysis.sif</a:t>
            </a:r>
            <a:endParaRPr lang="en-US" sz="2000" dirty="0"/>
          </a:p>
          <a:p>
            <a:pPr algn="ctr" indent="0" marL="0">
              <a:buNone/>
            </a:pPr>
            <a:r>
              <a:rPr lang="en-US" sz="2000" b="1" dirty="0">
                <a:solidFill>
                  <a:srgbClr val="7057A3"/>
                </a:solidFill>
                <a:latin typeface="Liberation Mono" pitchFamily="34" charset="0"/>
                <a:ea typeface="Liberation Mono" pitchFamily="34" charset="-122"/>
                <a:cs typeface="Liberation Mono" pitchFamily="34" charset="-120"/>
              </a:rPr>
              <a:t>read-only software image</a:t>
            </a:r>
            <a:endParaRPr lang="en-US" sz="2000" dirty="0"/>
          </a:p>
        </p:txBody>
      </p:sp>
      <p:sp>
        <p:nvSpPr>
          <p:cNvPr id="119" name="Text 117"/>
          <p:cNvSpPr/>
          <p:nvPr/>
        </p:nvSpPr>
        <p:spPr>
          <a:xfrm>
            <a:off x="6903720" y="4983480"/>
            <a:ext cx="4114800" cy="329184"/>
          </a:xfrm>
          <a:prstGeom prst="rect">
            <a:avLst/>
          </a:prstGeom>
          <a:noFill/>
          <a:ln/>
        </p:spPr>
        <p:txBody>
          <a:bodyPr wrap="square" lIns="0" tIns="0" rIns="0" bIns="0" rtlCol="0" anchor="ctr">
            <a:normAutofit/>
          </a:bodyPr>
          <a:lstStyle/>
          <a:p>
            <a:pPr algn="ctr" indent="0" marL="0">
              <a:buNone/>
            </a:pPr>
            <a:r>
              <a:rPr lang="en-US" sz="1600" b="1" dirty="0">
                <a:solidFill>
                  <a:srgbClr val="7057A3"/>
                </a:solidFill>
                <a:latin typeface="Liberation Sans" pitchFamily="34" charset="0"/>
                <a:ea typeface="Liberation Sans" pitchFamily="34" charset="-122"/>
                <a:cs typeface="Liberation Sans" pitchFamily="34" charset="-120"/>
              </a:rPr>
              <a:t>one managed artifact · predictable runtime stack</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2. What a container is - and is not</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A packaged user space, not a virtual machine and not a data store</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4</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3 / 13</a:t>
            </a:r>
            <a:endParaRPr lang="en-US" sz="900" dirty="0"/>
          </a:p>
        </p:txBody>
      </p:sp>
      <p:sp>
        <p:nvSpPr>
          <p:cNvPr id="7" name="Shape 5"/>
          <p:cNvSpPr/>
          <p:nvPr/>
        </p:nvSpPr>
        <p:spPr>
          <a:xfrm>
            <a:off x="411480" y="6510528"/>
            <a:ext cx="502920" cy="27432"/>
          </a:xfrm>
          <a:prstGeom prst="rect">
            <a:avLst/>
          </a:prstGeom>
          <a:solidFill>
            <a:srgbClr val="7057A3"/>
          </a:solidFill>
          <a:ln w="12700">
            <a:solidFill>
              <a:srgbClr val="7057A3">
                <a:alpha val="0"/>
              </a:srgbClr>
            </a:solidFill>
            <a:prstDash val="solid"/>
          </a:ln>
        </p:spPr>
      </p:sp>
      <p:sp>
        <p:nvSpPr>
          <p:cNvPr id="8" name="Shape 6"/>
          <p:cNvSpPr/>
          <p:nvPr/>
        </p:nvSpPr>
        <p:spPr>
          <a:xfrm>
            <a:off x="640080" y="1325880"/>
            <a:ext cx="3337560" cy="4343400"/>
          </a:xfrm>
          <a:prstGeom prst="roundRect">
            <a:avLst>
              <a:gd name="adj" fmla="val 2192"/>
            </a:avLst>
          </a:prstGeom>
          <a:solidFill>
            <a:srgbClr val="FFFFFF"/>
          </a:solidFill>
          <a:ln w="12700">
            <a:solidFill>
              <a:srgbClr val="D7E0E7"/>
            </a:solidFill>
            <a:prstDash val="solid"/>
          </a:ln>
        </p:spPr>
      </p:sp>
      <p:sp>
        <p:nvSpPr>
          <p:cNvPr id="9" name="Shape 7"/>
          <p:cNvSpPr/>
          <p:nvPr/>
        </p:nvSpPr>
        <p:spPr>
          <a:xfrm>
            <a:off x="640080" y="1325880"/>
            <a:ext cx="64008" cy="4343400"/>
          </a:xfrm>
          <a:prstGeom prst="rect">
            <a:avLst/>
          </a:prstGeom>
          <a:solidFill>
            <a:srgbClr val="7057A3"/>
          </a:solidFill>
          <a:ln w="12700">
            <a:solidFill>
              <a:srgbClr val="7057A3">
                <a:alpha val="0"/>
              </a:srgbClr>
            </a:solidFill>
            <a:prstDash val="solid"/>
          </a:ln>
        </p:spPr>
      </p:sp>
      <p:sp>
        <p:nvSpPr>
          <p:cNvPr id="10" name="Text 8"/>
          <p:cNvSpPr/>
          <p:nvPr/>
        </p:nvSpPr>
        <p:spPr>
          <a:xfrm>
            <a:off x="841248" y="1472184"/>
            <a:ext cx="29900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CONTAINER INCLUDES</a:t>
            </a:r>
            <a:endParaRPr lang="en-US" sz="1700" dirty="0"/>
          </a:p>
        </p:txBody>
      </p:sp>
      <p:sp>
        <p:nvSpPr>
          <p:cNvPr id="11" name="Text 9"/>
          <p:cNvSpPr/>
          <p:nvPr/>
        </p:nvSpPr>
        <p:spPr>
          <a:xfrm>
            <a:off x="841248" y="1856232"/>
            <a:ext cx="2990088" cy="368503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Application</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Runtime</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Libraries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Command-line tools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Selected static configuration</a:t>
            </a:r>
            <a:endParaRPr lang="en-US" sz="1800" dirty="0"/>
          </a:p>
        </p:txBody>
      </p:sp>
      <p:sp>
        <p:nvSpPr>
          <p:cNvPr id="12" name="Shape 10"/>
          <p:cNvSpPr/>
          <p:nvPr/>
        </p:nvSpPr>
        <p:spPr>
          <a:xfrm>
            <a:off x="4434840" y="1325880"/>
            <a:ext cx="3337560" cy="4343400"/>
          </a:xfrm>
          <a:prstGeom prst="roundRect">
            <a:avLst>
              <a:gd name="adj" fmla="val 2192"/>
            </a:avLst>
          </a:prstGeom>
          <a:solidFill>
            <a:srgbClr val="FFFFFF"/>
          </a:solidFill>
          <a:ln w="12700">
            <a:solidFill>
              <a:srgbClr val="D7E0E7"/>
            </a:solidFill>
            <a:prstDash val="solid"/>
          </a:ln>
        </p:spPr>
      </p:sp>
      <p:sp>
        <p:nvSpPr>
          <p:cNvPr id="13" name="Shape 11"/>
          <p:cNvSpPr/>
          <p:nvPr/>
        </p:nvSpPr>
        <p:spPr>
          <a:xfrm>
            <a:off x="4434840" y="1325880"/>
            <a:ext cx="64008" cy="4343400"/>
          </a:xfrm>
          <a:prstGeom prst="rect">
            <a:avLst/>
          </a:prstGeom>
          <a:solidFill>
            <a:srgbClr val="2C6EAF"/>
          </a:solidFill>
          <a:ln w="12700">
            <a:solidFill>
              <a:srgbClr val="2C6EAF">
                <a:alpha val="0"/>
              </a:srgbClr>
            </a:solidFill>
            <a:prstDash val="solid"/>
          </a:ln>
        </p:spPr>
      </p:sp>
      <p:sp>
        <p:nvSpPr>
          <p:cNvPr id="14" name="Text 12"/>
          <p:cNvSpPr/>
          <p:nvPr/>
        </p:nvSpPr>
        <p:spPr>
          <a:xfrm>
            <a:off x="4636008" y="1472184"/>
            <a:ext cx="29900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HOST PROVIDES</a:t>
            </a:r>
            <a:endParaRPr lang="en-US" sz="1700" dirty="0"/>
          </a:p>
        </p:txBody>
      </p:sp>
      <p:sp>
        <p:nvSpPr>
          <p:cNvPr id="15" name="Text 13"/>
          <p:cNvSpPr/>
          <p:nvPr/>
        </p:nvSpPr>
        <p:spPr>
          <a:xfrm>
            <a:off x="4636008" y="1856232"/>
            <a:ext cx="2990088" cy="368503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Linux kernel</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CPU and GPU devices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Slurm allocation</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Filesystems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User identity</a:t>
            </a:r>
            <a:endParaRPr lang="en-US" sz="1800" dirty="0"/>
          </a:p>
        </p:txBody>
      </p:sp>
      <p:sp>
        <p:nvSpPr>
          <p:cNvPr id="16" name="Shape 14"/>
          <p:cNvSpPr/>
          <p:nvPr/>
        </p:nvSpPr>
        <p:spPr>
          <a:xfrm>
            <a:off x="8229600" y="1325880"/>
            <a:ext cx="3337560" cy="4343400"/>
          </a:xfrm>
          <a:prstGeom prst="roundRect">
            <a:avLst>
              <a:gd name="adj" fmla="val 2192"/>
            </a:avLst>
          </a:prstGeom>
          <a:solidFill>
            <a:srgbClr val="FFFFFF"/>
          </a:solidFill>
          <a:ln w="12700">
            <a:solidFill>
              <a:srgbClr val="D7E0E7"/>
            </a:solidFill>
            <a:prstDash val="solid"/>
          </a:ln>
        </p:spPr>
      </p:sp>
      <p:sp>
        <p:nvSpPr>
          <p:cNvPr id="17" name="Shape 15"/>
          <p:cNvSpPr/>
          <p:nvPr/>
        </p:nvSpPr>
        <p:spPr>
          <a:xfrm>
            <a:off x="8229600" y="1325880"/>
            <a:ext cx="64008" cy="4343400"/>
          </a:xfrm>
          <a:prstGeom prst="rect">
            <a:avLst/>
          </a:prstGeom>
          <a:solidFill>
            <a:srgbClr val="D15B47"/>
          </a:solidFill>
          <a:ln w="12700">
            <a:solidFill>
              <a:srgbClr val="D15B47">
                <a:alpha val="0"/>
              </a:srgbClr>
            </a:solidFill>
            <a:prstDash val="solid"/>
          </a:ln>
        </p:spPr>
      </p:sp>
      <p:sp>
        <p:nvSpPr>
          <p:cNvPr id="18" name="Text 16"/>
          <p:cNvSpPr/>
          <p:nvPr/>
        </p:nvSpPr>
        <p:spPr>
          <a:xfrm>
            <a:off x="8430768" y="1472184"/>
            <a:ext cx="29900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KEEP OUTSIDE</a:t>
            </a:r>
            <a:endParaRPr lang="en-US" sz="1700" dirty="0"/>
          </a:p>
        </p:txBody>
      </p:sp>
      <p:sp>
        <p:nvSpPr>
          <p:cNvPr id="19" name="Text 17"/>
          <p:cNvSpPr/>
          <p:nvPr/>
        </p:nvSpPr>
        <p:spPr>
          <a:xfrm>
            <a:off x="8430768" y="1856232"/>
            <a:ext cx="2990088" cy="368503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Research data</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Secrets and credentials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Writable results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Temporary scratch</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Site-specific policy</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3. SIF: an immutable image artifact</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A read-only image is easier to distribute, verify, and share</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4</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4 / 13</a:t>
            </a:r>
            <a:endParaRPr lang="en-US" sz="900" dirty="0"/>
          </a:p>
        </p:txBody>
      </p:sp>
      <p:sp>
        <p:nvSpPr>
          <p:cNvPr id="7" name="Shape 5"/>
          <p:cNvSpPr/>
          <p:nvPr/>
        </p:nvSpPr>
        <p:spPr>
          <a:xfrm>
            <a:off x="411480" y="6510528"/>
            <a:ext cx="502920" cy="27432"/>
          </a:xfrm>
          <a:prstGeom prst="rect">
            <a:avLst/>
          </a:prstGeom>
          <a:solidFill>
            <a:srgbClr val="7057A3"/>
          </a:solidFill>
          <a:ln w="12700">
            <a:solidFill>
              <a:srgbClr val="7057A3">
                <a:alpha val="0"/>
              </a:srgbClr>
            </a:solidFill>
            <a:prstDash val="solid"/>
          </a:ln>
        </p:spPr>
      </p:sp>
      <p:sp>
        <p:nvSpPr>
          <p:cNvPr id="8" name="Shape 6"/>
          <p:cNvSpPr/>
          <p:nvPr/>
        </p:nvSpPr>
        <p:spPr>
          <a:xfrm>
            <a:off x="960120" y="1234440"/>
            <a:ext cx="3794760" cy="4434840"/>
          </a:xfrm>
          <a:prstGeom prst="roundRect">
            <a:avLst/>
          </a:prstGeom>
          <a:solidFill>
            <a:srgbClr val="7057A3">
              <a:alpha val="9000"/>
            </a:srgbClr>
          </a:solidFill>
          <a:ln w="19050">
            <a:solidFill>
              <a:srgbClr val="7057A3"/>
            </a:solidFill>
            <a:prstDash val="solid"/>
          </a:ln>
        </p:spPr>
      </p:sp>
      <p:sp>
        <p:nvSpPr>
          <p:cNvPr id="9" name="Text 7"/>
          <p:cNvSpPr/>
          <p:nvPr/>
        </p:nvSpPr>
        <p:spPr>
          <a:xfrm>
            <a:off x="1417320" y="1627632"/>
            <a:ext cx="2880360" cy="475488"/>
          </a:xfrm>
          <a:prstGeom prst="rect">
            <a:avLst/>
          </a:prstGeom>
          <a:noFill/>
          <a:ln/>
        </p:spPr>
        <p:txBody>
          <a:bodyPr wrap="square" lIns="0" tIns="0" rIns="0" bIns="0" rtlCol="0" anchor="ctr">
            <a:normAutofit/>
          </a:bodyPr>
          <a:lstStyle/>
          <a:p>
            <a:pPr algn="ctr" indent="0" marL="0">
              <a:buNone/>
            </a:pPr>
            <a:r>
              <a:rPr lang="en-US" sz="2500" b="1" dirty="0">
                <a:solidFill>
                  <a:srgbClr val="7057A3"/>
                </a:solidFill>
                <a:latin typeface="Liberation Mono" pitchFamily="34" charset="0"/>
                <a:ea typeface="Liberation Mono" pitchFamily="34" charset="-122"/>
                <a:cs typeface="Liberation Mono" pitchFamily="34" charset="-120"/>
              </a:rPr>
              <a:t>analysis.sif</a:t>
            </a:r>
            <a:endParaRPr lang="en-US" sz="2500" dirty="0"/>
          </a:p>
        </p:txBody>
      </p:sp>
      <p:sp>
        <p:nvSpPr>
          <p:cNvPr id="10" name="Shape 8"/>
          <p:cNvSpPr/>
          <p:nvPr/>
        </p:nvSpPr>
        <p:spPr>
          <a:xfrm>
            <a:off x="1417320" y="2423160"/>
            <a:ext cx="2880360" cy="475488"/>
          </a:xfrm>
          <a:prstGeom prst="roundRect">
            <a:avLst/>
          </a:prstGeom>
          <a:solidFill>
            <a:srgbClr val="FFFFFF">
              <a:alpha val="92000"/>
            </a:srgbClr>
          </a:solidFill>
          <a:ln w="10160">
            <a:solidFill>
              <a:srgbClr val="7057A3">
                <a:alpha val="55000"/>
              </a:srgbClr>
            </a:solidFill>
            <a:prstDash val="solid"/>
          </a:ln>
        </p:spPr>
      </p:sp>
      <p:sp>
        <p:nvSpPr>
          <p:cNvPr id="11" name="Text 9"/>
          <p:cNvSpPr/>
          <p:nvPr/>
        </p:nvSpPr>
        <p:spPr>
          <a:xfrm>
            <a:off x="1572768" y="2523744"/>
            <a:ext cx="2578608" cy="246888"/>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Liberation Sans" pitchFamily="34" charset="0"/>
                <a:ea typeface="Liberation Sans" pitchFamily="34" charset="-122"/>
                <a:cs typeface="Liberation Sans" pitchFamily="34" charset="-120"/>
              </a:rPr>
              <a:t>application</a:t>
            </a:r>
            <a:endParaRPr lang="en-US" sz="1500" dirty="0"/>
          </a:p>
        </p:txBody>
      </p:sp>
      <p:sp>
        <p:nvSpPr>
          <p:cNvPr id="12" name="Shape 10"/>
          <p:cNvSpPr/>
          <p:nvPr/>
        </p:nvSpPr>
        <p:spPr>
          <a:xfrm>
            <a:off x="1417320" y="3081528"/>
            <a:ext cx="2880360" cy="475488"/>
          </a:xfrm>
          <a:prstGeom prst="roundRect">
            <a:avLst/>
          </a:prstGeom>
          <a:solidFill>
            <a:srgbClr val="FFFFFF">
              <a:alpha val="92000"/>
            </a:srgbClr>
          </a:solidFill>
          <a:ln w="10160">
            <a:solidFill>
              <a:srgbClr val="7057A3">
                <a:alpha val="55000"/>
              </a:srgbClr>
            </a:solidFill>
            <a:prstDash val="solid"/>
          </a:ln>
        </p:spPr>
      </p:sp>
      <p:sp>
        <p:nvSpPr>
          <p:cNvPr id="13" name="Text 11"/>
          <p:cNvSpPr/>
          <p:nvPr/>
        </p:nvSpPr>
        <p:spPr>
          <a:xfrm>
            <a:off x="1572768" y="3182112"/>
            <a:ext cx="2578608" cy="246888"/>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Liberation Sans" pitchFamily="34" charset="0"/>
                <a:ea typeface="Liberation Sans" pitchFamily="34" charset="-122"/>
                <a:cs typeface="Liberation Sans" pitchFamily="34" charset="-120"/>
              </a:rPr>
              <a:t>runtime</a:t>
            </a:r>
            <a:endParaRPr lang="en-US" sz="1500" dirty="0"/>
          </a:p>
        </p:txBody>
      </p:sp>
      <p:sp>
        <p:nvSpPr>
          <p:cNvPr id="14" name="Shape 12"/>
          <p:cNvSpPr/>
          <p:nvPr/>
        </p:nvSpPr>
        <p:spPr>
          <a:xfrm>
            <a:off x="1417320" y="3739896"/>
            <a:ext cx="2880360" cy="475488"/>
          </a:xfrm>
          <a:prstGeom prst="roundRect">
            <a:avLst/>
          </a:prstGeom>
          <a:solidFill>
            <a:srgbClr val="FFFFFF">
              <a:alpha val="92000"/>
            </a:srgbClr>
          </a:solidFill>
          <a:ln w="10160">
            <a:solidFill>
              <a:srgbClr val="7057A3">
                <a:alpha val="55000"/>
              </a:srgbClr>
            </a:solidFill>
            <a:prstDash val="solid"/>
          </a:ln>
        </p:spPr>
      </p:sp>
      <p:sp>
        <p:nvSpPr>
          <p:cNvPr id="15" name="Text 13"/>
          <p:cNvSpPr/>
          <p:nvPr/>
        </p:nvSpPr>
        <p:spPr>
          <a:xfrm>
            <a:off x="1572768" y="3840480"/>
            <a:ext cx="2578608" cy="246888"/>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Liberation Sans" pitchFamily="34" charset="0"/>
                <a:ea typeface="Liberation Sans" pitchFamily="34" charset="-122"/>
                <a:cs typeface="Liberation Sans" pitchFamily="34" charset="-120"/>
              </a:rPr>
              <a:t>libraries</a:t>
            </a:r>
            <a:endParaRPr lang="en-US" sz="1500" dirty="0"/>
          </a:p>
        </p:txBody>
      </p:sp>
      <p:sp>
        <p:nvSpPr>
          <p:cNvPr id="16" name="Shape 14"/>
          <p:cNvSpPr/>
          <p:nvPr/>
        </p:nvSpPr>
        <p:spPr>
          <a:xfrm>
            <a:off x="1417320" y="4398264"/>
            <a:ext cx="2880360" cy="475488"/>
          </a:xfrm>
          <a:prstGeom prst="roundRect">
            <a:avLst/>
          </a:prstGeom>
          <a:solidFill>
            <a:srgbClr val="FFFFFF">
              <a:alpha val="92000"/>
            </a:srgbClr>
          </a:solidFill>
          <a:ln w="10160">
            <a:solidFill>
              <a:srgbClr val="7057A3">
                <a:alpha val="55000"/>
              </a:srgbClr>
            </a:solidFill>
            <a:prstDash val="solid"/>
          </a:ln>
        </p:spPr>
      </p:sp>
      <p:sp>
        <p:nvSpPr>
          <p:cNvPr id="17" name="Text 15"/>
          <p:cNvSpPr/>
          <p:nvPr/>
        </p:nvSpPr>
        <p:spPr>
          <a:xfrm>
            <a:off x="1572768" y="4498848"/>
            <a:ext cx="2578608" cy="246888"/>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Liberation Sans" pitchFamily="34" charset="0"/>
                <a:ea typeface="Liberation Sans" pitchFamily="34" charset="-122"/>
                <a:cs typeface="Liberation Sans" pitchFamily="34" charset="-120"/>
              </a:rPr>
              <a:t>metadata / signature</a:t>
            </a:r>
            <a:endParaRPr lang="en-US" sz="1500" dirty="0"/>
          </a:p>
        </p:txBody>
      </p:sp>
      <p:sp>
        <p:nvSpPr>
          <p:cNvPr id="18" name="Shape 16"/>
          <p:cNvSpPr/>
          <p:nvPr/>
        </p:nvSpPr>
        <p:spPr>
          <a:xfrm>
            <a:off x="5257800" y="1234440"/>
            <a:ext cx="5989320" cy="1234440"/>
          </a:xfrm>
          <a:prstGeom prst="roundRect">
            <a:avLst>
              <a:gd name="adj" fmla="val 5926"/>
            </a:avLst>
          </a:prstGeom>
          <a:solidFill>
            <a:srgbClr val="FFFFFF"/>
          </a:solidFill>
          <a:ln w="12700">
            <a:solidFill>
              <a:srgbClr val="D7E0E7"/>
            </a:solidFill>
            <a:prstDash val="solid"/>
          </a:ln>
        </p:spPr>
      </p:sp>
      <p:sp>
        <p:nvSpPr>
          <p:cNvPr id="19" name="Shape 17"/>
          <p:cNvSpPr/>
          <p:nvPr/>
        </p:nvSpPr>
        <p:spPr>
          <a:xfrm>
            <a:off x="5257800" y="1234440"/>
            <a:ext cx="64008" cy="1234440"/>
          </a:xfrm>
          <a:prstGeom prst="rect">
            <a:avLst/>
          </a:prstGeom>
          <a:solidFill>
            <a:srgbClr val="3A8D63"/>
          </a:solidFill>
          <a:ln w="12700">
            <a:solidFill>
              <a:srgbClr val="3A8D63">
                <a:alpha val="0"/>
              </a:srgbClr>
            </a:solidFill>
            <a:prstDash val="solid"/>
          </a:ln>
        </p:spPr>
      </p:sp>
      <p:sp>
        <p:nvSpPr>
          <p:cNvPr id="20" name="Text 18"/>
          <p:cNvSpPr/>
          <p:nvPr/>
        </p:nvSpPr>
        <p:spPr>
          <a:xfrm>
            <a:off x="5458968" y="1380744"/>
            <a:ext cx="564184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Immutable</a:t>
            </a:r>
            <a:endParaRPr lang="en-US" sz="1700" dirty="0"/>
          </a:p>
        </p:txBody>
      </p:sp>
      <p:sp>
        <p:nvSpPr>
          <p:cNvPr id="21" name="Text 19"/>
          <p:cNvSpPr/>
          <p:nvPr/>
        </p:nvSpPr>
        <p:spPr>
          <a:xfrm>
            <a:off x="5458968" y="1764792"/>
            <a:ext cx="5641848" cy="57607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The software stack does not drift during the analysis.</a:t>
            </a:r>
            <a:endParaRPr lang="en-US" sz="1600" dirty="0"/>
          </a:p>
        </p:txBody>
      </p:sp>
      <p:sp>
        <p:nvSpPr>
          <p:cNvPr id="22" name="Shape 20"/>
          <p:cNvSpPr/>
          <p:nvPr/>
        </p:nvSpPr>
        <p:spPr>
          <a:xfrm>
            <a:off x="5257800" y="2761488"/>
            <a:ext cx="5989320" cy="1234440"/>
          </a:xfrm>
          <a:prstGeom prst="roundRect">
            <a:avLst>
              <a:gd name="adj" fmla="val 5926"/>
            </a:avLst>
          </a:prstGeom>
          <a:solidFill>
            <a:srgbClr val="FFFFFF"/>
          </a:solidFill>
          <a:ln w="12700">
            <a:solidFill>
              <a:srgbClr val="D7E0E7"/>
            </a:solidFill>
            <a:prstDash val="solid"/>
          </a:ln>
        </p:spPr>
      </p:sp>
      <p:sp>
        <p:nvSpPr>
          <p:cNvPr id="23" name="Shape 21"/>
          <p:cNvSpPr/>
          <p:nvPr/>
        </p:nvSpPr>
        <p:spPr>
          <a:xfrm>
            <a:off x="5257800" y="2761488"/>
            <a:ext cx="64008" cy="1234440"/>
          </a:xfrm>
          <a:prstGeom prst="rect">
            <a:avLst/>
          </a:prstGeom>
          <a:solidFill>
            <a:srgbClr val="2C6EAF"/>
          </a:solidFill>
          <a:ln w="12700">
            <a:solidFill>
              <a:srgbClr val="2C6EAF">
                <a:alpha val="0"/>
              </a:srgbClr>
            </a:solidFill>
            <a:prstDash val="solid"/>
          </a:ln>
        </p:spPr>
      </p:sp>
      <p:sp>
        <p:nvSpPr>
          <p:cNvPr id="24" name="Text 22"/>
          <p:cNvSpPr/>
          <p:nvPr/>
        </p:nvSpPr>
        <p:spPr>
          <a:xfrm>
            <a:off x="5458968" y="2907792"/>
            <a:ext cx="564184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Verifiable</a:t>
            </a:r>
            <a:endParaRPr lang="en-US" sz="1700" dirty="0"/>
          </a:p>
        </p:txBody>
      </p:sp>
      <p:sp>
        <p:nvSpPr>
          <p:cNvPr id="25" name="Text 23"/>
          <p:cNvSpPr/>
          <p:nvPr/>
        </p:nvSpPr>
        <p:spPr>
          <a:xfrm>
            <a:off x="5458968" y="3291840"/>
            <a:ext cx="5641848" cy="57607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Record checksum, source registry, and build recipe.</a:t>
            </a:r>
            <a:endParaRPr lang="en-US" sz="1600" dirty="0"/>
          </a:p>
        </p:txBody>
      </p:sp>
      <p:sp>
        <p:nvSpPr>
          <p:cNvPr id="26" name="Shape 24"/>
          <p:cNvSpPr/>
          <p:nvPr/>
        </p:nvSpPr>
        <p:spPr>
          <a:xfrm>
            <a:off x="5257800" y="4288536"/>
            <a:ext cx="5989320" cy="1234440"/>
          </a:xfrm>
          <a:prstGeom prst="roundRect">
            <a:avLst>
              <a:gd name="adj" fmla="val 5926"/>
            </a:avLst>
          </a:prstGeom>
          <a:solidFill>
            <a:srgbClr val="FFFFFF"/>
          </a:solidFill>
          <a:ln w="12700">
            <a:solidFill>
              <a:srgbClr val="D7E0E7"/>
            </a:solidFill>
            <a:prstDash val="solid"/>
          </a:ln>
        </p:spPr>
      </p:sp>
      <p:sp>
        <p:nvSpPr>
          <p:cNvPr id="27" name="Shape 25"/>
          <p:cNvSpPr/>
          <p:nvPr/>
        </p:nvSpPr>
        <p:spPr>
          <a:xfrm>
            <a:off x="5257800" y="4288536"/>
            <a:ext cx="64008" cy="1234440"/>
          </a:xfrm>
          <a:prstGeom prst="rect">
            <a:avLst/>
          </a:prstGeom>
          <a:solidFill>
            <a:srgbClr val="7057A3"/>
          </a:solidFill>
          <a:ln w="12700">
            <a:solidFill>
              <a:srgbClr val="7057A3">
                <a:alpha val="0"/>
              </a:srgbClr>
            </a:solidFill>
            <a:prstDash val="solid"/>
          </a:ln>
        </p:spPr>
      </p:sp>
      <p:sp>
        <p:nvSpPr>
          <p:cNvPr id="28" name="Text 26"/>
          <p:cNvSpPr/>
          <p:nvPr/>
        </p:nvSpPr>
        <p:spPr>
          <a:xfrm>
            <a:off x="5458968" y="4434840"/>
            <a:ext cx="564184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Shareable</a:t>
            </a:r>
            <a:endParaRPr lang="en-US" sz="1700" dirty="0"/>
          </a:p>
        </p:txBody>
      </p:sp>
      <p:sp>
        <p:nvSpPr>
          <p:cNvPr id="29" name="Text 27"/>
          <p:cNvSpPr/>
          <p:nvPr/>
        </p:nvSpPr>
        <p:spPr>
          <a:xfrm>
            <a:off x="5458968" y="4818888"/>
            <a:ext cx="5641848" cy="57607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Many jobs can use the same approved image artifact.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4. Image, cache, temporary space, and project data</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Four locations with four different lifecycles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4</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5 / 13</a:t>
            </a:r>
            <a:endParaRPr lang="en-US" sz="900" dirty="0"/>
          </a:p>
        </p:txBody>
      </p:sp>
      <p:sp>
        <p:nvSpPr>
          <p:cNvPr id="7" name="Shape 5"/>
          <p:cNvSpPr/>
          <p:nvPr/>
        </p:nvSpPr>
        <p:spPr>
          <a:xfrm>
            <a:off x="411480" y="6510528"/>
            <a:ext cx="502920" cy="27432"/>
          </a:xfrm>
          <a:prstGeom prst="rect">
            <a:avLst/>
          </a:prstGeom>
          <a:solidFill>
            <a:srgbClr val="7057A3"/>
          </a:solidFill>
          <a:ln w="12700">
            <a:solidFill>
              <a:srgbClr val="7057A3">
                <a:alpha val="0"/>
              </a:srgbClr>
            </a:solidFill>
            <a:prstDash val="solid"/>
          </a:ln>
        </p:spPr>
      </p:sp>
      <p:sp>
        <p:nvSpPr>
          <p:cNvPr id="8" name="Shape 6"/>
          <p:cNvSpPr/>
          <p:nvPr/>
        </p:nvSpPr>
        <p:spPr>
          <a:xfrm>
            <a:off x="594360" y="1325880"/>
            <a:ext cx="2542032" cy="3886200"/>
          </a:xfrm>
          <a:prstGeom prst="roundRect">
            <a:avLst>
              <a:gd name="adj" fmla="val 2878"/>
            </a:avLst>
          </a:prstGeom>
          <a:solidFill>
            <a:srgbClr val="FFFFFF"/>
          </a:solidFill>
          <a:ln w="12700">
            <a:solidFill>
              <a:srgbClr val="D7E0E7"/>
            </a:solidFill>
            <a:prstDash val="solid"/>
          </a:ln>
        </p:spPr>
      </p:sp>
      <p:sp>
        <p:nvSpPr>
          <p:cNvPr id="9" name="Shape 7"/>
          <p:cNvSpPr/>
          <p:nvPr/>
        </p:nvSpPr>
        <p:spPr>
          <a:xfrm>
            <a:off x="594360" y="1325880"/>
            <a:ext cx="64008" cy="3886200"/>
          </a:xfrm>
          <a:prstGeom prst="rect">
            <a:avLst/>
          </a:prstGeom>
          <a:solidFill>
            <a:srgbClr val="7057A3"/>
          </a:solidFill>
          <a:ln w="12700">
            <a:solidFill>
              <a:srgbClr val="7057A3">
                <a:alpha val="0"/>
              </a:srgbClr>
            </a:solidFill>
            <a:prstDash val="solid"/>
          </a:ln>
        </p:spPr>
      </p:sp>
      <p:sp>
        <p:nvSpPr>
          <p:cNvPr id="10" name="Text 8"/>
          <p:cNvSpPr/>
          <p:nvPr/>
        </p:nvSpPr>
        <p:spPr>
          <a:xfrm>
            <a:off x="795528" y="147218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SIF image</a:t>
            </a:r>
            <a:endParaRPr lang="en-US" sz="1700" dirty="0"/>
          </a:p>
        </p:txBody>
      </p:sp>
      <p:sp>
        <p:nvSpPr>
          <p:cNvPr id="11" name="Text 9"/>
          <p:cNvSpPr/>
          <p:nvPr/>
        </p:nvSpPr>
        <p:spPr>
          <a:xfrm>
            <a:off x="795528" y="1856232"/>
            <a:ext cx="2194560" cy="322783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durable + versioned</a:t>
            </a:r>
            <a:endParaRPr lang="en-US" sz="1700" dirty="0"/>
          </a:p>
          <a:p>
            <a:pPr algn="l" indent="0" marL="0">
              <a:buNone/>
            </a:pP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project software store</a:t>
            </a:r>
            <a:endParaRPr lang="en-US" sz="1700" dirty="0"/>
          </a:p>
        </p:txBody>
      </p:sp>
      <p:sp>
        <p:nvSpPr>
          <p:cNvPr id="12" name="Shape 10"/>
          <p:cNvSpPr/>
          <p:nvPr/>
        </p:nvSpPr>
        <p:spPr>
          <a:xfrm>
            <a:off x="3474720" y="1325880"/>
            <a:ext cx="2542032" cy="3886200"/>
          </a:xfrm>
          <a:prstGeom prst="roundRect">
            <a:avLst>
              <a:gd name="adj" fmla="val 2878"/>
            </a:avLst>
          </a:prstGeom>
          <a:solidFill>
            <a:srgbClr val="FFFFFF"/>
          </a:solidFill>
          <a:ln w="12700">
            <a:solidFill>
              <a:srgbClr val="D7E0E7"/>
            </a:solidFill>
            <a:prstDash val="solid"/>
          </a:ln>
        </p:spPr>
      </p:sp>
      <p:sp>
        <p:nvSpPr>
          <p:cNvPr id="13" name="Shape 11"/>
          <p:cNvSpPr/>
          <p:nvPr/>
        </p:nvSpPr>
        <p:spPr>
          <a:xfrm>
            <a:off x="3474720" y="1325880"/>
            <a:ext cx="64008" cy="3886200"/>
          </a:xfrm>
          <a:prstGeom prst="rect">
            <a:avLst/>
          </a:prstGeom>
          <a:solidFill>
            <a:srgbClr val="7057A3"/>
          </a:solidFill>
          <a:ln w="12700">
            <a:solidFill>
              <a:srgbClr val="7057A3">
                <a:alpha val="0"/>
              </a:srgbClr>
            </a:solidFill>
            <a:prstDash val="solid"/>
          </a:ln>
        </p:spPr>
      </p:sp>
      <p:sp>
        <p:nvSpPr>
          <p:cNvPr id="14" name="Text 12"/>
          <p:cNvSpPr/>
          <p:nvPr/>
        </p:nvSpPr>
        <p:spPr>
          <a:xfrm>
            <a:off x="3675888" y="147218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Cache</a:t>
            </a:r>
            <a:endParaRPr lang="en-US" sz="1700" dirty="0"/>
          </a:p>
        </p:txBody>
      </p:sp>
      <p:sp>
        <p:nvSpPr>
          <p:cNvPr id="15" name="Text 13"/>
          <p:cNvSpPr/>
          <p:nvPr/>
        </p:nvSpPr>
        <p:spPr>
          <a:xfrm>
            <a:off x="3675888" y="1856232"/>
            <a:ext cx="2194560" cy="322783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reusable downloads</a:t>
            </a:r>
            <a:endParaRPr lang="en-US" sz="1700" dirty="0"/>
          </a:p>
          <a:p>
            <a:pPr algn="l" indent="0" marL="0">
              <a:buNone/>
            </a:pP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approved cache path</a:t>
            </a:r>
            <a:endParaRPr lang="en-US" sz="1700" dirty="0"/>
          </a:p>
        </p:txBody>
      </p:sp>
      <p:sp>
        <p:nvSpPr>
          <p:cNvPr id="16" name="Shape 14"/>
          <p:cNvSpPr/>
          <p:nvPr/>
        </p:nvSpPr>
        <p:spPr>
          <a:xfrm>
            <a:off x="6355080" y="1325880"/>
            <a:ext cx="2542032" cy="3886200"/>
          </a:xfrm>
          <a:prstGeom prst="roundRect">
            <a:avLst>
              <a:gd name="adj" fmla="val 2878"/>
            </a:avLst>
          </a:prstGeom>
          <a:solidFill>
            <a:srgbClr val="FFFFFF"/>
          </a:solidFill>
          <a:ln w="12700">
            <a:solidFill>
              <a:srgbClr val="D7E0E7"/>
            </a:solidFill>
            <a:prstDash val="solid"/>
          </a:ln>
        </p:spPr>
      </p:sp>
      <p:sp>
        <p:nvSpPr>
          <p:cNvPr id="17" name="Shape 15"/>
          <p:cNvSpPr/>
          <p:nvPr/>
        </p:nvSpPr>
        <p:spPr>
          <a:xfrm>
            <a:off x="6355080" y="1325880"/>
            <a:ext cx="64008" cy="3886200"/>
          </a:xfrm>
          <a:prstGeom prst="rect">
            <a:avLst/>
          </a:prstGeom>
          <a:solidFill>
            <a:srgbClr val="D15B47"/>
          </a:solidFill>
          <a:ln w="12700">
            <a:solidFill>
              <a:srgbClr val="D15B47">
                <a:alpha val="0"/>
              </a:srgbClr>
            </a:solidFill>
            <a:prstDash val="solid"/>
          </a:ln>
        </p:spPr>
      </p:sp>
      <p:sp>
        <p:nvSpPr>
          <p:cNvPr id="18" name="Text 16"/>
          <p:cNvSpPr/>
          <p:nvPr/>
        </p:nvSpPr>
        <p:spPr>
          <a:xfrm>
            <a:off x="6556248" y="147218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TMPDIR</a:t>
            </a:r>
            <a:endParaRPr lang="en-US" sz="1700" dirty="0"/>
          </a:p>
        </p:txBody>
      </p:sp>
      <p:sp>
        <p:nvSpPr>
          <p:cNvPr id="19" name="Text 17"/>
          <p:cNvSpPr/>
          <p:nvPr/>
        </p:nvSpPr>
        <p:spPr>
          <a:xfrm>
            <a:off x="6556248" y="1856232"/>
            <a:ext cx="2194560" cy="322783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ephemeral work</a:t>
            </a:r>
            <a:endParaRPr lang="en-US" sz="1700" dirty="0"/>
          </a:p>
          <a:p>
            <a:pPr algn="l" indent="0" marL="0">
              <a:buNone/>
            </a:pP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node-local scratch</a:t>
            </a:r>
            <a:endParaRPr lang="en-US" sz="1700" dirty="0"/>
          </a:p>
        </p:txBody>
      </p:sp>
      <p:sp>
        <p:nvSpPr>
          <p:cNvPr id="20" name="Shape 18"/>
          <p:cNvSpPr/>
          <p:nvPr/>
        </p:nvSpPr>
        <p:spPr>
          <a:xfrm>
            <a:off x="9235440" y="1325880"/>
            <a:ext cx="2542032" cy="3886200"/>
          </a:xfrm>
          <a:prstGeom prst="roundRect">
            <a:avLst>
              <a:gd name="adj" fmla="val 2878"/>
            </a:avLst>
          </a:prstGeom>
          <a:solidFill>
            <a:srgbClr val="FFFFFF"/>
          </a:solidFill>
          <a:ln w="12700">
            <a:solidFill>
              <a:srgbClr val="D7E0E7"/>
            </a:solidFill>
            <a:prstDash val="solid"/>
          </a:ln>
        </p:spPr>
      </p:sp>
      <p:sp>
        <p:nvSpPr>
          <p:cNvPr id="21" name="Shape 19"/>
          <p:cNvSpPr/>
          <p:nvPr/>
        </p:nvSpPr>
        <p:spPr>
          <a:xfrm>
            <a:off x="9235440" y="1325880"/>
            <a:ext cx="64008" cy="3886200"/>
          </a:xfrm>
          <a:prstGeom prst="rect">
            <a:avLst/>
          </a:prstGeom>
          <a:solidFill>
            <a:srgbClr val="3A8D63"/>
          </a:solidFill>
          <a:ln w="12700">
            <a:solidFill>
              <a:srgbClr val="3A8D63">
                <a:alpha val="0"/>
              </a:srgbClr>
            </a:solidFill>
            <a:prstDash val="solid"/>
          </a:ln>
        </p:spPr>
      </p:sp>
      <p:sp>
        <p:nvSpPr>
          <p:cNvPr id="22" name="Text 20"/>
          <p:cNvSpPr/>
          <p:nvPr/>
        </p:nvSpPr>
        <p:spPr>
          <a:xfrm>
            <a:off x="9436608" y="147218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Project data</a:t>
            </a:r>
            <a:endParaRPr lang="en-US" sz="1700" dirty="0"/>
          </a:p>
        </p:txBody>
      </p:sp>
      <p:sp>
        <p:nvSpPr>
          <p:cNvPr id="23" name="Text 21"/>
          <p:cNvSpPr/>
          <p:nvPr/>
        </p:nvSpPr>
        <p:spPr>
          <a:xfrm>
            <a:off x="9436608" y="1856232"/>
            <a:ext cx="2194560" cy="322783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durable research data</a:t>
            </a:r>
            <a:endParaRPr lang="en-US" sz="1700" dirty="0"/>
          </a:p>
          <a:p>
            <a:pPr algn="l" indent="0" marL="0">
              <a:buNone/>
            </a:pP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approved shared storage</a:t>
            </a:r>
            <a:endParaRPr lang="en-US" sz="1700" dirty="0"/>
          </a:p>
        </p:txBody>
      </p:sp>
      <p:sp>
        <p:nvSpPr>
          <p:cNvPr id="24" name="Text 22"/>
          <p:cNvSpPr/>
          <p:nvPr/>
        </p:nvSpPr>
        <p:spPr>
          <a:xfrm>
            <a:off x="2148840" y="5532120"/>
            <a:ext cx="7909560" cy="347472"/>
          </a:xfrm>
          <a:prstGeom prst="rect">
            <a:avLst/>
          </a:prstGeom>
          <a:noFill/>
          <a:ln/>
        </p:spPr>
        <p:txBody>
          <a:bodyPr wrap="square" lIns="0" tIns="0" rIns="0" bIns="0" rtlCol="0" anchor="ctr">
            <a:normAutofit/>
          </a:bodyPr>
          <a:lstStyle/>
          <a:p>
            <a:pPr algn="ctr" indent="0" marL="0">
              <a:buNone/>
            </a:pPr>
            <a:r>
              <a:rPr lang="en-US" sz="1900" b="1" dirty="0">
                <a:solidFill>
                  <a:srgbClr val="17324D"/>
                </a:solidFill>
                <a:latin typeface="Liberation Sans" pitchFamily="34" charset="0"/>
                <a:ea typeface="Liberation Sans" pitchFamily="34" charset="-122"/>
                <a:cs typeface="Liberation Sans" pitchFamily="34" charset="-120"/>
              </a:rPr>
              <a:t>Do not treat any one location as suitable for every purpose.</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5. Trust the image deliberately</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Pin versions, record digests, and validate the scientific contents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4</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6 / 13</a:t>
            </a:r>
            <a:endParaRPr lang="en-US" sz="900" dirty="0"/>
          </a:p>
        </p:txBody>
      </p:sp>
      <p:sp>
        <p:nvSpPr>
          <p:cNvPr id="7" name="Shape 5"/>
          <p:cNvSpPr/>
          <p:nvPr/>
        </p:nvSpPr>
        <p:spPr>
          <a:xfrm>
            <a:off x="411480" y="6510528"/>
            <a:ext cx="502920" cy="27432"/>
          </a:xfrm>
          <a:prstGeom prst="rect">
            <a:avLst/>
          </a:prstGeom>
          <a:solidFill>
            <a:srgbClr val="7057A3"/>
          </a:solidFill>
          <a:ln w="12700">
            <a:solidFill>
              <a:srgbClr val="7057A3">
                <a:alpha val="0"/>
              </a:srgbClr>
            </a:solidFill>
            <a:prstDash val="solid"/>
          </a:ln>
        </p:spPr>
      </p:sp>
      <p:sp>
        <p:nvSpPr>
          <p:cNvPr id="8" name="Shape 6"/>
          <p:cNvSpPr/>
          <p:nvPr/>
        </p:nvSpPr>
        <p:spPr>
          <a:xfrm>
            <a:off x="1143000" y="1234440"/>
            <a:ext cx="713232" cy="713232"/>
          </a:xfrm>
          <a:prstGeom prst="ellipse">
            <a:avLst/>
          </a:prstGeom>
          <a:solidFill>
            <a:srgbClr val="7057A3"/>
          </a:solidFill>
          <a:ln w="12700">
            <a:solidFill>
              <a:srgbClr val="7057A3">
                <a:alpha val="0"/>
              </a:srgbClr>
            </a:solidFill>
            <a:prstDash val="solid"/>
          </a:ln>
        </p:spPr>
      </p:sp>
      <p:sp>
        <p:nvSpPr>
          <p:cNvPr id="9" name="Text 7"/>
          <p:cNvSpPr/>
          <p:nvPr/>
        </p:nvSpPr>
        <p:spPr>
          <a:xfrm>
            <a:off x="1143000" y="1408176"/>
            <a:ext cx="713232" cy="3108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Liberation Sans" pitchFamily="34" charset="0"/>
                <a:ea typeface="Liberation Sans" pitchFamily="34" charset="-122"/>
                <a:cs typeface="Liberation Sans" pitchFamily="34" charset="-120"/>
              </a:rPr>
              <a:t>1</a:t>
            </a:r>
            <a:endParaRPr lang="en-US" sz="1800" dirty="0"/>
          </a:p>
        </p:txBody>
      </p:sp>
      <p:sp>
        <p:nvSpPr>
          <p:cNvPr id="10" name="Shape 8"/>
          <p:cNvSpPr/>
          <p:nvPr/>
        </p:nvSpPr>
        <p:spPr>
          <a:xfrm>
            <a:off x="475488" y="2304288"/>
            <a:ext cx="2057400" cy="2514600"/>
          </a:xfrm>
          <a:prstGeom prst="roundRect">
            <a:avLst>
              <a:gd name="adj" fmla="val 3556"/>
            </a:avLst>
          </a:prstGeom>
          <a:solidFill>
            <a:srgbClr val="FFFFFF"/>
          </a:solidFill>
          <a:ln w="12700">
            <a:solidFill>
              <a:srgbClr val="D7E0E7"/>
            </a:solidFill>
            <a:prstDash val="solid"/>
          </a:ln>
        </p:spPr>
      </p:sp>
      <p:sp>
        <p:nvSpPr>
          <p:cNvPr id="11" name="Shape 9"/>
          <p:cNvSpPr/>
          <p:nvPr/>
        </p:nvSpPr>
        <p:spPr>
          <a:xfrm>
            <a:off x="475488" y="2304288"/>
            <a:ext cx="64008" cy="2514600"/>
          </a:xfrm>
          <a:prstGeom prst="rect">
            <a:avLst/>
          </a:prstGeom>
          <a:solidFill>
            <a:srgbClr val="7057A3"/>
          </a:solidFill>
          <a:ln w="12700">
            <a:solidFill>
              <a:srgbClr val="7057A3">
                <a:alpha val="0"/>
              </a:srgbClr>
            </a:solidFill>
            <a:prstDash val="solid"/>
          </a:ln>
        </p:spPr>
      </p:sp>
      <p:sp>
        <p:nvSpPr>
          <p:cNvPr id="12" name="Text 10"/>
          <p:cNvSpPr/>
          <p:nvPr/>
        </p:nvSpPr>
        <p:spPr>
          <a:xfrm>
            <a:off x="676656" y="245059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Source</a:t>
            </a:r>
            <a:endParaRPr lang="en-US" sz="1700" dirty="0"/>
          </a:p>
        </p:txBody>
      </p:sp>
      <p:sp>
        <p:nvSpPr>
          <p:cNvPr id="13" name="Text 11"/>
          <p:cNvSpPr/>
          <p:nvPr/>
        </p:nvSpPr>
        <p:spPr>
          <a:xfrm>
            <a:off x="676656" y="2834640"/>
            <a:ext cx="1709928" cy="1856232"/>
          </a:xfrm>
          <a:prstGeom prst="rect">
            <a:avLst/>
          </a:prstGeom>
          <a:noFill/>
          <a:ln/>
        </p:spPr>
        <p:txBody>
          <a:bodyPr wrap="square" lIns="0" tIns="0" rIns="0" bIns="0" rtlCol="0" anchor="t">
            <a:normAutofit/>
          </a:bodyPr>
          <a:lstStyle/>
          <a:p>
            <a:pPr algn="l" indent="0" marL="0">
              <a:buNone/>
            </a:pPr>
            <a:r>
              <a:rPr lang="en-US" sz="1450" dirty="0">
                <a:solidFill>
                  <a:srgbClr val="1F2937"/>
                </a:solidFill>
                <a:latin typeface="Liberation Sans" pitchFamily="34" charset="0"/>
                <a:ea typeface="Liberation Sans" pitchFamily="34" charset="-122"/>
                <a:cs typeface="Liberation Sans" pitchFamily="34" charset="-120"/>
              </a:rPr>
              <a:t>trusted registry or reviewed build</a:t>
            </a:r>
            <a:endParaRPr lang="en-US" sz="1450" dirty="0"/>
          </a:p>
        </p:txBody>
      </p:sp>
      <p:sp>
        <p:nvSpPr>
          <p:cNvPr id="14" name="Shape 12"/>
          <p:cNvSpPr/>
          <p:nvPr/>
        </p:nvSpPr>
        <p:spPr>
          <a:xfrm>
            <a:off x="1856232" y="1591056"/>
            <a:ext cx="1426464" cy="0"/>
          </a:xfrm>
          <a:prstGeom prst="line">
            <a:avLst/>
          </a:prstGeom>
          <a:noFill/>
          <a:ln w="25400">
            <a:solidFill>
              <a:srgbClr val="5E6B78"/>
            </a:solidFill>
            <a:prstDash val="solid"/>
            <a:headEnd type="none"/>
            <a:tailEnd type="triangle"/>
          </a:ln>
        </p:spPr>
      </p:sp>
      <p:sp>
        <p:nvSpPr>
          <p:cNvPr id="15" name="Shape 13"/>
          <p:cNvSpPr/>
          <p:nvPr/>
        </p:nvSpPr>
        <p:spPr>
          <a:xfrm>
            <a:off x="3474720" y="1234440"/>
            <a:ext cx="713232" cy="713232"/>
          </a:xfrm>
          <a:prstGeom prst="ellipse">
            <a:avLst/>
          </a:prstGeom>
          <a:solidFill>
            <a:srgbClr val="7057A3"/>
          </a:solidFill>
          <a:ln w="12700">
            <a:solidFill>
              <a:srgbClr val="7057A3">
                <a:alpha val="0"/>
              </a:srgbClr>
            </a:solidFill>
            <a:prstDash val="solid"/>
          </a:ln>
        </p:spPr>
      </p:sp>
      <p:sp>
        <p:nvSpPr>
          <p:cNvPr id="16" name="Text 14"/>
          <p:cNvSpPr/>
          <p:nvPr/>
        </p:nvSpPr>
        <p:spPr>
          <a:xfrm>
            <a:off x="3474720" y="1408176"/>
            <a:ext cx="713232" cy="3108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Liberation Sans" pitchFamily="34" charset="0"/>
                <a:ea typeface="Liberation Sans" pitchFamily="34" charset="-122"/>
                <a:cs typeface="Liberation Sans" pitchFamily="34" charset="-120"/>
              </a:rPr>
              <a:t>2</a:t>
            </a:r>
            <a:endParaRPr lang="en-US" sz="1800" dirty="0"/>
          </a:p>
        </p:txBody>
      </p:sp>
      <p:sp>
        <p:nvSpPr>
          <p:cNvPr id="17" name="Shape 15"/>
          <p:cNvSpPr/>
          <p:nvPr/>
        </p:nvSpPr>
        <p:spPr>
          <a:xfrm>
            <a:off x="2807208" y="2304288"/>
            <a:ext cx="2057400" cy="2514600"/>
          </a:xfrm>
          <a:prstGeom prst="roundRect">
            <a:avLst>
              <a:gd name="adj" fmla="val 3556"/>
            </a:avLst>
          </a:prstGeom>
          <a:solidFill>
            <a:srgbClr val="FFFFFF"/>
          </a:solidFill>
          <a:ln w="12700">
            <a:solidFill>
              <a:srgbClr val="D7E0E7"/>
            </a:solidFill>
            <a:prstDash val="solid"/>
          </a:ln>
        </p:spPr>
      </p:sp>
      <p:sp>
        <p:nvSpPr>
          <p:cNvPr id="18" name="Shape 16"/>
          <p:cNvSpPr/>
          <p:nvPr/>
        </p:nvSpPr>
        <p:spPr>
          <a:xfrm>
            <a:off x="2807208" y="2304288"/>
            <a:ext cx="64008" cy="2514600"/>
          </a:xfrm>
          <a:prstGeom prst="rect">
            <a:avLst/>
          </a:prstGeom>
          <a:solidFill>
            <a:srgbClr val="7057A3"/>
          </a:solidFill>
          <a:ln w="12700">
            <a:solidFill>
              <a:srgbClr val="7057A3">
                <a:alpha val="0"/>
              </a:srgbClr>
            </a:solidFill>
            <a:prstDash val="solid"/>
          </a:ln>
        </p:spPr>
      </p:sp>
      <p:sp>
        <p:nvSpPr>
          <p:cNvPr id="19" name="Text 17"/>
          <p:cNvSpPr/>
          <p:nvPr/>
        </p:nvSpPr>
        <p:spPr>
          <a:xfrm>
            <a:off x="3008376" y="245059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Pin</a:t>
            </a:r>
            <a:endParaRPr lang="en-US" sz="1700" dirty="0"/>
          </a:p>
        </p:txBody>
      </p:sp>
      <p:sp>
        <p:nvSpPr>
          <p:cNvPr id="20" name="Text 18"/>
          <p:cNvSpPr/>
          <p:nvPr/>
        </p:nvSpPr>
        <p:spPr>
          <a:xfrm>
            <a:off x="3008376" y="2834640"/>
            <a:ext cx="1709928" cy="1856232"/>
          </a:xfrm>
          <a:prstGeom prst="rect">
            <a:avLst/>
          </a:prstGeom>
          <a:noFill/>
          <a:ln/>
        </p:spPr>
        <p:txBody>
          <a:bodyPr wrap="square" lIns="0" tIns="0" rIns="0" bIns="0" rtlCol="0" anchor="t">
            <a:normAutofit/>
          </a:bodyPr>
          <a:lstStyle/>
          <a:p>
            <a:pPr algn="l" indent="0" marL="0">
              <a:buNone/>
            </a:pPr>
            <a:r>
              <a:rPr lang="en-US" sz="1450" dirty="0">
                <a:solidFill>
                  <a:srgbClr val="1F2937"/>
                </a:solidFill>
                <a:latin typeface="Liberation Sans" pitchFamily="34" charset="0"/>
                <a:ea typeface="Liberation Sans" pitchFamily="34" charset="-122"/>
                <a:cs typeface="Liberation Sans" pitchFamily="34" charset="-120"/>
              </a:rPr>
              <a:t>version + digest</a:t>
            </a:r>
            <a:endParaRPr lang="en-US" sz="1450" dirty="0"/>
          </a:p>
        </p:txBody>
      </p:sp>
      <p:sp>
        <p:nvSpPr>
          <p:cNvPr id="21" name="Shape 19"/>
          <p:cNvSpPr/>
          <p:nvPr/>
        </p:nvSpPr>
        <p:spPr>
          <a:xfrm>
            <a:off x="4187952" y="1591056"/>
            <a:ext cx="1426464" cy="0"/>
          </a:xfrm>
          <a:prstGeom prst="line">
            <a:avLst/>
          </a:prstGeom>
          <a:noFill/>
          <a:ln w="25400">
            <a:solidFill>
              <a:srgbClr val="5E6B78"/>
            </a:solidFill>
            <a:prstDash val="solid"/>
            <a:headEnd type="none"/>
            <a:tailEnd type="triangle"/>
          </a:ln>
        </p:spPr>
      </p:sp>
      <p:sp>
        <p:nvSpPr>
          <p:cNvPr id="22" name="Shape 20"/>
          <p:cNvSpPr/>
          <p:nvPr/>
        </p:nvSpPr>
        <p:spPr>
          <a:xfrm>
            <a:off x="5806440" y="1234440"/>
            <a:ext cx="713232" cy="713232"/>
          </a:xfrm>
          <a:prstGeom prst="ellipse">
            <a:avLst/>
          </a:prstGeom>
          <a:solidFill>
            <a:srgbClr val="7057A3"/>
          </a:solidFill>
          <a:ln w="12700">
            <a:solidFill>
              <a:srgbClr val="7057A3">
                <a:alpha val="0"/>
              </a:srgbClr>
            </a:solidFill>
            <a:prstDash val="solid"/>
          </a:ln>
        </p:spPr>
      </p:sp>
      <p:sp>
        <p:nvSpPr>
          <p:cNvPr id="23" name="Text 21"/>
          <p:cNvSpPr/>
          <p:nvPr/>
        </p:nvSpPr>
        <p:spPr>
          <a:xfrm>
            <a:off x="5806440" y="1408176"/>
            <a:ext cx="713232" cy="3108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Liberation Sans" pitchFamily="34" charset="0"/>
                <a:ea typeface="Liberation Sans" pitchFamily="34" charset="-122"/>
                <a:cs typeface="Liberation Sans" pitchFamily="34" charset="-120"/>
              </a:rPr>
              <a:t>3</a:t>
            </a:r>
            <a:endParaRPr lang="en-US" sz="1800" dirty="0"/>
          </a:p>
        </p:txBody>
      </p:sp>
      <p:sp>
        <p:nvSpPr>
          <p:cNvPr id="24" name="Shape 22"/>
          <p:cNvSpPr/>
          <p:nvPr/>
        </p:nvSpPr>
        <p:spPr>
          <a:xfrm>
            <a:off x="5138928" y="2304288"/>
            <a:ext cx="2057400" cy="2514600"/>
          </a:xfrm>
          <a:prstGeom prst="roundRect">
            <a:avLst>
              <a:gd name="adj" fmla="val 3556"/>
            </a:avLst>
          </a:prstGeom>
          <a:solidFill>
            <a:srgbClr val="FFFFFF"/>
          </a:solidFill>
          <a:ln w="12700">
            <a:solidFill>
              <a:srgbClr val="D7E0E7"/>
            </a:solidFill>
            <a:prstDash val="solid"/>
          </a:ln>
        </p:spPr>
      </p:sp>
      <p:sp>
        <p:nvSpPr>
          <p:cNvPr id="25" name="Shape 23"/>
          <p:cNvSpPr/>
          <p:nvPr/>
        </p:nvSpPr>
        <p:spPr>
          <a:xfrm>
            <a:off x="5138928" y="2304288"/>
            <a:ext cx="64008" cy="2514600"/>
          </a:xfrm>
          <a:prstGeom prst="rect">
            <a:avLst/>
          </a:prstGeom>
          <a:solidFill>
            <a:srgbClr val="7057A3"/>
          </a:solidFill>
          <a:ln w="12700">
            <a:solidFill>
              <a:srgbClr val="7057A3">
                <a:alpha val="0"/>
              </a:srgbClr>
            </a:solidFill>
            <a:prstDash val="solid"/>
          </a:ln>
        </p:spPr>
      </p:sp>
      <p:sp>
        <p:nvSpPr>
          <p:cNvPr id="26" name="Text 24"/>
          <p:cNvSpPr/>
          <p:nvPr/>
        </p:nvSpPr>
        <p:spPr>
          <a:xfrm>
            <a:off x="5340096" y="245059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Inspect</a:t>
            </a:r>
            <a:endParaRPr lang="en-US" sz="1700" dirty="0"/>
          </a:p>
        </p:txBody>
      </p:sp>
      <p:sp>
        <p:nvSpPr>
          <p:cNvPr id="27" name="Text 25"/>
          <p:cNvSpPr/>
          <p:nvPr/>
        </p:nvSpPr>
        <p:spPr>
          <a:xfrm>
            <a:off x="5340096" y="2834640"/>
            <a:ext cx="1709928" cy="1856232"/>
          </a:xfrm>
          <a:prstGeom prst="rect">
            <a:avLst/>
          </a:prstGeom>
          <a:noFill/>
          <a:ln/>
        </p:spPr>
        <p:txBody>
          <a:bodyPr wrap="square" lIns="0" tIns="0" rIns="0" bIns="0" rtlCol="0" anchor="t">
            <a:normAutofit/>
          </a:bodyPr>
          <a:lstStyle/>
          <a:p>
            <a:pPr algn="l" indent="0" marL="0">
              <a:buNone/>
            </a:pPr>
            <a:r>
              <a:rPr lang="en-US" sz="1450" dirty="0">
                <a:solidFill>
                  <a:srgbClr val="1F2937"/>
                </a:solidFill>
                <a:latin typeface="Liberation Sans" pitchFamily="34" charset="0"/>
                <a:ea typeface="Liberation Sans" pitchFamily="34" charset="-122"/>
                <a:cs typeface="Liberation Sans" pitchFamily="34" charset="-120"/>
              </a:rPr>
              <a:t>labels + recipe + packages</a:t>
            </a:r>
            <a:endParaRPr lang="en-US" sz="1450" dirty="0"/>
          </a:p>
        </p:txBody>
      </p:sp>
      <p:sp>
        <p:nvSpPr>
          <p:cNvPr id="28" name="Shape 26"/>
          <p:cNvSpPr/>
          <p:nvPr/>
        </p:nvSpPr>
        <p:spPr>
          <a:xfrm>
            <a:off x="6519672" y="1591056"/>
            <a:ext cx="1426464" cy="0"/>
          </a:xfrm>
          <a:prstGeom prst="line">
            <a:avLst/>
          </a:prstGeom>
          <a:noFill/>
          <a:ln w="25400">
            <a:solidFill>
              <a:srgbClr val="5E6B78"/>
            </a:solidFill>
            <a:prstDash val="solid"/>
            <a:headEnd type="none"/>
            <a:tailEnd type="triangle"/>
          </a:ln>
        </p:spPr>
      </p:sp>
      <p:sp>
        <p:nvSpPr>
          <p:cNvPr id="29" name="Shape 27"/>
          <p:cNvSpPr/>
          <p:nvPr/>
        </p:nvSpPr>
        <p:spPr>
          <a:xfrm>
            <a:off x="8138160" y="1234440"/>
            <a:ext cx="713232" cy="713232"/>
          </a:xfrm>
          <a:prstGeom prst="ellipse">
            <a:avLst/>
          </a:prstGeom>
          <a:solidFill>
            <a:srgbClr val="7057A3"/>
          </a:solidFill>
          <a:ln w="12700">
            <a:solidFill>
              <a:srgbClr val="7057A3">
                <a:alpha val="0"/>
              </a:srgbClr>
            </a:solidFill>
            <a:prstDash val="solid"/>
          </a:ln>
        </p:spPr>
      </p:sp>
      <p:sp>
        <p:nvSpPr>
          <p:cNvPr id="30" name="Text 28"/>
          <p:cNvSpPr/>
          <p:nvPr/>
        </p:nvSpPr>
        <p:spPr>
          <a:xfrm>
            <a:off x="8138160" y="1408176"/>
            <a:ext cx="713232" cy="3108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Liberation Sans" pitchFamily="34" charset="0"/>
                <a:ea typeface="Liberation Sans" pitchFamily="34" charset="-122"/>
                <a:cs typeface="Liberation Sans" pitchFamily="34" charset="-120"/>
              </a:rPr>
              <a:t>4</a:t>
            </a:r>
            <a:endParaRPr lang="en-US" sz="1800" dirty="0"/>
          </a:p>
        </p:txBody>
      </p:sp>
      <p:sp>
        <p:nvSpPr>
          <p:cNvPr id="31" name="Shape 29"/>
          <p:cNvSpPr/>
          <p:nvPr/>
        </p:nvSpPr>
        <p:spPr>
          <a:xfrm>
            <a:off x="7470648" y="2304288"/>
            <a:ext cx="2057400" cy="2514600"/>
          </a:xfrm>
          <a:prstGeom prst="roundRect">
            <a:avLst>
              <a:gd name="adj" fmla="val 3556"/>
            </a:avLst>
          </a:prstGeom>
          <a:solidFill>
            <a:srgbClr val="FFFFFF"/>
          </a:solidFill>
          <a:ln w="12700">
            <a:solidFill>
              <a:srgbClr val="D7E0E7"/>
            </a:solidFill>
            <a:prstDash val="solid"/>
          </a:ln>
        </p:spPr>
      </p:sp>
      <p:sp>
        <p:nvSpPr>
          <p:cNvPr id="32" name="Shape 30"/>
          <p:cNvSpPr/>
          <p:nvPr/>
        </p:nvSpPr>
        <p:spPr>
          <a:xfrm>
            <a:off x="7470648" y="2304288"/>
            <a:ext cx="64008" cy="2514600"/>
          </a:xfrm>
          <a:prstGeom prst="rect">
            <a:avLst/>
          </a:prstGeom>
          <a:solidFill>
            <a:srgbClr val="7057A3"/>
          </a:solidFill>
          <a:ln w="12700">
            <a:solidFill>
              <a:srgbClr val="7057A3">
                <a:alpha val="0"/>
              </a:srgbClr>
            </a:solidFill>
            <a:prstDash val="solid"/>
          </a:ln>
        </p:spPr>
      </p:sp>
      <p:sp>
        <p:nvSpPr>
          <p:cNvPr id="33" name="Text 31"/>
          <p:cNvSpPr/>
          <p:nvPr/>
        </p:nvSpPr>
        <p:spPr>
          <a:xfrm>
            <a:off x="7671816" y="245059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Test</a:t>
            </a:r>
            <a:endParaRPr lang="en-US" sz="1700" dirty="0"/>
          </a:p>
        </p:txBody>
      </p:sp>
      <p:sp>
        <p:nvSpPr>
          <p:cNvPr id="34" name="Text 32"/>
          <p:cNvSpPr/>
          <p:nvPr/>
        </p:nvSpPr>
        <p:spPr>
          <a:xfrm>
            <a:off x="7671816" y="2834640"/>
            <a:ext cx="1709928" cy="1856232"/>
          </a:xfrm>
          <a:prstGeom prst="rect">
            <a:avLst/>
          </a:prstGeom>
          <a:noFill/>
          <a:ln/>
        </p:spPr>
        <p:txBody>
          <a:bodyPr wrap="square" lIns="0" tIns="0" rIns="0" bIns="0" rtlCol="0" anchor="t">
            <a:normAutofit/>
          </a:bodyPr>
          <a:lstStyle/>
          <a:p>
            <a:pPr algn="l" indent="0" marL="0">
              <a:buNone/>
            </a:pPr>
            <a:r>
              <a:rPr lang="en-US" sz="1450" dirty="0">
                <a:solidFill>
                  <a:srgbClr val="1F2937"/>
                </a:solidFill>
                <a:latin typeface="Liberation Sans" pitchFamily="34" charset="0"/>
                <a:ea typeface="Liberation Sans" pitchFamily="34" charset="-122"/>
                <a:cs typeface="Liberation Sans" pitchFamily="34" charset="-120"/>
              </a:rPr>
              <a:t>synthetic and reference data</a:t>
            </a:r>
            <a:endParaRPr lang="en-US" sz="1450" dirty="0"/>
          </a:p>
        </p:txBody>
      </p:sp>
      <p:sp>
        <p:nvSpPr>
          <p:cNvPr id="35" name="Shape 33"/>
          <p:cNvSpPr/>
          <p:nvPr/>
        </p:nvSpPr>
        <p:spPr>
          <a:xfrm>
            <a:off x="8851392" y="1591056"/>
            <a:ext cx="1426464" cy="0"/>
          </a:xfrm>
          <a:prstGeom prst="line">
            <a:avLst/>
          </a:prstGeom>
          <a:noFill/>
          <a:ln w="25400">
            <a:solidFill>
              <a:srgbClr val="5E6B78"/>
            </a:solidFill>
            <a:prstDash val="solid"/>
            <a:headEnd type="none"/>
            <a:tailEnd type="triangle"/>
          </a:ln>
        </p:spPr>
      </p:sp>
      <p:sp>
        <p:nvSpPr>
          <p:cNvPr id="36" name="Shape 34"/>
          <p:cNvSpPr/>
          <p:nvPr/>
        </p:nvSpPr>
        <p:spPr>
          <a:xfrm>
            <a:off x="10469880" y="1234440"/>
            <a:ext cx="713232" cy="713232"/>
          </a:xfrm>
          <a:prstGeom prst="ellipse">
            <a:avLst/>
          </a:prstGeom>
          <a:solidFill>
            <a:srgbClr val="3A8D63"/>
          </a:solidFill>
          <a:ln w="12700">
            <a:solidFill>
              <a:srgbClr val="3A8D63">
                <a:alpha val="0"/>
              </a:srgbClr>
            </a:solidFill>
            <a:prstDash val="solid"/>
          </a:ln>
        </p:spPr>
      </p:sp>
      <p:sp>
        <p:nvSpPr>
          <p:cNvPr id="37" name="Text 35"/>
          <p:cNvSpPr/>
          <p:nvPr/>
        </p:nvSpPr>
        <p:spPr>
          <a:xfrm>
            <a:off x="10469880" y="1408176"/>
            <a:ext cx="713232" cy="3108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Liberation Sans" pitchFamily="34" charset="0"/>
                <a:ea typeface="Liberation Sans" pitchFamily="34" charset="-122"/>
                <a:cs typeface="Liberation Sans" pitchFamily="34" charset="-120"/>
              </a:rPr>
              <a:t>5</a:t>
            </a:r>
            <a:endParaRPr lang="en-US" sz="1800" dirty="0"/>
          </a:p>
        </p:txBody>
      </p:sp>
      <p:sp>
        <p:nvSpPr>
          <p:cNvPr id="38" name="Shape 36"/>
          <p:cNvSpPr/>
          <p:nvPr/>
        </p:nvSpPr>
        <p:spPr>
          <a:xfrm>
            <a:off x="9802368" y="2304288"/>
            <a:ext cx="2057400" cy="2514600"/>
          </a:xfrm>
          <a:prstGeom prst="roundRect">
            <a:avLst>
              <a:gd name="adj" fmla="val 3556"/>
            </a:avLst>
          </a:prstGeom>
          <a:solidFill>
            <a:srgbClr val="FFFFFF"/>
          </a:solidFill>
          <a:ln w="12700">
            <a:solidFill>
              <a:srgbClr val="D7E0E7"/>
            </a:solidFill>
            <a:prstDash val="solid"/>
          </a:ln>
        </p:spPr>
      </p:sp>
      <p:sp>
        <p:nvSpPr>
          <p:cNvPr id="39" name="Shape 37"/>
          <p:cNvSpPr/>
          <p:nvPr/>
        </p:nvSpPr>
        <p:spPr>
          <a:xfrm>
            <a:off x="9802368" y="2304288"/>
            <a:ext cx="64008" cy="2514600"/>
          </a:xfrm>
          <a:prstGeom prst="rect">
            <a:avLst/>
          </a:prstGeom>
          <a:solidFill>
            <a:srgbClr val="3A8D63"/>
          </a:solidFill>
          <a:ln w="12700">
            <a:solidFill>
              <a:srgbClr val="3A8D63">
                <a:alpha val="0"/>
              </a:srgbClr>
            </a:solidFill>
            <a:prstDash val="solid"/>
          </a:ln>
        </p:spPr>
      </p:sp>
      <p:sp>
        <p:nvSpPr>
          <p:cNvPr id="40" name="Text 38"/>
          <p:cNvSpPr/>
          <p:nvPr/>
        </p:nvSpPr>
        <p:spPr>
          <a:xfrm>
            <a:off x="10003536" y="245059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Approve</a:t>
            </a:r>
            <a:endParaRPr lang="en-US" sz="1700" dirty="0"/>
          </a:p>
        </p:txBody>
      </p:sp>
      <p:sp>
        <p:nvSpPr>
          <p:cNvPr id="41" name="Text 39"/>
          <p:cNvSpPr/>
          <p:nvPr/>
        </p:nvSpPr>
        <p:spPr>
          <a:xfrm>
            <a:off x="10003536" y="2834640"/>
            <a:ext cx="1709928" cy="1856232"/>
          </a:xfrm>
          <a:prstGeom prst="rect">
            <a:avLst/>
          </a:prstGeom>
          <a:noFill/>
          <a:ln/>
        </p:spPr>
        <p:txBody>
          <a:bodyPr wrap="square" lIns="0" tIns="0" rIns="0" bIns="0" rtlCol="0" anchor="t">
            <a:normAutofit/>
          </a:bodyPr>
          <a:lstStyle/>
          <a:p>
            <a:pPr algn="l" indent="0" marL="0">
              <a:buNone/>
            </a:pPr>
            <a:r>
              <a:rPr lang="en-US" sz="1450" dirty="0">
                <a:solidFill>
                  <a:srgbClr val="1F2937"/>
                </a:solidFill>
                <a:latin typeface="Liberation Sans" pitchFamily="34" charset="0"/>
                <a:ea typeface="Liberation Sans" pitchFamily="34" charset="-122"/>
                <a:cs typeface="Liberation Sans" pitchFamily="34" charset="-120"/>
              </a:rPr>
              <a:t>documented scientific use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6. Run an image with explicit commands and a clean environment</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Use exec for predictable command invocation</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4</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7 / 13</a:t>
            </a:r>
            <a:endParaRPr lang="en-US" sz="900" dirty="0"/>
          </a:p>
        </p:txBody>
      </p:sp>
      <p:sp>
        <p:nvSpPr>
          <p:cNvPr id="7" name="Shape 5"/>
          <p:cNvSpPr/>
          <p:nvPr/>
        </p:nvSpPr>
        <p:spPr>
          <a:xfrm>
            <a:off x="411480" y="6510528"/>
            <a:ext cx="502920" cy="27432"/>
          </a:xfrm>
          <a:prstGeom prst="rect">
            <a:avLst/>
          </a:prstGeom>
          <a:solidFill>
            <a:srgbClr val="7057A3"/>
          </a:solidFill>
          <a:ln w="12700">
            <a:solidFill>
              <a:srgbClr val="7057A3">
                <a:alpha val="0"/>
              </a:srgbClr>
            </a:solidFill>
            <a:prstDash val="solid"/>
          </a:ln>
        </p:spPr>
      </p:sp>
      <p:sp>
        <p:nvSpPr>
          <p:cNvPr id="8" name="Shape 6"/>
          <p:cNvSpPr/>
          <p:nvPr/>
        </p:nvSpPr>
        <p:spPr>
          <a:xfrm>
            <a:off x="685800" y="1325880"/>
            <a:ext cx="6400800" cy="4251960"/>
          </a:xfrm>
          <a:prstGeom prst="roundRect">
            <a:avLst/>
          </a:prstGeom>
          <a:solidFill>
            <a:srgbClr val="101820"/>
          </a:solidFill>
          <a:ln w="12700">
            <a:solidFill>
              <a:srgbClr val="D7E0E7"/>
            </a:solidFill>
            <a:prstDash val="solid"/>
          </a:ln>
        </p:spPr>
      </p:sp>
      <p:sp>
        <p:nvSpPr>
          <p:cNvPr id="9" name="Text 7"/>
          <p:cNvSpPr/>
          <p:nvPr/>
        </p:nvSpPr>
        <p:spPr>
          <a:xfrm>
            <a:off x="987552" y="1627632"/>
            <a:ext cx="5806440" cy="3611880"/>
          </a:xfrm>
          <a:prstGeom prst="rect">
            <a:avLst/>
          </a:prstGeom>
          <a:noFill/>
          <a:ln/>
        </p:spPr>
        <p:txBody>
          <a:bodyPr wrap="square" lIns="0" tIns="0" rIns="0" bIns="0" rtlCol="0" anchor="t">
            <a:normAutofit/>
          </a:bodyPr>
          <a:lstStyle/>
          <a:p>
            <a:pPr algn="l" indent="0" marL="0">
              <a:buNone/>
            </a:pPr>
            <a:r>
              <a:rPr lang="en-US" sz="1600" dirty="0">
                <a:solidFill>
                  <a:srgbClr val="D6F5DD"/>
                </a:solidFill>
                <a:latin typeface="Liberation Mono" pitchFamily="34" charset="0"/>
                <a:ea typeface="Liberation Mono" pitchFamily="34" charset="-122"/>
                <a:cs typeface="Liberation Mono" pitchFamily="34" charset="-120"/>
              </a:rPr>
              <a:t>apptainer exec --cleanenv \</a:t>
            </a:r>
            <a:endParaRPr lang="en-US" sz="1600" dirty="0"/>
          </a:p>
          <a:p>
            <a:pPr algn="l" indent="0" marL="0">
              <a:buNone/>
            </a:pPr>
            <a:r>
              <a:rPr lang="en-US" sz="1600" dirty="0">
                <a:solidFill>
                  <a:srgbClr val="D6F5DD"/>
                </a:solidFill>
                <a:latin typeface="Liberation Mono" pitchFamily="34" charset="0"/>
                <a:ea typeface="Liberation Mono" pitchFamily="34" charset="-122"/>
                <a:cs typeface="Liberation Mono" pitchFamily="34" charset="-120"/>
              </a:rPr>
              <a:t>  analysis.sif \</a:t>
            </a:r>
            <a:endParaRPr lang="en-US" sz="1600" dirty="0"/>
          </a:p>
          <a:p>
            <a:pPr algn="l" indent="0" marL="0">
              <a:buNone/>
            </a:pPr>
            <a:r>
              <a:rPr lang="en-US" sz="1600" dirty="0">
                <a:solidFill>
                  <a:srgbClr val="D6F5DD"/>
                </a:solidFill>
                <a:latin typeface="Liberation Mono" pitchFamily="34" charset="0"/>
                <a:ea typeface="Liberation Mono" pitchFamily="34" charset="-122"/>
                <a:cs typeface="Liberation Mono" pitchFamily="34" charset="-120"/>
              </a:rPr>
              <a:t>  tool --version</a:t>
            </a:r>
            <a:endParaRPr lang="en-US" sz="1600" dirty="0"/>
          </a:p>
          <a:p>
            <a:pPr algn="l" indent="0" marL="0">
              <a:buNone/>
            </a:pPr>
            <a:endParaRPr lang="en-US" sz="1600" dirty="0"/>
          </a:p>
          <a:p>
            <a:pPr algn="l" indent="0" marL="0">
              <a:buNone/>
            </a:pPr>
            <a:r>
              <a:rPr lang="en-US" sz="1600" dirty="0">
                <a:solidFill>
                  <a:srgbClr val="D6F5DD"/>
                </a:solidFill>
                <a:latin typeface="Liberation Mono" pitchFamily="34" charset="0"/>
                <a:ea typeface="Liberation Mono" pitchFamily="34" charset="-122"/>
                <a:cs typeface="Liberation Mono" pitchFamily="34" charset="-120"/>
              </a:rPr>
              <a:t>apptainer exec --cleanenv \</a:t>
            </a:r>
            <a:endParaRPr lang="en-US" sz="1600" dirty="0"/>
          </a:p>
          <a:p>
            <a:pPr algn="l" indent="0" marL="0">
              <a:buNone/>
            </a:pPr>
            <a:r>
              <a:rPr lang="en-US" sz="1600" dirty="0">
                <a:solidFill>
                  <a:srgbClr val="D6F5DD"/>
                </a:solidFill>
                <a:latin typeface="Liberation Mono" pitchFamily="34" charset="0"/>
                <a:ea typeface="Liberation Mono" pitchFamily="34" charset="-122"/>
                <a:cs typeface="Liberation Mono" pitchFamily="34" charset="-120"/>
              </a:rPr>
              <a:t>  --bind "$PWD/data:/data:ro" \</a:t>
            </a:r>
            <a:endParaRPr lang="en-US" sz="1600" dirty="0"/>
          </a:p>
          <a:p>
            <a:pPr algn="l" indent="0" marL="0">
              <a:buNone/>
            </a:pPr>
            <a:r>
              <a:rPr lang="en-US" sz="1600" dirty="0">
                <a:solidFill>
                  <a:srgbClr val="D6F5DD"/>
                </a:solidFill>
                <a:latin typeface="Liberation Mono" pitchFamily="34" charset="0"/>
                <a:ea typeface="Liberation Mono" pitchFamily="34" charset="-122"/>
                <a:cs typeface="Liberation Mono" pitchFamily="34" charset="-120"/>
              </a:rPr>
              <a:t>  --bind "$PWD/results:/results" \</a:t>
            </a:r>
            <a:endParaRPr lang="en-US" sz="1600" dirty="0"/>
          </a:p>
          <a:p>
            <a:pPr algn="l" indent="0" marL="0">
              <a:buNone/>
            </a:pPr>
            <a:r>
              <a:rPr lang="en-US" sz="1600" dirty="0">
                <a:solidFill>
                  <a:srgbClr val="D6F5DD"/>
                </a:solidFill>
                <a:latin typeface="Liberation Mono" pitchFamily="34" charset="0"/>
                <a:ea typeface="Liberation Mono" pitchFamily="34" charset="-122"/>
                <a:cs typeface="Liberation Mono" pitchFamily="34" charset="-120"/>
              </a:rPr>
              <a:t>  analysis.sif \</a:t>
            </a:r>
            <a:endParaRPr lang="en-US" sz="1600" dirty="0"/>
          </a:p>
          <a:p>
            <a:pPr algn="l" indent="0" marL="0">
              <a:buNone/>
            </a:pPr>
            <a:r>
              <a:rPr lang="en-US" sz="1600" dirty="0">
                <a:solidFill>
                  <a:srgbClr val="D6F5DD"/>
                </a:solidFill>
                <a:latin typeface="Liberation Mono" pitchFamily="34" charset="0"/>
                <a:ea typeface="Liberation Mono" pitchFamily="34" charset="-122"/>
                <a:cs typeface="Liberation Mono" pitchFamily="34" charset="-120"/>
              </a:rPr>
              <a:t>  tool /data/input.fastq.gz \</a:t>
            </a:r>
            <a:endParaRPr lang="en-US" sz="1600" dirty="0"/>
          </a:p>
          <a:p>
            <a:pPr algn="l" indent="0" marL="0">
              <a:buNone/>
            </a:pPr>
            <a:r>
              <a:rPr lang="en-US" sz="1600" dirty="0">
                <a:solidFill>
                  <a:srgbClr val="D6F5DD"/>
                </a:solidFill>
                <a:latin typeface="Liberation Mono" pitchFamily="34" charset="0"/>
                <a:ea typeface="Liberation Mono" pitchFamily="34" charset="-122"/>
                <a:cs typeface="Liberation Mono" pitchFamily="34" charset="-120"/>
              </a:rPr>
              <a:t>       --out /results/report.tsv</a:t>
            </a:r>
            <a:endParaRPr lang="en-US" sz="1600" dirty="0"/>
          </a:p>
        </p:txBody>
      </p:sp>
      <p:sp>
        <p:nvSpPr>
          <p:cNvPr id="10" name="Shape 8"/>
          <p:cNvSpPr/>
          <p:nvPr/>
        </p:nvSpPr>
        <p:spPr>
          <a:xfrm>
            <a:off x="7452360" y="1325880"/>
            <a:ext cx="4069080" cy="1234440"/>
          </a:xfrm>
          <a:prstGeom prst="roundRect">
            <a:avLst>
              <a:gd name="adj" fmla="val 5926"/>
            </a:avLst>
          </a:prstGeom>
          <a:solidFill>
            <a:srgbClr val="FFFFFF"/>
          </a:solidFill>
          <a:ln w="12700">
            <a:solidFill>
              <a:srgbClr val="D7E0E7"/>
            </a:solidFill>
            <a:prstDash val="solid"/>
          </a:ln>
        </p:spPr>
      </p:sp>
      <p:sp>
        <p:nvSpPr>
          <p:cNvPr id="11" name="Shape 9"/>
          <p:cNvSpPr/>
          <p:nvPr/>
        </p:nvSpPr>
        <p:spPr>
          <a:xfrm>
            <a:off x="7452360" y="1325880"/>
            <a:ext cx="64008" cy="1234440"/>
          </a:xfrm>
          <a:prstGeom prst="rect">
            <a:avLst/>
          </a:prstGeom>
          <a:solidFill>
            <a:srgbClr val="7057A3"/>
          </a:solidFill>
          <a:ln w="12700">
            <a:solidFill>
              <a:srgbClr val="7057A3">
                <a:alpha val="0"/>
              </a:srgbClr>
            </a:solidFill>
            <a:prstDash val="solid"/>
          </a:ln>
        </p:spPr>
      </p:sp>
      <p:sp>
        <p:nvSpPr>
          <p:cNvPr id="12" name="Text 10"/>
          <p:cNvSpPr/>
          <p:nvPr/>
        </p:nvSpPr>
        <p:spPr>
          <a:xfrm>
            <a:off x="7653528" y="1472184"/>
            <a:ext cx="372160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exec</a:t>
            </a:r>
            <a:endParaRPr lang="en-US" sz="1700" dirty="0"/>
          </a:p>
        </p:txBody>
      </p:sp>
      <p:sp>
        <p:nvSpPr>
          <p:cNvPr id="13" name="Text 11"/>
          <p:cNvSpPr/>
          <p:nvPr/>
        </p:nvSpPr>
        <p:spPr>
          <a:xfrm>
            <a:off x="7653528" y="1856232"/>
            <a:ext cx="3721608" cy="57607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Run one explicit command.</a:t>
            </a:r>
            <a:endParaRPr lang="en-US" sz="1600" dirty="0"/>
          </a:p>
        </p:txBody>
      </p:sp>
      <p:sp>
        <p:nvSpPr>
          <p:cNvPr id="14" name="Shape 12"/>
          <p:cNvSpPr/>
          <p:nvPr/>
        </p:nvSpPr>
        <p:spPr>
          <a:xfrm>
            <a:off x="7452360" y="2788920"/>
            <a:ext cx="4069080" cy="1234440"/>
          </a:xfrm>
          <a:prstGeom prst="roundRect">
            <a:avLst>
              <a:gd name="adj" fmla="val 5926"/>
            </a:avLst>
          </a:prstGeom>
          <a:solidFill>
            <a:srgbClr val="FFFFFF"/>
          </a:solidFill>
          <a:ln w="12700">
            <a:solidFill>
              <a:srgbClr val="D7E0E7"/>
            </a:solidFill>
            <a:prstDash val="solid"/>
          </a:ln>
        </p:spPr>
      </p:sp>
      <p:sp>
        <p:nvSpPr>
          <p:cNvPr id="15" name="Shape 13"/>
          <p:cNvSpPr/>
          <p:nvPr/>
        </p:nvSpPr>
        <p:spPr>
          <a:xfrm>
            <a:off x="7452360" y="2788920"/>
            <a:ext cx="64008" cy="1234440"/>
          </a:xfrm>
          <a:prstGeom prst="rect">
            <a:avLst/>
          </a:prstGeom>
          <a:solidFill>
            <a:srgbClr val="2C6EAF"/>
          </a:solidFill>
          <a:ln w="12700">
            <a:solidFill>
              <a:srgbClr val="2C6EAF">
                <a:alpha val="0"/>
              </a:srgbClr>
            </a:solidFill>
            <a:prstDash val="solid"/>
          </a:ln>
        </p:spPr>
      </p:sp>
      <p:sp>
        <p:nvSpPr>
          <p:cNvPr id="16" name="Text 14"/>
          <p:cNvSpPr/>
          <p:nvPr/>
        </p:nvSpPr>
        <p:spPr>
          <a:xfrm>
            <a:off x="7653528" y="2935224"/>
            <a:ext cx="372160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--cleanenv</a:t>
            </a:r>
            <a:endParaRPr lang="en-US" sz="1700" dirty="0"/>
          </a:p>
        </p:txBody>
      </p:sp>
      <p:sp>
        <p:nvSpPr>
          <p:cNvPr id="17" name="Text 15"/>
          <p:cNvSpPr/>
          <p:nvPr/>
        </p:nvSpPr>
        <p:spPr>
          <a:xfrm>
            <a:off x="7653528" y="3319272"/>
            <a:ext cx="3721608" cy="57607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Reduce unintended host-variable inheritance.</a:t>
            </a:r>
            <a:endParaRPr lang="en-US" sz="1600" dirty="0"/>
          </a:p>
        </p:txBody>
      </p:sp>
      <p:sp>
        <p:nvSpPr>
          <p:cNvPr id="18" name="Shape 16"/>
          <p:cNvSpPr/>
          <p:nvPr/>
        </p:nvSpPr>
        <p:spPr>
          <a:xfrm>
            <a:off x="7452360" y="4251960"/>
            <a:ext cx="4069080" cy="1234440"/>
          </a:xfrm>
          <a:prstGeom prst="roundRect">
            <a:avLst>
              <a:gd name="adj" fmla="val 5926"/>
            </a:avLst>
          </a:prstGeom>
          <a:solidFill>
            <a:srgbClr val="FFFFFF"/>
          </a:solidFill>
          <a:ln w="12700">
            <a:solidFill>
              <a:srgbClr val="D7E0E7"/>
            </a:solidFill>
            <a:prstDash val="solid"/>
          </a:ln>
        </p:spPr>
      </p:sp>
      <p:sp>
        <p:nvSpPr>
          <p:cNvPr id="19" name="Shape 17"/>
          <p:cNvSpPr/>
          <p:nvPr/>
        </p:nvSpPr>
        <p:spPr>
          <a:xfrm>
            <a:off x="7452360" y="4251960"/>
            <a:ext cx="64008" cy="1234440"/>
          </a:xfrm>
          <a:prstGeom prst="rect">
            <a:avLst/>
          </a:prstGeom>
          <a:solidFill>
            <a:srgbClr val="3A8D63"/>
          </a:solidFill>
          <a:ln w="12700">
            <a:solidFill>
              <a:srgbClr val="3A8D63">
                <a:alpha val="0"/>
              </a:srgbClr>
            </a:solidFill>
            <a:prstDash val="solid"/>
          </a:ln>
        </p:spPr>
      </p:sp>
      <p:sp>
        <p:nvSpPr>
          <p:cNvPr id="20" name="Text 18"/>
          <p:cNvSpPr/>
          <p:nvPr/>
        </p:nvSpPr>
        <p:spPr>
          <a:xfrm>
            <a:off x="7653528" y="4398264"/>
            <a:ext cx="372160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read-only inputs</a:t>
            </a:r>
            <a:endParaRPr lang="en-US" sz="1700" dirty="0"/>
          </a:p>
        </p:txBody>
      </p:sp>
      <p:sp>
        <p:nvSpPr>
          <p:cNvPr id="21" name="Text 19"/>
          <p:cNvSpPr/>
          <p:nvPr/>
        </p:nvSpPr>
        <p:spPr>
          <a:xfrm>
            <a:off x="7653528" y="4782312"/>
            <a:ext cx="3721608" cy="57607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Prevent accidental modification of source data.</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7. Bind mounts connect approved data to the container</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Expose only the paths the job needs, with clear read/write intent</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4</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8 / 13</a:t>
            </a:r>
            <a:endParaRPr lang="en-US" sz="900" dirty="0"/>
          </a:p>
        </p:txBody>
      </p:sp>
      <p:sp>
        <p:nvSpPr>
          <p:cNvPr id="7" name="Shape 5"/>
          <p:cNvSpPr/>
          <p:nvPr/>
        </p:nvSpPr>
        <p:spPr>
          <a:xfrm>
            <a:off x="411480" y="6510528"/>
            <a:ext cx="502920" cy="27432"/>
          </a:xfrm>
          <a:prstGeom prst="rect">
            <a:avLst/>
          </a:prstGeom>
          <a:solidFill>
            <a:srgbClr val="7057A3"/>
          </a:solidFill>
          <a:ln w="12700">
            <a:solidFill>
              <a:srgbClr val="7057A3">
                <a:alpha val="0"/>
              </a:srgbClr>
            </a:solidFill>
            <a:prstDash val="solid"/>
          </a:ln>
        </p:spPr>
      </p:sp>
      <p:sp>
        <p:nvSpPr>
          <p:cNvPr id="8" name="Shape 6"/>
          <p:cNvSpPr/>
          <p:nvPr/>
        </p:nvSpPr>
        <p:spPr>
          <a:xfrm>
            <a:off x="594360" y="1280160"/>
            <a:ext cx="2971800" cy="4526280"/>
          </a:xfrm>
          <a:prstGeom prst="roundRect">
            <a:avLst>
              <a:gd name="adj" fmla="val 2462"/>
            </a:avLst>
          </a:prstGeom>
          <a:solidFill>
            <a:srgbClr val="FFFFFF"/>
          </a:solidFill>
          <a:ln w="12700">
            <a:solidFill>
              <a:srgbClr val="D7E0E7"/>
            </a:solidFill>
            <a:prstDash val="solid"/>
          </a:ln>
        </p:spPr>
      </p:sp>
      <p:sp>
        <p:nvSpPr>
          <p:cNvPr id="9" name="Shape 7"/>
          <p:cNvSpPr/>
          <p:nvPr/>
        </p:nvSpPr>
        <p:spPr>
          <a:xfrm>
            <a:off x="594360" y="1280160"/>
            <a:ext cx="64008" cy="4526280"/>
          </a:xfrm>
          <a:prstGeom prst="rect">
            <a:avLst/>
          </a:prstGeom>
          <a:solidFill>
            <a:srgbClr val="2C6EAF"/>
          </a:solidFill>
          <a:ln w="12700">
            <a:solidFill>
              <a:srgbClr val="2C6EAF">
                <a:alpha val="0"/>
              </a:srgbClr>
            </a:solidFill>
            <a:prstDash val="solid"/>
          </a:ln>
        </p:spPr>
      </p:sp>
      <p:sp>
        <p:nvSpPr>
          <p:cNvPr id="10" name="Text 8"/>
          <p:cNvSpPr/>
          <p:nvPr/>
        </p:nvSpPr>
        <p:spPr>
          <a:xfrm>
            <a:off x="795528" y="1426464"/>
            <a:ext cx="26243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HOST PATHS</a:t>
            </a:r>
            <a:endParaRPr lang="en-US" sz="1700" dirty="0"/>
          </a:p>
        </p:txBody>
      </p:sp>
      <p:sp>
        <p:nvSpPr>
          <p:cNvPr id="11" name="Text 9"/>
          <p:cNvSpPr/>
          <p:nvPr/>
        </p:nvSpPr>
        <p:spPr>
          <a:xfrm>
            <a:off x="795528" y="1810512"/>
            <a:ext cx="2624328" cy="386791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/project/data</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read-only</a:t>
            </a:r>
            <a:endParaRPr lang="en-US" sz="1700" dirty="0"/>
          </a:p>
          <a:p>
            <a:pPr algn="l" indent="0" marL="0">
              <a:buNone/>
            </a:pP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/project/results</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read-write</a:t>
            </a:r>
            <a:endParaRPr lang="en-US" sz="1700" dirty="0"/>
          </a:p>
          <a:p>
            <a:pPr algn="l" indent="0" marL="0">
              <a:buNone/>
            </a:pP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$TMPDIR</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ephemeral</a:t>
            </a:r>
            <a:endParaRPr lang="en-US" sz="1700" dirty="0"/>
          </a:p>
        </p:txBody>
      </p:sp>
      <p:sp>
        <p:nvSpPr>
          <p:cNvPr id="12" name="Shape 10"/>
          <p:cNvSpPr/>
          <p:nvPr/>
        </p:nvSpPr>
        <p:spPr>
          <a:xfrm>
            <a:off x="4645152" y="1280160"/>
            <a:ext cx="2926080" cy="4526280"/>
          </a:xfrm>
          <a:prstGeom prst="roundRect">
            <a:avLst/>
          </a:prstGeom>
          <a:solidFill>
            <a:srgbClr val="7057A3">
              <a:alpha val="9000"/>
            </a:srgbClr>
          </a:solidFill>
          <a:ln w="19050">
            <a:solidFill>
              <a:srgbClr val="7057A3"/>
            </a:solidFill>
            <a:prstDash val="solid"/>
          </a:ln>
        </p:spPr>
      </p:sp>
      <p:sp>
        <p:nvSpPr>
          <p:cNvPr id="13" name="Text 11"/>
          <p:cNvSpPr/>
          <p:nvPr/>
        </p:nvSpPr>
        <p:spPr>
          <a:xfrm>
            <a:off x="5010912" y="1572768"/>
            <a:ext cx="2194560" cy="365760"/>
          </a:xfrm>
          <a:prstGeom prst="rect">
            <a:avLst/>
          </a:prstGeom>
          <a:noFill/>
          <a:ln/>
        </p:spPr>
        <p:txBody>
          <a:bodyPr wrap="square" lIns="0" tIns="0" rIns="0" bIns="0" rtlCol="0" anchor="ctr">
            <a:normAutofit/>
          </a:bodyPr>
          <a:lstStyle/>
          <a:p>
            <a:pPr algn="ctr" indent="0" marL="0">
              <a:buNone/>
            </a:pPr>
            <a:r>
              <a:rPr lang="en-US" sz="2100" b="1" dirty="0">
                <a:solidFill>
                  <a:srgbClr val="7057A3"/>
                </a:solidFill>
                <a:latin typeface="Liberation Sans" pitchFamily="34" charset="0"/>
                <a:ea typeface="Liberation Sans" pitchFamily="34" charset="-122"/>
                <a:cs typeface="Liberation Sans" pitchFamily="34" charset="-120"/>
              </a:rPr>
              <a:t>CONTAINER</a:t>
            </a:r>
            <a:endParaRPr lang="en-US" sz="2100" dirty="0"/>
          </a:p>
        </p:txBody>
      </p:sp>
      <p:sp>
        <p:nvSpPr>
          <p:cNvPr id="14" name="Text 12"/>
          <p:cNvSpPr/>
          <p:nvPr/>
        </p:nvSpPr>
        <p:spPr>
          <a:xfrm>
            <a:off x="5257800" y="2240280"/>
            <a:ext cx="1691640" cy="2514600"/>
          </a:xfrm>
          <a:prstGeom prst="rect">
            <a:avLst/>
          </a:prstGeom>
          <a:noFill/>
          <a:ln/>
        </p:spPr>
        <p:txBody>
          <a:bodyPr wrap="square" lIns="0" tIns="0" rIns="0" bIns="0" rtlCol="0" anchor="ctr">
            <a:normAutofit/>
          </a:bodyPr>
          <a:lstStyle/>
          <a:p>
            <a:pPr algn="ctr" indent="0" marL="0">
              <a:buNone/>
            </a:pPr>
            <a:r>
              <a:rPr lang="en-US" sz="2100" b="1" dirty="0">
                <a:solidFill>
                  <a:srgbClr val="17324D"/>
                </a:solidFill>
                <a:latin typeface="Liberation Mono" pitchFamily="34" charset="0"/>
                <a:ea typeface="Liberation Mono" pitchFamily="34" charset="-122"/>
                <a:cs typeface="Liberation Mono" pitchFamily="34" charset="-120"/>
              </a:rPr>
              <a:t>/data</a:t>
            </a:r>
            <a:endParaRPr lang="en-US" sz="2100" dirty="0"/>
          </a:p>
          <a:p>
            <a:pPr algn="ctr" indent="0" marL="0">
              <a:buNone/>
            </a:pPr>
            <a:endParaRPr lang="en-US" sz="2100" dirty="0"/>
          </a:p>
          <a:p>
            <a:pPr algn="ctr" indent="0" marL="0">
              <a:buNone/>
            </a:pPr>
            <a:r>
              <a:rPr lang="en-US" sz="2100" b="1" dirty="0">
                <a:solidFill>
                  <a:srgbClr val="17324D"/>
                </a:solidFill>
                <a:latin typeface="Liberation Mono" pitchFamily="34" charset="0"/>
                <a:ea typeface="Liberation Mono" pitchFamily="34" charset="-122"/>
                <a:cs typeface="Liberation Mono" pitchFamily="34" charset="-120"/>
              </a:rPr>
              <a:t>/results</a:t>
            </a:r>
            <a:endParaRPr lang="en-US" sz="2100" dirty="0"/>
          </a:p>
          <a:p>
            <a:pPr algn="ctr" indent="0" marL="0">
              <a:buNone/>
            </a:pPr>
            <a:endParaRPr lang="en-US" sz="2100" dirty="0"/>
          </a:p>
          <a:p>
            <a:pPr algn="ctr" indent="0" marL="0">
              <a:buNone/>
            </a:pPr>
            <a:r>
              <a:rPr lang="en-US" sz="2100" b="1" dirty="0">
                <a:solidFill>
                  <a:srgbClr val="17324D"/>
                </a:solidFill>
                <a:latin typeface="Liberation Mono" pitchFamily="34" charset="0"/>
                <a:ea typeface="Liberation Mono" pitchFamily="34" charset="-122"/>
                <a:cs typeface="Liberation Mono" pitchFamily="34" charset="-120"/>
              </a:rPr>
              <a:t>/tmp</a:t>
            </a:r>
            <a:endParaRPr lang="en-US" sz="2100" dirty="0"/>
          </a:p>
        </p:txBody>
      </p:sp>
      <p:sp>
        <p:nvSpPr>
          <p:cNvPr id="15" name="Shape 13"/>
          <p:cNvSpPr/>
          <p:nvPr/>
        </p:nvSpPr>
        <p:spPr>
          <a:xfrm>
            <a:off x="8668512" y="1280160"/>
            <a:ext cx="2971800" cy="4526280"/>
          </a:xfrm>
          <a:prstGeom prst="roundRect">
            <a:avLst>
              <a:gd name="adj" fmla="val 2462"/>
            </a:avLst>
          </a:prstGeom>
          <a:solidFill>
            <a:srgbClr val="FFFFFF"/>
          </a:solidFill>
          <a:ln w="12700">
            <a:solidFill>
              <a:srgbClr val="D7E0E7"/>
            </a:solidFill>
            <a:prstDash val="solid"/>
          </a:ln>
        </p:spPr>
      </p:sp>
      <p:sp>
        <p:nvSpPr>
          <p:cNvPr id="16" name="Shape 14"/>
          <p:cNvSpPr/>
          <p:nvPr/>
        </p:nvSpPr>
        <p:spPr>
          <a:xfrm>
            <a:off x="8668512" y="1280160"/>
            <a:ext cx="64008" cy="4526280"/>
          </a:xfrm>
          <a:prstGeom prst="rect">
            <a:avLst/>
          </a:prstGeom>
          <a:solidFill>
            <a:srgbClr val="3A8D63"/>
          </a:solidFill>
          <a:ln w="12700">
            <a:solidFill>
              <a:srgbClr val="3A8D63">
                <a:alpha val="0"/>
              </a:srgbClr>
            </a:solidFill>
            <a:prstDash val="solid"/>
          </a:ln>
        </p:spPr>
      </p:sp>
      <p:sp>
        <p:nvSpPr>
          <p:cNvPr id="17" name="Text 15"/>
          <p:cNvSpPr/>
          <p:nvPr/>
        </p:nvSpPr>
        <p:spPr>
          <a:xfrm>
            <a:off x="8869680" y="1426464"/>
            <a:ext cx="26243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ACCESS INTENT</a:t>
            </a:r>
            <a:endParaRPr lang="en-US" sz="1700" dirty="0"/>
          </a:p>
        </p:txBody>
      </p:sp>
      <p:sp>
        <p:nvSpPr>
          <p:cNvPr id="18" name="Text 16"/>
          <p:cNvSpPr/>
          <p:nvPr/>
        </p:nvSpPr>
        <p:spPr>
          <a:xfrm>
            <a:off x="8869680" y="1810512"/>
            <a:ext cx="2624328" cy="386791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inputs cannot change</a:t>
            </a:r>
            <a:endParaRPr lang="en-US" sz="1700" dirty="0"/>
          </a:p>
          <a:p>
            <a:pPr algn="l" indent="0" marL="0">
              <a:buNone/>
            </a:pP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outputs are deliberate</a:t>
            </a:r>
            <a:endParaRPr lang="en-US" sz="1700" dirty="0"/>
          </a:p>
          <a:p>
            <a:pPr algn="l" indent="0" marL="0">
              <a:buNone/>
            </a:pP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temporary I/O stays local</a:t>
            </a:r>
            <a:endParaRPr lang="en-US" sz="1700" dirty="0"/>
          </a:p>
          <a:p>
            <a:pPr algn="l" indent="0" marL="0">
              <a:buNone/>
            </a:pP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no broad home-directory bind</a:t>
            </a:r>
            <a:endParaRPr lang="en-US" sz="1700" dirty="0"/>
          </a:p>
        </p:txBody>
      </p:sp>
      <p:sp>
        <p:nvSpPr>
          <p:cNvPr id="19" name="Shape 17"/>
          <p:cNvSpPr/>
          <p:nvPr/>
        </p:nvSpPr>
        <p:spPr>
          <a:xfrm>
            <a:off x="3566160" y="3538728"/>
            <a:ext cx="1078992" cy="0"/>
          </a:xfrm>
          <a:prstGeom prst="line">
            <a:avLst/>
          </a:prstGeom>
          <a:noFill/>
          <a:ln w="38100">
            <a:solidFill>
              <a:srgbClr val="7057A3"/>
            </a:solidFill>
            <a:prstDash val="solid"/>
            <a:headEnd type="none"/>
            <a:tailEnd type="triangle"/>
          </a:ln>
        </p:spPr>
      </p:sp>
      <p:sp>
        <p:nvSpPr>
          <p:cNvPr id="20" name="Shape 18"/>
          <p:cNvSpPr/>
          <p:nvPr/>
        </p:nvSpPr>
        <p:spPr>
          <a:xfrm>
            <a:off x="7571232" y="3538728"/>
            <a:ext cx="1097280" cy="0"/>
          </a:xfrm>
          <a:prstGeom prst="line">
            <a:avLst/>
          </a:prstGeom>
          <a:noFill/>
          <a:ln w="38100">
            <a:solidFill>
              <a:srgbClr val="7057A3"/>
            </a:solidFill>
            <a:prstDash val="solid"/>
            <a:headEnd type="none"/>
            <a:tailEnd type="triangle"/>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8. Containers do not remove I/O physics</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The image fixes software packaging; data access still needs good patterns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4</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9 / 13</a:t>
            </a:r>
            <a:endParaRPr lang="en-US" sz="900" dirty="0"/>
          </a:p>
        </p:txBody>
      </p:sp>
      <p:sp>
        <p:nvSpPr>
          <p:cNvPr id="7" name="Shape 5"/>
          <p:cNvSpPr/>
          <p:nvPr/>
        </p:nvSpPr>
        <p:spPr>
          <a:xfrm>
            <a:off x="411480" y="6510528"/>
            <a:ext cx="502920" cy="27432"/>
          </a:xfrm>
          <a:prstGeom prst="rect">
            <a:avLst/>
          </a:prstGeom>
          <a:solidFill>
            <a:srgbClr val="7057A3"/>
          </a:solidFill>
          <a:ln w="12700">
            <a:solidFill>
              <a:srgbClr val="7057A3">
                <a:alpha val="0"/>
              </a:srgbClr>
            </a:solidFill>
            <a:prstDash val="solid"/>
          </a:ln>
        </p:spPr>
      </p:sp>
      <p:sp>
        <p:nvSpPr>
          <p:cNvPr id="8" name="Shape 6"/>
          <p:cNvSpPr/>
          <p:nvPr/>
        </p:nvSpPr>
        <p:spPr>
          <a:xfrm>
            <a:off x="685800" y="1234440"/>
            <a:ext cx="10972800" cy="850392"/>
          </a:xfrm>
          <a:prstGeom prst="roundRect">
            <a:avLst/>
          </a:prstGeom>
          <a:solidFill>
            <a:srgbClr val="FFFFFF"/>
          </a:solidFill>
          <a:ln w="12700">
            <a:solidFill>
              <a:srgbClr val="D7E0E7"/>
            </a:solidFill>
            <a:prstDash val="solid"/>
          </a:ln>
        </p:spPr>
      </p:sp>
      <p:sp>
        <p:nvSpPr>
          <p:cNvPr id="9" name="Text 7"/>
          <p:cNvSpPr/>
          <p:nvPr/>
        </p:nvSpPr>
        <p:spPr>
          <a:xfrm>
            <a:off x="914400" y="1399032"/>
            <a:ext cx="2240280" cy="320040"/>
          </a:xfrm>
          <a:prstGeom prst="rect">
            <a:avLst/>
          </a:prstGeom>
          <a:noFill/>
          <a:ln/>
        </p:spPr>
        <p:txBody>
          <a:bodyPr wrap="square" lIns="0" tIns="0" rIns="0" bIns="0" rtlCol="0" anchor="ctr">
            <a:normAutofit/>
          </a:bodyPr>
          <a:lstStyle/>
          <a:p>
            <a:pPr algn="l" indent="0" marL="0">
              <a:buNone/>
            </a:pPr>
            <a:r>
              <a:rPr lang="en-US" sz="1800" b="1" dirty="0">
                <a:solidFill>
                  <a:srgbClr val="17324D"/>
                </a:solidFill>
                <a:latin typeface="Liberation Sans" pitchFamily="34" charset="0"/>
                <a:ea typeface="Liberation Sans" pitchFamily="34" charset="-122"/>
                <a:cs typeface="Liberation Sans" pitchFamily="34" charset="-120"/>
              </a:rPr>
              <a:t>Container image</a:t>
            </a:r>
            <a:endParaRPr lang="en-US" sz="1800" dirty="0"/>
          </a:p>
        </p:txBody>
      </p:sp>
      <p:sp>
        <p:nvSpPr>
          <p:cNvPr id="10" name="Text 8"/>
          <p:cNvSpPr/>
          <p:nvPr/>
        </p:nvSpPr>
        <p:spPr>
          <a:xfrm>
            <a:off x="3337560" y="1399032"/>
            <a:ext cx="2331720" cy="320040"/>
          </a:xfrm>
          <a:prstGeom prst="rect">
            <a:avLst/>
          </a:prstGeom>
          <a:noFill/>
          <a:ln/>
        </p:spPr>
        <p:txBody>
          <a:bodyPr wrap="square" lIns="0" tIns="0" rIns="0" bIns="0" rtlCol="0" anchor="ctr">
            <a:normAutofit/>
          </a:bodyPr>
          <a:lstStyle/>
          <a:p>
            <a:pPr algn="l" indent="0" marL="0">
              <a:buNone/>
            </a:pPr>
            <a:r>
              <a:rPr lang="en-US" sz="1600" dirty="0">
                <a:solidFill>
                  <a:srgbClr val="5E6B78"/>
                </a:solidFill>
                <a:latin typeface="Liberation Sans" pitchFamily="34" charset="0"/>
                <a:ea typeface="Liberation Sans" pitchFamily="34" charset="-122"/>
                <a:cs typeface="Liberation Sans" pitchFamily="34" charset="-120"/>
              </a:rPr>
              <a:t>software reads</a:t>
            </a:r>
            <a:endParaRPr lang="en-US" sz="1600" dirty="0"/>
          </a:p>
        </p:txBody>
      </p:sp>
      <p:sp>
        <p:nvSpPr>
          <p:cNvPr id="11" name="Text 9"/>
          <p:cNvSpPr/>
          <p:nvPr/>
        </p:nvSpPr>
        <p:spPr>
          <a:xfrm>
            <a:off x="5852160" y="1399032"/>
            <a:ext cx="5303520" cy="320040"/>
          </a:xfrm>
          <a:prstGeom prst="rect">
            <a:avLst/>
          </a:prstGeom>
          <a:noFill/>
          <a:ln/>
        </p:spPr>
        <p:txBody>
          <a:bodyPr wrap="square" lIns="0" tIns="0" rIns="0" bIns="0" rtlCol="0" anchor="ctr">
            <a:normAutofit/>
          </a:bodyPr>
          <a:lstStyle/>
          <a:p>
            <a:pPr algn="l" indent="0" marL="0">
              <a:buNone/>
            </a:pPr>
            <a:r>
              <a:rPr lang="en-US" sz="1700" b="1" dirty="0">
                <a:solidFill>
                  <a:srgbClr val="1F2937"/>
                </a:solidFill>
                <a:latin typeface="Liberation Sans" pitchFamily="34" charset="0"/>
                <a:ea typeface="Liberation Sans" pitchFamily="34" charset="-122"/>
                <a:cs typeface="Liberation Sans" pitchFamily="34" charset="-120"/>
              </a:rPr>
              <a:t>usually efficient artifact</a:t>
            </a:r>
            <a:endParaRPr lang="en-US" sz="1700" dirty="0"/>
          </a:p>
        </p:txBody>
      </p:sp>
      <p:sp>
        <p:nvSpPr>
          <p:cNvPr id="12" name="Shape 10"/>
          <p:cNvSpPr/>
          <p:nvPr/>
        </p:nvSpPr>
        <p:spPr>
          <a:xfrm>
            <a:off x="685800" y="2359152"/>
            <a:ext cx="10972800" cy="850392"/>
          </a:xfrm>
          <a:prstGeom prst="roundRect">
            <a:avLst/>
          </a:prstGeom>
          <a:solidFill>
            <a:srgbClr val="FAFBFC"/>
          </a:solidFill>
          <a:ln w="12700">
            <a:solidFill>
              <a:srgbClr val="D7E0E7"/>
            </a:solidFill>
            <a:prstDash val="solid"/>
          </a:ln>
        </p:spPr>
      </p:sp>
      <p:sp>
        <p:nvSpPr>
          <p:cNvPr id="13" name="Text 11"/>
          <p:cNvSpPr/>
          <p:nvPr/>
        </p:nvSpPr>
        <p:spPr>
          <a:xfrm>
            <a:off x="914400" y="2523744"/>
            <a:ext cx="2240280" cy="320040"/>
          </a:xfrm>
          <a:prstGeom prst="rect">
            <a:avLst/>
          </a:prstGeom>
          <a:noFill/>
          <a:ln/>
        </p:spPr>
        <p:txBody>
          <a:bodyPr wrap="square" lIns="0" tIns="0" rIns="0" bIns="0" rtlCol="0" anchor="ctr">
            <a:normAutofit/>
          </a:bodyPr>
          <a:lstStyle/>
          <a:p>
            <a:pPr algn="l" indent="0" marL="0">
              <a:buNone/>
            </a:pPr>
            <a:r>
              <a:rPr lang="en-US" sz="1800" b="1" dirty="0">
                <a:solidFill>
                  <a:srgbClr val="17324D"/>
                </a:solidFill>
                <a:latin typeface="Liberation Sans" pitchFamily="34" charset="0"/>
                <a:ea typeface="Liberation Sans" pitchFamily="34" charset="-122"/>
                <a:cs typeface="Liberation Sans" pitchFamily="34" charset="-120"/>
              </a:rPr>
              <a:t>Input data</a:t>
            </a:r>
            <a:endParaRPr lang="en-US" sz="1800" dirty="0"/>
          </a:p>
        </p:txBody>
      </p:sp>
      <p:sp>
        <p:nvSpPr>
          <p:cNvPr id="14" name="Text 12"/>
          <p:cNvSpPr/>
          <p:nvPr/>
        </p:nvSpPr>
        <p:spPr>
          <a:xfrm>
            <a:off x="3337560" y="2523744"/>
            <a:ext cx="2331720" cy="320040"/>
          </a:xfrm>
          <a:prstGeom prst="rect">
            <a:avLst/>
          </a:prstGeom>
          <a:noFill/>
          <a:ln/>
        </p:spPr>
        <p:txBody>
          <a:bodyPr wrap="square" lIns="0" tIns="0" rIns="0" bIns="0" rtlCol="0" anchor="ctr">
            <a:normAutofit/>
          </a:bodyPr>
          <a:lstStyle/>
          <a:p>
            <a:pPr algn="l" indent="0" marL="0">
              <a:buNone/>
            </a:pPr>
            <a:r>
              <a:rPr lang="en-US" sz="1600" dirty="0">
                <a:solidFill>
                  <a:srgbClr val="5E6B78"/>
                </a:solidFill>
                <a:latin typeface="Liberation Sans" pitchFamily="34" charset="0"/>
                <a:ea typeface="Liberation Sans" pitchFamily="34" charset="-122"/>
                <a:cs typeface="Liberation Sans" pitchFamily="34" charset="-120"/>
              </a:rPr>
              <a:t>stream or indexed access</a:t>
            </a:r>
            <a:endParaRPr lang="en-US" sz="1600" dirty="0"/>
          </a:p>
        </p:txBody>
      </p:sp>
      <p:sp>
        <p:nvSpPr>
          <p:cNvPr id="15" name="Text 13"/>
          <p:cNvSpPr/>
          <p:nvPr/>
        </p:nvSpPr>
        <p:spPr>
          <a:xfrm>
            <a:off x="5852160" y="2523744"/>
            <a:ext cx="5303520" cy="320040"/>
          </a:xfrm>
          <a:prstGeom prst="rect">
            <a:avLst/>
          </a:prstGeom>
          <a:noFill/>
          <a:ln/>
        </p:spPr>
        <p:txBody>
          <a:bodyPr wrap="square" lIns="0" tIns="0" rIns="0" bIns="0" rtlCol="0" anchor="ctr">
            <a:normAutofit/>
          </a:bodyPr>
          <a:lstStyle/>
          <a:p>
            <a:pPr algn="l" indent="0" marL="0">
              <a:buNone/>
            </a:pPr>
            <a:r>
              <a:rPr lang="en-US" sz="1700" b="1" dirty="0">
                <a:solidFill>
                  <a:srgbClr val="1F2937"/>
                </a:solidFill>
                <a:latin typeface="Liberation Sans" pitchFamily="34" charset="0"/>
                <a:ea typeface="Liberation Sans" pitchFamily="34" charset="-122"/>
                <a:cs typeface="Liberation Sans" pitchFamily="34" charset="-120"/>
              </a:rPr>
              <a:t>keep compressed when possible</a:t>
            </a:r>
            <a:endParaRPr lang="en-US" sz="1700" dirty="0"/>
          </a:p>
        </p:txBody>
      </p:sp>
      <p:sp>
        <p:nvSpPr>
          <p:cNvPr id="16" name="Shape 14"/>
          <p:cNvSpPr/>
          <p:nvPr/>
        </p:nvSpPr>
        <p:spPr>
          <a:xfrm>
            <a:off x="685800" y="3483864"/>
            <a:ext cx="10972800" cy="850392"/>
          </a:xfrm>
          <a:prstGeom prst="roundRect">
            <a:avLst/>
          </a:prstGeom>
          <a:solidFill>
            <a:srgbClr val="FFF6F3"/>
          </a:solidFill>
          <a:ln w="19050">
            <a:solidFill>
              <a:srgbClr val="D15B47"/>
            </a:solidFill>
            <a:prstDash val="solid"/>
          </a:ln>
        </p:spPr>
      </p:sp>
      <p:sp>
        <p:nvSpPr>
          <p:cNvPr id="17" name="Text 15"/>
          <p:cNvSpPr/>
          <p:nvPr/>
        </p:nvSpPr>
        <p:spPr>
          <a:xfrm>
            <a:off x="914400" y="3648456"/>
            <a:ext cx="2240280" cy="320040"/>
          </a:xfrm>
          <a:prstGeom prst="rect">
            <a:avLst/>
          </a:prstGeom>
          <a:noFill/>
          <a:ln/>
        </p:spPr>
        <p:txBody>
          <a:bodyPr wrap="square" lIns="0" tIns="0" rIns="0" bIns="0" rtlCol="0" anchor="ctr">
            <a:normAutofit/>
          </a:bodyPr>
          <a:lstStyle/>
          <a:p>
            <a:pPr algn="l" indent="0" marL="0">
              <a:buNone/>
            </a:pPr>
            <a:r>
              <a:rPr lang="en-US" sz="1800" b="1" dirty="0">
                <a:solidFill>
                  <a:srgbClr val="D15B47"/>
                </a:solidFill>
                <a:latin typeface="Liberation Sans" pitchFamily="34" charset="0"/>
                <a:ea typeface="Liberation Sans" pitchFamily="34" charset="-122"/>
                <a:cs typeface="Liberation Sans" pitchFamily="34" charset="-120"/>
              </a:rPr>
              <a:t>Temporary work</a:t>
            </a:r>
            <a:endParaRPr lang="en-US" sz="1800" dirty="0"/>
          </a:p>
        </p:txBody>
      </p:sp>
      <p:sp>
        <p:nvSpPr>
          <p:cNvPr id="18" name="Text 16"/>
          <p:cNvSpPr/>
          <p:nvPr/>
        </p:nvSpPr>
        <p:spPr>
          <a:xfrm>
            <a:off x="3337560" y="3648456"/>
            <a:ext cx="2331720" cy="320040"/>
          </a:xfrm>
          <a:prstGeom prst="rect">
            <a:avLst/>
          </a:prstGeom>
          <a:noFill/>
          <a:ln/>
        </p:spPr>
        <p:txBody>
          <a:bodyPr wrap="square" lIns="0" tIns="0" rIns="0" bIns="0" rtlCol="0" anchor="ctr">
            <a:normAutofit/>
          </a:bodyPr>
          <a:lstStyle/>
          <a:p>
            <a:pPr algn="l" indent="0" marL="0">
              <a:buNone/>
            </a:pPr>
            <a:r>
              <a:rPr lang="en-US" sz="1600" dirty="0">
                <a:solidFill>
                  <a:srgbClr val="5E6B78"/>
                </a:solidFill>
                <a:latin typeface="Liberation Sans" pitchFamily="34" charset="0"/>
                <a:ea typeface="Liberation Sans" pitchFamily="34" charset="-122"/>
                <a:cs typeface="Liberation Sans" pitchFamily="34" charset="-120"/>
              </a:rPr>
              <a:t>random / small I/O</a:t>
            </a:r>
            <a:endParaRPr lang="en-US" sz="1600" dirty="0"/>
          </a:p>
        </p:txBody>
      </p:sp>
      <p:sp>
        <p:nvSpPr>
          <p:cNvPr id="19" name="Text 17"/>
          <p:cNvSpPr/>
          <p:nvPr/>
        </p:nvSpPr>
        <p:spPr>
          <a:xfrm>
            <a:off x="5852160" y="3648456"/>
            <a:ext cx="5303520" cy="320040"/>
          </a:xfrm>
          <a:prstGeom prst="rect">
            <a:avLst/>
          </a:prstGeom>
          <a:noFill/>
          <a:ln/>
        </p:spPr>
        <p:txBody>
          <a:bodyPr wrap="square" lIns="0" tIns="0" rIns="0" bIns="0" rtlCol="0" anchor="ctr">
            <a:normAutofit/>
          </a:bodyPr>
          <a:lstStyle/>
          <a:p>
            <a:pPr algn="l" indent="0" marL="0">
              <a:buNone/>
            </a:pPr>
            <a:r>
              <a:rPr lang="en-US" sz="1700" b="1" dirty="0">
                <a:solidFill>
                  <a:srgbClr val="1F2937"/>
                </a:solidFill>
                <a:latin typeface="Liberation Sans" pitchFamily="34" charset="0"/>
                <a:ea typeface="Liberation Sans" pitchFamily="34" charset="-122"/>
                <a:cs typeface="Liberation Sans" pitchFamily="34" charset="-120"/>
              </a:rPr>
              <a:t>node-local scratch</a:t>
            </a:r>
            <a:endParaRPr lang="en-US" sz="1700" dirty="0"/>
          </a:p>
        </p:txBody>
      </p:sp>
      <p:sp>
        <p:nvSpPr>
          <p:cNvPr id="20" name="Shape 18"/>
          <p:cNvSpPr/>
          <p:nvPr/>
        </p:nvSpPr>
        <p:spPr>
          <a:xfrm>
            <a:off x="685800" y="4608576"/>
            <a:ext cx="10972800" cy="850392"/>
          </a:xfrm>
          <a:prstGeom prst="roundRect">
            <a:avLst/>
          </a:prstGeom>
          <a:solidFill>
            <a:srgbClr val="FAFBFC"/>
          </a:solidFill>
          <a:ln w="12700">
            <a:solidFill>
              <a:srgbClr val="D7E0E7"/>
            </a:solidFill>
            <a:prstDash val="solid"/>
          </a:ln>
        </p:spPr>
      </p:sp>
      <p:sp>
        <p:nvSpPr>
          <p:cNvPr id="21" name="Text 19"/>
          <p:cNvSpPr/>
          <p:nvPr/>
        </p:nvSpPr>
        <p:spPr>
          <a:xfrm>
            <a:off x="914400" y="4773168"/>
            <a:ext cx="2240280" cy="320040"/>
          </a:xfrm>
          <a:prstGeom prst="rect">
            <a:avLst/>
          </a:prstGeom>
          <a:noFill/>
          <a:ln/>
        </p:spPr>
        <p:txBody>
          <a:bodyPr wrap="square" lIns="0" tIns="0" rIns="0" bIns="0" rtlCol="0" anchor="ctr">
            <a:normAutofit/>
          </a:bodyPr>
          <a:lstStyle/>
          <a:p>
            <a:pPr algn="l" indent="0" marL="0">
              <a:buNone/>
            </a:pPr>
            <a:r>
              <a:rPr lang="en-US" sz="1800" b="1" dirty="0">
                <a:solidFill>
                  <a:srgbClr val="17324D"/>
                </a:solidFill>
                <a:latin typeface="Liberation Sans" pitchFamily="34" charset="0"/>
                <a:ea typeface="Liberation Sans" pitchFamily="34" charset="-122"/>
                <a:cs typeface="Liberation Sans" pitchFamily="34" charset="-120"/>
              </a:rPr>
              <a:t>Final output</a:t>
            </a:r>
            <a:endParaRPr lang="en-US" sz="1800" dirty="0"/>
          </a:p>
        </p:txBody>
      </p:sp>
      <p:sp>
        <p:nvSpPr>
          <p:cNvPr id="22" name="Text 20"/>
          <p:cNvSpPr/>
          <p:nvPr/>
        </p:nvSpPr>
        <p:spPr>
          <a:xfrm>
            <a:off x="3337560" y="4773168"/>
            <a:ext cx="2331720" cy="320040"/>
          </a:xfrm>
          <a:prstGeom prst="rect">
            <a:avLst/>
          </a:prstGeom>
          <a:noFill/>
          <a:ln/>
        </p:spPr>
        <p:txBody>
          <a:bodyPr wrap="square" lIns="0" tIns="0" rIns="0" bIns="0" rtlCol="0" anchor="ctr">
            <a:normAutofit/>
          </a:bodyPr>
          <a:lstStyle/>
          <a:p>
            <a:pPr algn="l" indent="0" marL="0">
              <a:buNone/>
            </a:pPr>
            <a:r>
              <a:rPr lang="en-US" sz="1600" dirty="0">
                <a:solidFill>
                  <a:srgbClr val="5E6B78"/>
                </a:solidFill>
                <a:latin typeface="Liberation Sans" pitchFamily="34" charset="0"/>
                <a:ea typeface="Liberation Sans" pitchFamily="34" charset="-122"/>
                <a:cs typeface="Liberation Sans" pitchFamily="34" charset="-120"/>
              </a:rPr>
              <a:t>durable write</a:t>
            </a:r>
            <a:endParaRPr lang="en-US" sz="1600" dirty="0"/>
          </a:p>
        </p:txBody>
      </p:sp>
      <p:sp>
        <p:nvSpPr>
          <p:cNvPr id="23" name="Text 21"/>
          <p:cNvSpPr/>
          <p:nvPr/>
        </p:nvSpPr>
        <p:spPr>
          <a:xfrm>
            <a:off x="5852160" y="4773168"/>
            <a:ext cx="5303520" cy="320040"/>
          </a:xfrm>
          <a:prstGeom prst="rect">
            <a:avLst/>
          </a:prstGeom>
          <a:noFill/>
          <a:ln/>
        </p:spPr>
        <p:txBody>
          <a:bodyPr wrap="square" lIns="0" tIns="0" rIns="0" bIns="0" rtlCol="0" anchor="ctr">
            <a:normAutofit/>
          </a:bodyPr>
          <a:lstStyle/>
          <a:p>
            <a:pPr algn="l" indent="0" marL="0">
              <a:buNone/>
            </a:pPr>
            <a:r>
              <a:rPr lang="en-US" sz="1700" b="1" dirty="0">
                <a:solidFill>
                  <a:srgbClr val="1F2937"/>
                </a:solidFill>
                <a:latin typeface="Liberation Sans" pitchFamily="34" charset="0"/>
                <a:ea typeface="Liberation Sans" pitchFamily="34" charset="-122"/>
                <a:cs typeface="Liberation Sans" pitchFamily="34" charset="-120"/>
              </a:rPr>
              <a:t>return only required results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9. GPU access from Apptainer</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The container supplies user libraries; the host supplies the device and driver</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4</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10 / 13</a:t>
            </a:r>
            <a:endParaRPr lang="en-US" sz="900" dirty="0"/>
          </a:p>
        </p:txBody>
      </p:sp>
      <p:sp>
        <p:nvSpPr>
          <p:cNvPr id="7" name="Shape 5"/>
          <p:cNvSpPr/>
          <p:nvPr/>
        </p:nvSpPr>
        <p:spPr>
          <a:xfrm>
            <a:off x="411480" y="6510528"/>
            <a:ext cx="502920" cy="27432"/>
          </a:xfrm>
          <a:prstGeom prst="rect">
            <a:avLst/>
          </a:prstGeom>
          <a:solidFill>
            <a:srgbClr val="7057A3"/>
          </a:solidFill>
          <a:ln w="12700">
            <a:solidFill>
              <a:srgbClr val="7057A3">
                <a:alpha val="0"/>
              </a:srgbClr>
            </a:solidFill>
            <a:prstDash val="solid"/>
          </a:ln>
        </p:spPr>
      </p:sp>
      <p:sp>
        <p:nvSpPr>
          <p:cNvPr id="8" name="Shape 6"/>
          <p:cNvSpPr/>
          <p:nvPr/>
        </p:nvSpPr>
        <p:spPr>
          <a:xfrm>
            <a:off x="640080" y="1325880"/>
            <a:ext cx="3154680" cy="4343400"/>
          </a:xfrm>
          <a:prstGeom prst="roundRect">
            <a:avLst>
              <a:gd name="adj" fmla="val 2319"/>
            </a:avLst>
          </a:prstGeom>
          <a:solidFill>
            <a:srgbClr val="FFFFFF"/>
          </a:solidFill>
          <a:ln w="12700">
            <a:solidFill>
              <a:srgbClr val="D7E0E7"/>
            </a:solidFill>
            <a:prstDash val="solid"/>
          </a:ln>
        </p:spPr>
      </p:sp>
      <p:sp>
        <p:nvSpPr>
          <p:cNvPr id="9" name="Shape 7"/>
          <p:cNvSpPr/>
          <p:nvPr/>
        </p:nvSpPr>
        <p:spPr>
          <a:xfrm>
            <a:off x="640080" y="1325880"/>
            <a:ext cx="64008" cy="4343400"/>
          </a:xfrm>
          <a:prstGeom prst="rect">
            <a:avLst/>
          </a:prstGeom>
          <a:solidFill>
            <a:srgbClr val="D15B47"/>
          </a:solidFill>
          <a:ln w="12700">
            <a:solidFill>
              <a:srgbClr val="D15B47">
                <a:alpha val="0"/>
              </a:srgbClr>
            </a:solidFill>
            <a:prstDash val="solid"/>
          </a:ln>
        </p:spPr>
      </p:sp>
      <p:sp>
        <p:nvSpPr>
          <p:cNvPr id="10" name="Text 8"/>
          <p:cNvSpPr/>
          <p:nvPr/>
        </p:nvSpPr>
        <p:spPr>
          <a:xfrm>
            <a:off x="841248" y="1472184"/>
            <a:ext cx="280720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SLURM</a:t>
            </a:r>
            <a:endParaRPr lang="en-US" sz="1700" dirty="0"/>
          </a:p>
        </p:txBody>
      </p:sp>
      <p:sp>
        <p:nvSpPr>
          <p:cNvPr id="11" name="Text 9"/>
          <p:cNvSpPr/>
          <p:nvPr/>
        </p:nvSpPr>
        <p:spPr>
          <a:xfrm>
            <a:off x="841248" y="1856232"/>
            <a:ext cx="2807208" cy="368503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Allocates GPU</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Selects node</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Tracks resource</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Enforces time and memory</a:t>
            </a:r>
            <a:endParaRPr lang="en-US" sz="1800" dirty="0"/>
          </a:p>
        </p:txBody>
      </p:sp>
      <p:sp>
        <p:nvSpPr>
          <p:cNvPr id="12" name="Shape 10"/>
          <p:cNvSpPr/>
          <p:nvPr/>
        </p:nvSpPr>
        <p:spPr>
          <a:xfrm>
            <a:off x="4517136" y="1325880"/>
            <a:ext cx="3154680" cy="4343400"/>
          </a:xfrm>
          <a:prstGeom prst="roundRect">
            <a:avLst>
              <a:gd name="adj" fmla="val 2319"/>
            </a:avLst>
          </a:prstGeom>
          <a:solidFill>
            <a:srgbClr val="FFFFFF"/>
          </a:solidFill>
          <a:ln w="12700">
            <a:solidFill>
              <a:srgbClr val="D7E0E7"/>
            </a:solidFill>
            <a:prstDash val="solid"/>
          </a:ln>
        </p:spPr>
      </p:sp>
      <p:sp>
        <p:nvSpPr>
          <p:cNvPr id="13" name="Shape 11"/>
          <p:cNvSpPr/>
          <p:nvPr/>
        </p:nvSpPr>
        <p:spPr>
          <a:xfrm>
            <a:off x="4517136" y="1325880"/>
            <a:ext cx="64008" cy="4343400"/>
          </a:xfrm>
          <a:prstGeom prst="rect">
            <a:avLst/>
          </a:prstGeom>
          <a:solidFill>
            <a:srgbClr val="7057A3"/>
          </a:solidFill>
          <a:ln w="12700">
            <a:solidFill>
              <a:srgbClr val="7057A3">
                <a:alpha val="0"/>
              </a:srgbClr>
            </a:solidFill>
            <a:prstDash val="solid"/>
          </a:ln>
        </p:spPr>
      </p:sp>
      <p:sp>
        <p:nvSpPr>
          <p:cNvPr id="14" name="Text 12"/>
          <p:cNvSpPr/>
          <p:nvPr/>
        </p:nvSpPr>
        <p:spPr>
          <a:xfrm>
            <a:off x="4718304" y="1472184"/>
            <a:ext cx="280720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APPTAINER --nv</a:t>
            </a:r>
            <a:endParaRPr lang="en-US" sz="1700" dirty="0"/>
          </a:p>
        </p:txBody>
      </p:sp>
      <p:sp>
        <p:nvSpPr>
          <p:cNvPr id="15" name="Text 13"/>
          <p:cNvSpPr/>
          <p:nvPr/>
        </p:nvSpPr>
        <p:spPr>
          <a:xfrm>
            <a:off x="4718304" y="1856232"/>
            <a:ext cx="2807208" cy="368503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Binds devices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Exposes host driver libraries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Runs container command</a:t>
            </a:r>
            <a:endParaRPr lang="en-US" sz="1800" dirty="0"/>
          </a:p>
        </p:txBody>
      </p:sp>
      <p:sp>
        <p:nvSpPr>
          <p:cNvPr id="16" name="Shape 14"/>
          <p:cNvSpPr/>
          <p:nvPr/>
        </p:nvSpPr>
        <p:spPr>
          <a:xfrm>
            <a:off x="8394192" y="1325880"/>
            <a:ext cx="3154680" cy="4343400"/>
          </a:xfrm>
          <a:prstGeom prst="roundRect">
            <a:avLst>
              <a:gd name="adj" fmla="val 2319"/>
            </a:avLst>
          </a:prstGeom>
          <a:solidFill>
            <a:srgbClr val="FFFFFF"/>
          </a:solidFill>
          <a:ln w="12700">
            <a:solidFill>
              <a:srgbClr val="D7E0E7"/>
            </a:solidFill>
            <a:prstDash val="solid"/>
          </a:ln>
        </p:spPr>
      </p:sp>
      <p:sp>
        <p:nvSpPr>
          <p:cNvPr id="17" name="Shape 15"/>
          <p:cNvSpPr/>
          <p:nvPr/>
        </p:nvSpPr>
        <p:spPr>
          <a:xfrm>
            <a:off x="8394192" y="1325880"/>
            <a:ext cx="64008" cy="4343400"/>
          </a:xfrm>
          <a:prstGeom prst="rect">
            <a:avLst/>
          </a:prstGeom>
          <a:solidFill>
            <a:srgbClr val="3A8D63"/>
          </a:solidFill>
          <a:ln w="12700">
            <a:solidFill>
              <a:srgbClr val="3A8D63">
                <a:alpha val="0"/>
              </a:srgbClr>
            </a:solidFill>
            <a:prstDash val="solid"/>
          </a:ln>
        </p:spPr>
      </p:sp>
      <p:sp>
        <p:nvSpPr>
          <p:cNvPr id="18" name="Text 16"/>
          <p:cNvSpPr/>
          <p:nvPr/>
        </p:nvSpPr>
        <p:spPr>
          <a:xfrm>
            <a:off x="8595360" y="1472184"/>
            <a:ext cx="280720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IMAGE</a:t>
            </a:r>
            <a:endParaRPr lang="en-US" sz="1700" dirty="0"/>
          </a:p>
        </p:txBody>
      </p:sp>
      <p:sp>
        <p:nvSpPr>
          <p:cNvPr id="19" name="Text 17"/>
          <p:cNvSpPr/>
          <p:nvPr/>
        </p:nvSpPr>
        <p:spPr>
          <a:xfrm>
            <a:off x="8595360" y="1856232"/>
            <a:ext cx="2807208" cy="368503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GPU-enabled framework</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Application code</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Pinned libraries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Validated model or method</a:t>
            </a:r>
            <a:endParaRPr lang="en-US" sz="1800" dirty="0"/>
          </a:p>
        </p:txBody>
      </p:sp>
      <p:sp>
        <p:nvSpPr>
          <p:cNvPr id="20" name="Shape 18"/>
          <p:cNvSpPr/>
          <p:nvPr/>
        </p:nvSpPr>
        <p:spPr>
          <a:xfrm>
            <a:off x="3794760" y="3493008"/>
            <a:ext cx="722376" cy="0"/>
          </a:xfrm>
          <a:prstGeom prst="line">
            <a:avLst/>
          </a:prstGeom>
          <a:noFill/>
          <a:ln w="38100">
            <a:solidFill>
              <a:srgbClr val="5E6B78"/>
            </a:solidFill>
            <a:prstDash val="solid"/>
            <a:headEnd type="none"/>
            <a:tailEnd type="triangle"/>
          </a:ln>
        </p:spPr>
      </p:sp>
      <p:sp>
        <p:nvSpPr>
          <p:cNvPr id="21" name="Shape 19"/>
          <p:cNvSpPr/>
          <p:nvPr/>
        </p:nvSpPr>
        <p:spPr>
          <a:xfrm>
            <a:off x="7671816" y="3493008"/>
            <a:ext cx="722376" cy="0"/>
          </a:xfrm>
          <a:prstGeom prst="line">
            <a:avLst/>
          </a:prstGeom>
          <a:noFill/>
          <a:ln w="38100">
            <a:solidFill>
              <a:srgbClr val="5E6B78"/>
            </a:solidFill>
            <a:prstDash val="solid"/>
            <a:headEnd type="none"/>
            <a:tailEnd type="triangle"/>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10. Snakemake associates images with rules</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Software, resources, inputs, and outputs become one executable specification</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4</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11 / 13</a:t>
            </a:r>
            <a:endParaRPr lang="en-US" sz="900" dirty="0"/>
          </a:p>
        </p:txBody>
      </p:sp>
      <p:sp>
        <p:nvSpPr>
          <p:cNvPr id="7" name="Shape 5"/>
          <p:cNvSpPr/>
          <p:nvPr/>
        </p:nvSpPr>
        <p:spPr>
          <a:xfrm>
            <a:off x="411480" y="6510528"/>
            <a:ext cx="502920" cy="27432"/>
          </a:xfrm>
          <a:prstGeom prst="rect">
            <a:avLst/>
          </a:prstGeom>
          <a:solidFill>
            <a:srgbClr val="7057A3"/>
          </a:solidFill>
          <a:ln w="12700">
            <a:solidFill>
              <a:srgbClr val="7057A3">
                <a:alpha val="0"/>
              </a:srgbClr>
            </a:solidFill>
            <a:prstDash val="solid"/>
          </a:ln>
        </p:spPr>
      </p:sp>
      <p:sp>
        <p:nvSpPr>
          <p:cNvPr id="8" name="Shape 6"/>
          <p:cNvSpPr/>
          <p:nvPr/>
        </p:nvSpPr>
        <p:spPr>
          <a:xfrm>
            <a:off x="621792" y="1234440"/>
            <a:ext cx="6400800" cy="4526280"/>
          </a:xfrm>
          <a:prstGeom prst="roundRect">
            <a:avLst/>
          </a:prstGeom>
          <a:solidFill>
            <a:srgbClr val="101820"/>
          </a:solidFill>
          <a:ln w="12700">
            <a:solidFill>
              <a:srgbClr val="D7E0E7"/>
            </a:solidFill>
            <a:prstDash val="solid"/>
          </a:ln>
        </p:spPr>
      </p:sp>
      <p:sp>
        <p:nvSpPr>
          <p:cNvPr id="9" name="Text 7"/>
          <p:cNvSpPr/>
          <p:nvPr/>
        </p:nvSpPr>
        <p:spPr>
          <a:xfrm>
            <a:off x="932688" y="1517904"/>
            <a:ext cx="5806440" cy="4005072"/>
          </a:xfrm>
          <a:prstGeom prst="rect">
            <a:avLst/>
          </a:prstGeom>
          <a:noFill/>
          <a:ln/>
        </p:spPr>
        <p:txBody>
          <a:bodyPr wrap="square" lIns="0" tIns="0" rIns="0" bIns="0" rtlCol="0" anchor="t">
            <a:normAutofit/>
          </a:bodyPr>
          <a:lstStyle/>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rule align:</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    input:</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        "data/{sample}.fastq.gz"</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    output:</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        "results/{sample}.bam"</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    threads: 8</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    resources:</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        mem_mb=16000,</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        tmpdir="/local/scratch"</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    container:</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        "docker://org/tool@sha256:…"</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    shell:</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        "tool -t {threads} {input} &gt; {output}"</a:t>
            </a:r>
            <a:endParaRPr lang="en-US" sz="1500" dirty="0"/>
          </a:p>
        </p:txBody>
      </p:sp>
      <p:sp>
        <p:nvSpPr>
          <p:cNvPr id="10" name="Shape 8"/>
          <p:cNvSpPr/>
          <p:nvPr/>
        </p:nvSpPr>
        <p:spPr>
          <a:xfrm>
            <a:off x="7388352" y="1234440"/>
            <a:ext cx="4133088" cy="1234440"/>
          </a:xfrm>
          <a:prstGeom prst="roundRect">
            <a:avLst>
              <a:gd name="adj" fmla="val 5926"/>
            </a:avLst>
          </a:prstGeom>
          <a:solidFill>
            <a:srgbClr val="FFFFFF"/>
          </a:solidFill>
          <a:ln w="12700">
            <a:solidFill>
              <a:srgbClr val="D7E0E7"/>
            </a:solidFill>
            <a:prstDash val="solid"/>
          </a:ln>
        </p:spPr>
      </p:sp>
      <p:sp>
        <p:nvSpPr>
          <p:cNvPr id="11" name="Shape 9"/>
          <p:cNvSpPr/>
          <p:nvPr/>
        </p:nvSpPr>
        <p:spPr>
          <a:xfrm>
            <a:off x="7388352" y="1234440"/>
            <a:ext cx="64008" cy="1234440"/>
          </a:xfrm>
          <a:prstGeom prst="rect">
            <a:avLst/>
          </a:prstGeom>
          <a:solidFill>
            <a:srgbClr val="2C6EAF"/>
          </a:solidFill>
          <a:ln w="12700">
            <a:solidFill>
              <a:srgbClr val="2C6EAF">
                <a:alpha val="0"/>
              </a:srgbClr>
            </a:solidFill>
            <a:prstDash val="solid"/>
          </a:ln>
        </p:spPr>
      </p:sp>
      <p:sp>
        <p:nvSpPr>
          <p:cNvPr id="12" name="Text 10"/>
          <p:cNvSpPr/>
          <p:nvPr/>
        </p:nvSpPr>
        <p:spPr>
          <a:xfrm>
            <a:off x="7589520" y="1380744"/>
            <a:ext cx="3785616"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Rule</a:t>
            </a:r>
            <a:endParaRPr lang="en-US" sz="1700" dirty="0"/>
          </a:p>
        </p:txBody>
      </p:sp>
      <p:sp>
        <p:nvSpPr>
          <p:cNvPr id="13" name="Text 11"/>
          <p:cNvSpPr/>
          <p:nvPr/>
        </p:nvSpPr>
        <p:spPr>
          <a:xfrm>
            <a:off x="7589520" y="1764792"/>
            <a:ext cx="3785616" cy="57607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scientific dependency</a:t>
            </a:r>
            <a:endParaRPr lang="en-US" sz="1600" dirty="0"/>
          </a:p>
        </p:txBody>
      </p:sp>
      <p:sp>
        <p:nvSpPr>
          <p:cNvPr id="14" name="Shape 12"/>
          <p:cNvSpPr/>
          <p:nvPr/>
        </p:nvSpPr>
        <p:spPr>
          <a:xfrm>
            <a:off x="7388352" y="2697480"/>
            <a:ext cx="4133088" cy="1234440"/>
          </a:xfrm>
          <a:prstGeom prst="roundRect">
            <a:avLst>
              <a:gd name="adj" fmla="val 5926"/>
            </a:avLst>
          </a:prstGeom>
          <a:solidFill>
            <a:srgbClr val="FFFFFF"/>
          </a:solidFill>
          <a:ln w="12700">
            <a:solidFill>
              <a:srgbClr val="D7E0E7"/>
            </a:solidFill>
            <a:prstDash val="solid"/>
          </a:ln>
        </p:spPr>
      </p:sp>
      <p:sp>
        <p:nvSpPr>
          <p:cNvPr id="15" name="Shape 13"/>
          <p:cNvSpPr/>
          <p:nvPr/>
        </p:nvSpPr>
        <p:spPr>
          <a:xfrm>
            <a:off x="7388352" y="2697480"/>
            <a:ext cx="64008" cy="1234440"/>
          </a:xfrm>
          <a:prstGeom prst="rect">
            <a:avLst/>
          </a:prstGeom>
          <a:solidFill>
            <a:srgbClr val="D15B47"/>
          </a:solidFill>
          <a:ln w="12700">
            <a:solidFill>
              <a:srgbClr val="D15B47">
                <a:alpha val="0"/>
              </a:srgbClr>
            </a:solidFill>
            <a:prstDash val="solid"/>
          </a:ln>
        </p:spPr>
      </p:sp>
      <p:sp>
        <p:nvSpPr>
          <p:cNvPr id="16" name="Text 14"/>
          <p:cNvSpPr/>
          <p:nvPr/>
        </p:nvSpPr>
        <p:spPr>
          <a:xfrm>
            <a:off x="7589520" y="2843784"/>
            <a:ext cx="3785616"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Resources</a:t>
            </a:r>
            <a:endParaRPr lang="en-US" sz="1700" dirty="0"/>
          </a:p>
        </p:txBody>
      </p:sp>
      <p:sp>
        <p:nvSpPr>
          <p:cNvPr id="17" name="Text 15"/>
          <p:cNvSpPr/>
          <p:nvPr/>
        </p:nvSpPr>
        <p:spPr>
          <a:xfrm>
            <a:off x="7589520" y="3227832"/>
            <a:ext cx="3785616" cy="57607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Slurm allocation + scratch</a:t>
            </a:r>
            <a:endParaRPr lang="en-US" sz="1600" dirty="0"/>
          </a:p>
        </p:txBody>
      </p:sp>
      <p:sp>
        <p:nvSpPr>
          <p:cNvPr id="18" name="Shape 16"/>
          <p:cNvSpPr/>
          <p:nvPr/>
        </p:nvSpPr>
        <p:spPr>
          <a:xfrm>
            <a:off x="7388352" y="4160520"/>
            <a:ext cx="4133088" cy="1234440"/>
          </a:xfrm>
          <a:prstGeom prst="roundRect">
            <a:avLst>
              <a:gd name="adj" fmla="val 5926"/>
            </a:avLst>
          </a:prstGeom>
          <a:solidFill>
            <a:srgbClr val="FFFFFF"/>
          </a:solidFill>
          <a:ln w="12700">
            <a:solidFill>
              <a:srgbClr val="D7E0E7"/>
            </a:solidFill>
            <a:prstDash val="solid"/>
          </a:ln>
        </p:spPr>
      </p:sp>
      <p:sp>
        <p:nvSpPr>
          <p:cNvPr id="19" name="Shape 17"/>
          <p:cNvSpPr/>
          <p:nvPr/>
        </p:nvSpPr>
        <p:spPr>
          <a:xfrm>
            <a:off x="7388352" y="4160520"/>
            <a:ext cx="64008" cy="1234440"/>
          </a:xfrm>
          <a:prstGeom prst="rect">
            <a:avLst/>
          </a:prstGeom>
          <a:solidFill>
            <a:srgbClr val="7057A3"/>
          </a:solidFill>
          <a:ln w="12700">
            <a:solidFill>
              <a:srgbClr val="7057A3">
                <a:alpha val="0"/>
              </a:srgbClr>
            </a:solidFill>
            <a:prstDash val="solid"/>
          </a:ln>
        </p:spPr>
      </p:sp>
      <p:sp>
        <p:nvSpPr>
          <p:cNvPr id="20" name="Text 18"/>
          <p:cNvSpPr/>
          <p:nvPr/>
        </p:nvSpPr>
        <p:spPr>
          <a:xfrm>
            <a:off x="7589520" y="4306824"/>
            <a:ext cx="3785616"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Container</a:t>
            </a:r>
            <a:endParaRPr lang="en-US" sz="1700" dirty="0"/>
          </a:p>
        </p:txBody>
      </p:sp>
      <p:sp>
        <p:nvSpPr>
          <p:cNvPr id="21" name="Text 19"/>
          <p:cNvSpPr/>
          <p:nvPr/>
        </p:nvSpPr>
        <p:spPr>
          <a:xfrm>
            <a:off x="7589520" y="4690872"/>
            <a:ext cx="3785616" cy="57607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pinned software artifact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11. Build once, test, publish, and reuse</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Production images should come from reviewed definitions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4</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12 / 13</a:t>
            </a:r>
            <a:endParaRPr lang="en-US" sz="900" dirty="0"/>
          </a:p>
        </p:txBody>
      </p:sp>
      <p:sp>
        <p:nvSpPr>
          <p:cNvPr id="7" name="Shape 5"/>
          <p:cNvSpPr/>
          <p:nvPr/>
        </p:nvSpPr>
        <p:spPr>
          <a:xfrm>
            <a:off x="411480" y="6510528"/>
            <a:ext cx="502920" cy="27432"/>
          </a:xfrm>
          <a:prstGeom prst="rect">
            <a:avLst/>
          </a:prstGeom>
          <a:solidFill>
            <a:srgbClr val="7057A3"/>
          </a:solidFill>
          <a:ln w="12700">
            <a:solidFill>
              <a:srgbClr val="7057A3">
                <a:alpha val="0"/>
              </a:srgbClr>
            </a:solidFill>
            <a:prstDash val="solid"/>
          </a:ln>
        </p:spPr>
      </p:sp>
      <p:sp>
        <p:nvSpPr>
          <p:cNvPr id="8" name="Shape 6"/>
          <p:cNvSpPr/>
          <p:nvPr/>
        </p:nvSpPr>
        <p:spPr>
          <a:xfrm>
            <a:off x="475488" y="1417320"/>
            <a:ext cx="2057400" cy="3154680"/>
          </a:xfrm>
          <a:prstGeom prst="roundRect">
            <a:avLst>
              <a:gd name="adj" fmla="val 3556"/>
            </a:avLst>
          </a:prstGeom>
          <a:solidFill>
            <a:srgbClr val="FFFFFF"/>
          </a:solidFill>
          <a:ln w="12700">
            <a:solidFill>
              <a:srgbClr val="D7E0E7"/>
            </a:solidFill>
            <a:prstDash val="solid"/>
          </a:ln>
        </p:spPr>
      </p:sp>
      <p:sp>
        <p:nvSpPr>
          <p:cNvPr id="9" name="Shape 7"/>
          <p:cNvSpPr/>
          <p:nvPr/>
        </p:nvSpPr>
        <p:spPr>
          <a:xfrm>
            <a:off x="475488" y="1417320"/>
            <a:ext cx="64008" cy="3154680"/>
          </a:xfrm>
          <a:prstGeom prst="rect">
            <a:avLst/>
          </a:prstGeom>
          <a:solidFill>
            <a:srgbClr val="7057A3"/>
          </a:solidFill>
          <a:ln w="12700">
            <a:solidFill>
              <a:srgbClr val="7057A3">
                <a:alpha val="0"/>
              </a:srgbClr>
            </a:solidFill>
            <a:prstDash val="solid"/>
          </a:ln>
        </p:spPr>
      </p:sp>
      <p:sp>
        <p:nvSpPr>
          <p:cNvPr id="10" name="Text 8"/>
          <p:cNvSpPr/>
          <p:nvPr/>
        </p:nvSpPr>
        <p:spPr>
          <a:xfrm>
            <a:off x="676656" y="156362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Definition</a:t>
            </a:r>
            <a:endParaRPr lang="en-US" sz="1700" dirty="0"/>
          </a:p>
        </p:txBody>
      </p:sp>
      <p:sp>
        <p:nvSpPr>
          <p:cNvPr id="11" name="Text 9"/>
          <p:cNvSpPr/>
          <p:nvPr/>
        </p:nvSpPr>
        <p:spPr>
          <a:xfrm>
            <a:off x="676656" y="1947672"/>
            <a:ext cx="1709928" cy="249631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version-controlled recipe</a:t>
            </a:r>
            <a:endParaRPr lang="en-US" sz="1500" dirty="0"/>
          </a:p>
        </p:txBody>
      </p:sp>
      <p:sp>
        <p:nvSpPr>
          <p:cNvPr id="12" name="Shape 10"/>
          <p:cNvSpPr/>
          <p:nvPr/>
        </p:nvSpPr>
        <p:spPr>
          <a:xfrm>
            <a:off x="2532888" y="2999232"/>
            <a:ext cx="265176" cy="0"/>
          </a:xfrm>
          <a:prstGeom prst="line">
            <a:avLst/>
          </a:prstGeom>
          <a:noFill/>
          <a:ln w="25400">
            <a:solidFill>
              <a:srgbClr val="5E6B78"/>
            </a:solidFill>
            <a:prstDash val="solid"/>
            <a:headEnd type="none"/>
            <a:tailEnd type="triangle"/>
          </a:ln>
        </p:spPr>
      </p:sp>
      <p:sp>
        <p:nvSpPr>
          <p:cNvPr id="13" name="Shape 11"/>
          <p:cNvSpPr/>
          <p:nvPr/>
        </p:nvSpPr>
        <p:spPr>
          <a:xfrm>
            <a:off x="2807208" y="1417320"/>
            <a:ext cx="2057400" cy="3154680"/>
          </a:xfrm>
          <a:prstGeom prst="roundRect">
            <a:avLst>
              <a:gd name="adj" fmla="val 3556"/>
            </a:avLst>
          </a:prstGeom>
          <a:solidFill>
            <a:srgbClr val="FFFFFF"/>
          </a:solidFill>
          <a:ln w="12700">
            <a:solidFill>
              <a:srgbClr val="D7E0E7"/>
            </a:solidFill>
            <a:prstDash val="solid"/>
          </a:ln>
        </p:spPr>
      </p:sp>
      <p:sp>
        <p:nvSpPr>
          <p:cNvPr id="14" name="Shape 12"/>
          <p:cNvSpPr/>
          <p:nvPr/>
        </p:nvSpPr>
        <p:spPr>
          <a:xfrm>
            <a:off x="2807208" y="1417320"/>
            <a:ext cx="64008" cy="3154680"/>
          </a:xfrm>
          <a:prstGeom prst="rect">
            <a:avLst/>
          </a:prstGeom>
          <a:solidFill>
            <a:srgbClr val="7057A3"/>
          </a:solidFill>
          <a:ln w="12700">
            <a:solidFill>
              <a:srgbClr val="7057A3">
                <a:alpha val="0"/>
              </a:srgbClr>
            </a:solidFill>
            <a:prstDash val="solid"/>
          </a:ln>
        </p:spPr>
      </p:sp>
      <p:sp>
        <p:nvSpPr>
          <p:cNvPr id="15" name="Text 13"/>
          <p:cNvSpPr/>
          <p:nvPr/>
        </p:nvSpPr>
        <p:spPr>
          <a:xfrm>
            <a:off x="3008376" y="156362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Build</a:t>
            </a:r>
            <a:endParaRPr lang="en-US" sz="1700" dirty="0"/>
          </a:p>
        </p:txBody>
      </p:sp>
      <p:sp>
        <p:nvSpPr>
          <p:cNvPr id="16" name="Text 14"/>
          <p:cNvSpPr/>
          <p:nvPr/>
        </p:nvSpPr>
        <p:spPr>
          <a:xfrm>
            <a:off x="3008376" y="1947672"/>
            <a:ext cx="1709928" cy="249631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approved builder</a:t>
            </a:r>
            <a:endParaRPr lang="en-US" sz="1500" dirty="0"/>
          </a:p>
        </p:txBody>
      </p:sp>
      <p:sp>
        <p:nvSpPr>
          <p:cNvPr id="17" name="Shape 15"/>
          <p:cNvSpPr/>
          <p:nvPr/>
        </p:nvSpPr>
        <p:spPr>
          <a:xfrm>
            <a:off x="4864608" y="2999232"/>
            <a:ext cx="265176" cy="0"/>
          </a:xfrm>
          <a:prstGeom prst="line">
            <a:avLst/>
          </a:prstGeom>
          <a:noFill/>
          <a:ln w="25400">
            <a:solidFill>
              <a:srgbClr val="5E6B78"/>
            </a:solidFill>
            <a:prstDash val="solid"/>
            <a:headEnd type="none"/>
            <a:tailEnd type="triangle"/>
          </a:ln>
        </p:spPr>
      </p:sp>
      <p:sp>
        <p:nvSpPr>
          <p:cNvPr id="18" name="Shape 16"/>
          <p:cNvSpPr/>
          <p:nvPr/>
        </p:nvSpPr>
        <p:spPr>
          <a:xfrm>
            <a:off x="5138928" y="1417320"/>
            <a:ext cx="2057400" cy="3154680"/>
          </a:xfrm>
          <a:prstGeom prst="roundRect">
            <a:avLst>
              <a:gd name="adj" fmla="val 3556"/>
            </a:avLst>
          </a:prstGeom>
          <a:solidFill>
            <a:srgbClr val="FFFFFF"/>
          </a:solidFill>
          <a:ln w="12700">
            <a:solidFill>
              <a:srgbClr val="D7E0E7"/>
            </a:solidFill>
            <a:prstDash val="solid"/>
          </a:ln>
        </p:spPr>
      </p:sp>
      <p:sp>
        <p:nvSpPr>
          <p:cNvPr id="19" name="Shape 17"/>
          <p:cNvSpPr/>
          <p:nvPr/>
        </p:nvSpPr>
        <p:spPr>
          <a:xfrm>
            <a:off x="5138928" y="1417320"/>
            <a:ext cx="64008" cy="3154680"/>
          </a:xfrm>
          <a:prstGeom prst="rect">
            <a:avLst/>
          </a:prstGeom>
          <a:solidFill>
            <a:srgbClr val="D15B47"/>
          </a:solidFill>
          <a:ln w="12700">
            <a:solidFill>
              <a:srgbClr val="D15B47">
                <a:alpha val="0"/>
              </a:srgbClr>
            </a:solidFill>
            <a:prstDash val="solid"/>
          </a:ln>
        </p:spPr>
      </p:sp>
      <p:sp>
        <p:nvSpPr>
          <p:cNvPr id="20" name="Text 18"/>
          <p:cNvSpPr/>
          <p:nvPr/>
        </p:nvSpPr>
        <p:spPr>
          <a:xfrm>
            <a:off x="5340096" y="156362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Test</a:t>
            </a:r>
            <a:endParaRPr lang="en-US" sz="1700" dirty="0"/>
          </a:p>
        </p:txBody>
      </p:sp>
      <p:sp>
        <p:nvSpPr>
          <p:cNvPr id="21" name="Text 19"/>
          <p:cNvSpPr/>
          <p:nvPr/>
        </p:nvSpPr>
        <p:spPr>
          <a:xfrm>
            <a:off x="5340096" y="1947672"/>
            <a:ext cx="1709928" cy="249631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software + scientific</a:t>
            </a:r>
            <a:endParaRPr lang="en-US" sz="1500" dirty="0"/>
          </a:p>
        </p:txBody>
      </p:sp>
      <p:sp>
        <p:nvSpPr>
          <p:cNvPr id="22" name="Shape 20"/>
          <p:cNvSpPr/>
          <p:nvPr/>
        </p:nvSpPr>
        <p:spPr>
          <a:xfrm>
            <a:off x="7196328" y="2999232"/>
            <a:ext cx="265176" cy="0"/>
          </a:xfrm>
          <a:prstGeom prst="line">
            <a:avLst/>
          </a:prstGeom>
          <a:noFill/>
          <a:ln w="25400">
            <a:solidFill>
              <a:srgbClr val="5E6B78"/>
            </a:solidFill>
            <a:prstDash val="solid"/>
            <a:headEnd type="none"/>
            <a:tailEnd type="triangle"/>
          </a:ln>
        </p:spPr>
      </p:sp>
      <p:sp>
        <p:nvSpPr>
          <p:cNvPr id="23" name="Shape 21"/>
          <p:cNvSpPr/>
          <p:nvPr/>
        </p:nvSpPr>
        <p:spPr>
          <a:xfrm>
            <a:off x="7470648" y="1417320"/>
            <a:ext cx="2057400" cy="3154680"/>
          </a:xfrm>
          <a:prstGeom prst="roundRect">
            <a:avLst>
              <a:gd name="adj" fmla="val 3556"/>
            </a:avLst>
          </a:prstGeom>
          <a:solidFill>
            <a:srgbClr val="FFFFFF"/>
          </a:solidFill>
          <a:ln w="12700">
            <a:solidFill>
              <a:srgbClr val="D7E0E7"/>
            </a:solidFill>
            <a:prstDash val="solid"/>
          </a:ln>
        </p:spPr>
      </p:sp>
      <p:sp>
        <p:nvSpPr>
          <p:cNvPr id="24" name="Shape 22"/>
          <p:cNvSpPr/>
          <p:nvPr/>
        </p:nvSpPr>
        <p:spPr>
          <a:xfrm>
            <a:off x="7470648" y="1417320"/>
            <a:ext cx="64008" cy="3154680"/>
          </a:xfrm>
          <a:prstGeom prst="rect">
            <a:avLst/>
          </a:prstGeom>
          <a:solidFill>
            <a:srgbClr val="7057A3"/>
          </a:solidFill>
          <a:ln w="12700">
            <a:solidFill>
              <a:srgbClr val="7057A3">
                <a:alpha val="0"/>
              </a:srgbClr>
            </a:solidFill>
            <a:prstDash val="solid"/>
          </a:ln>
        </p:spPr>
      </p:sp>
      <p:sp>
        <p:nvSpPr>
          <p:cNvPr id="25" name="Text 23"/>
          <p:cNvSpPr/>
          <p:nvPr/>
        </p:nvSpPr>
        <p:spPr>
          <a:xfrm>
            <a:off x="7671816" y="156362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Publish</a:t>
            </a:r>
            <a:endParaRPr lang="en-US" sz="1700" dirty="0"/>
          </a:p>
        </p:txBody>
      </p:sp>
      <p:sp>
        <p:nvSpPr>
          <p:cNvPr id="26" name="Text 24"/>
          <p:cNvSpPr/>
          <p:nvPr/>
        </p:nvSpPr>
        <p:spPr>
          <a:xfrm>
            <a:off x="7671816" y="1947672"/>
            <a:ext cx="1709928" cy="249631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registry or image store</a:t>
            </a:r>
            <a:endParaRPr lang="en-US" sz="1500" dirty="0"/>
          </a:p>
        </p:txBody>
      </p:sp>
      <p:sp>
        <p:nvSpPr>
          <p:cNvPr id="27" name="Shape 25"/>
          <p:cNvSpPr/>
          <p:nvPr/>
        </p:nvSpPr>
        <p:spPr>
          <a:xfrm>
            <a:off x="9528048" y="2999232"/>
            <a:ext cx="265176" cy="0"/>
          </a:xfrm>
          <a:prstGeom prst="line">
            <a:avLst/>
          </a:prstGeom>
          <a:noFill/>
          <a:ln w="25400">
            <a:solidFill>
              <a:srgbClr val="5E6B78"/>
            </a:solidFill>
            <a:prstDash val="solid"/>
            <a:headEnd type="none"/>
            <a:tailEnd type="triangle"/>
          </a:ln>
        </p:spPr>
      </p:sp>
      <p:sp>
        <p:nvSpPr>
          <p:cNvPr id="28" name="Shape 26"/>
          <p:cNvSpPr/>
          <p:nvPr/>
        </p:nvSpPr>
        <p:spPr>
          <a:xfrm>
            <a:off x="9802368" y="1417320"/>
            <a:ext cx="2057400" cy="3154680"/>
          </a:xfrm>
          <a:prstGeom prst="roundRect">
            <a:avLst>
              <a:gd name="adj" fmla="val 3556"/>
            </a:avLst>
          </a:prstGeom>
          <a:solidFill>
            <a:srgbClr val="FFFFFF"/>
          </a:solidFill>
          <a:ln w="12700">
            <a:solidFill>
              <a:srgbClr val="D7E0E7"/>
            </a:solidFill>
            <a:prstDash val="solid"/>
          </a:ln>
        </p:spPr>
      </p:sp>
      <p:sp>
        <p:nvSpPr>
          <p:cNvPr id="29" name="Shape 27"/>
          <p:cNvSpPr/>
          <p:nvPr/>
        </p:nvSpPr>
        <p:spPr>
          <a:xfrm>
            <a:off x="9802368" y="1417320"/>
            <a:ext cx="64008" cy="3154680"/>
          </a:xfrm>
          <a:prstGeom prst="rect">
            <a:avLst/>
          </a:prstGeom>
          <a:solidFill>
            <a:srgbClr val="3A8D63"/>
          </a:solidFill>
          <a:ln w="12700">
            <a:solidFill>
              <a:srgbClr val="3A8D63">
                <a:alpha val="0"/>
              </a:srgbClr>
            </a:solidFill>
            <a:prstDash val="solid"/>
          </a:ln>
        </p:spPr>
      </p:sp>
      <p:sp>
        <p:nvSpPr>
          <p:cNvPr id="30" name="Text 28"/>
          <p:cNvSpPr/>
          <p:nvPr/>
        </p:nvSpPr>
        <p:spPr>
          <a:xfrm>
            <a:off x="10003536" y="156362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Run</a:t>
            </a:r>
            <a:endParaRPr lang="en-US" sz="1700" dirty="0"/>
          </a:p>
        </p:txBody>
      </p:sp>
      <p:sp>
        <p:nvSpPr>
          <p:cNvPr id="31" name="Text 29"/>
          <p:cNvSpPr/>
          <p:nvPr/>
        </p:nvSpPr>
        <p:spPr>
          <a:xfrm>
            <a:off x="10003536" y="1947672"/>
            <a:ext cx="1709928" cy="249631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pinned digest in workflow</a:t>
            </a:r>
            <a:endParaRPr lang="en-US" sz="1500" dirty="0"/>
          </a:p>
        </p:txBody>
      </p:sp>
      <p:sp>
        <p:nvSpPr>
          <p:cNvPr id="32" name="Shape 30"/>
          <p:cNvSpPr/>
          <p:nvPr/>
        </p:nvSpPr>
        <p:spPr>
          <a:xfrm>
            <a:off x="1143000" y="4983480"/>
            <a:ext cx="9921240" cy="658368"/>
          </a:xfrm>
          <a:prstGeom prst="roundRect">
            <a:avLst/>
          </a:prstGeom>
          <a:solidFill>
            <a:srgbClr val="7057A3">
              <a:alpha val="8000"/>
            </a:srgbClr>
          </a:solidFill>
          <a:ln w="12700">
            <a:solidFill>
              <a:srgbClr val="7057A3">
                <a:alpha val="0"/>
              </a:srgbClr>
            </a:solidFill>
            <a:prstDash val="solid"/>
          </a:ln>
        </p:spPr>
      </p:sp>
      <p:sp>
        <p:nvSpPr>
          <p:cNvPr id="33" name="Text 31"/>
          <p:cNvSpPr/>
          <p:nvPr/>
        </p:nvSpPr>
        <p:spPr>
          <a:xfrm>
            <a:off x="1463040" y="5148072"/>
            <a:ext cx="9281160" cy="310896"/>
          </a:xfrm>
          <a:prstGeom prst="rect">
            <a:avLst/>
          </a:prstGeom>
          <a:noFill/>
          <a:ln/>
        </p:spPr>
        <p:txBody>
          <a:bodyPr wrap="square" lIns="0" tIns="0" rIns="0" bIns="0" rtlCol="0" anchor="ctr">
            <a:normAutofit/>
          </a:bodyPr>
          <a:lstStyle/>
          <a:p>
            <a:pPr algn="ctr" indent="0" marL="0">
              <a:buNone/>
            </a:pPr>
            <a:r>
              <a:rPr lang="en-US" sz="1800" b="1" dirty="0">
                <a:solidFill>
                  <a:srgbClr val="7057A3"/>
                </a:solidFill>
                <a:latin typeface="Liberation Sans" pitchFamily="34" charset="0"/>
                <a:ea typeface="Liberation Sans" pitchFamily="34" charset="-122"/>
                <a:cs typeface="Liberation Sans" pitchFamily="34" charset="-120"/>
              </a:rPr>
              <a:t>Rebuild from the recipe; do not “repair” production images interactively.</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12. Part Four operating rules</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Reproducible software without a network-small-file storm</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4</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13 / 13</a:t>
            </a:r>
            <a:endParaRPr lang="en-US" sz="900" dirty="0"/>
          </a:p>
        </p:txBody>
      </p:sp>
      <p:sp>
        <p:nvSpPr>
          <p:cNvPr id="7" name="Shape 5"/>
          <p:cNvSpPr/>
          <p:nvPr/>
        </p:nvSpPr>
        <p:spPr>
          <a:xfrm>
            <a:off x="411480" y="6510528"/>
            <a:ext cx="502920" cy="27432"/>
          </a:xfrm>
          <a:prstGeom prst="rect">
            <a:avLst/>
          </a:prstGeom>
          <a:solidFill>
            <a:srgbClr val="7057A3"/>
          </a:solidFill>
          <a:ln w="12700">
            <a:solidFill>
              <a:srgbClr val="7057A3">
                <a:alpha val="0"/>
              </a:srgbClr>
            </a:solidFill>
            <a:prstDash val="solid"/>
          </a:ln>
        </p:spPr>
      </p:sp>
      <p:sp>
        <p:nvSpPr>
          <p:cNvPr id="8" name="Shape 6"/>
          <p:cNvSpPr/>
          <p:nvPr/>
        </p:nvSpPr>
        <p:spPr>
          <a:xfrm>
            <a:off x="502920" y="1234440"/>
            <a:ext cx="384048" cy="384048"/>
          </a:xfrm>
          <a:prstGeom prst="ellipse">
            <a:avLst/>
          </a:prstGeom>
          <a:solidFill>
            <a:srgbClr val="3A8D63"/>
          </a:solidFill>
          <a:ln w="12700">
            <a:solidFill>
              <a:srgbClr val="3A8D63">
                <a:alpha val="0"/>
              </a:srgbClr>
            </a:solidFill>
            <a:prstDash val="solid"/>
          </a:ln>
        </p:spPr>
      </p:sp>
      <p:sp>
        <p:nvSpPr>
          <p:cNvPr id="9" name="Text 7"/>
          <p:cNvSpPr/>
          <p:nvPr/>
        </p:nvSpPr>
        <p:spPr>
          <a:xfrm>
            <a:off x="502920" y="126187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10" name="Text 8"/>
          <p:cNvSpPr/>
          <p:nvPr/>
        </p:nvSpPr>
        <p:spPr>
          <a:xfrm>
            <a:off x="1033272" y="119786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Prefer immutable SIF images</a:t>
            </a:r>
            <a:endParaRPr lang="en-US" sz="1620" dirty="0"/>
          </a:p>
        </p:txBody>
      </p:sp>
      <p:sp>
        <p:nvSpPr>
          <p:cNvPr id="11" name="Shape 9"/>
          <p:cNvSpPr/>
          <p:nvPr/>
        </p:nvSpPr>
        <p:spPr>
          <a:xfrm>
            <a:off x="4389120" y="1234440"/>
            <a:ext cx="384048" cy="384048"/>
          </a:xfrm>
          <a:prstGeom prst="ellipse">
            <a:avLst/>
          </a:prstGeom>
          <a:solidFill>
            <a:srgbClr val="3A8D63"/>
          </a:solidFill>
          <a:ln w="12700">
            <a:solidFill>
              <a:srgbClr val="3A8D63">
                <a:alpha val="0"/>
              </a:srgbClr>
            </a:solidFill>
            <a:prstDash val="solid"/>
          </a:ln>
        </p:spPr>
      </p:sp>
      <p:sp>
        <p:nvSpPr>
          <p:cNvPr id="12" name="Text 10"/>
          <p:cNvSpPr/>
          <p:nvPr/>
        </p:nvSpPr>
        <p:spPr>
          <a:xfrm>
            <a:off x="4389120" y="126187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13" name="Text 11"/>
          <p:cNvSpPr/>
          <p:nvPr/>
        </p:nvSpPr>
        <p:spPr>
          <a:xfrm>
            <a:off x="4919472" y="119786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Pin source and digest</a:t>
            </a:r>
            <a:endParaRPr lang="en-US" sz="1620" dirty="0"/>
          </a:p>
        </p:txBody>
      </p:sp>
      <p:sp>
        <p:nvSpPr>
          <p:cNvPr id="14" name="Shape 12"/>
          <p:cNvSpPr/>
          <p:nvPr/>
        </p:nvSpPr>
        <p:spPr>
          <a:xfrm>
            <a:off x="8275320" y="1234440"/>
            <a:ext cx="384048" cy="384048"/>
          </a:xfrm>
          <a:prstGeom prst="ellipse">
            <a:avLst/>
          </a:prstGeom>
          <a:solidFill>
            <a:srgbClr val="3A8D63"/>
          </a:solidFill>
          <a:ln w="12700">
            <a:solidFill>
              <a:srgbClr val="3A8D63">
                <a:alpha val="0"/>
              </a:srgbClr>
            </a:solidFill>
            <a:prstDash val="solid"/>
          </a:ln>
        </p:spPr>
      </p:sp>
      <p:sp>
        <p:nvSpPr>
          <p:cNvPr id="15" name="Text 13"/>
          <p:cNvSpPr/>
          <p:nvPr/>
        </p:nvSpPr>
        <p:spPr>
          <a:xfrm>
            <a:off x="8275320" y="126187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16" name="Text 14"/>
          <p:cNvSpPr/>
          <p:nvPr/>
        </p:nvSpPr>
        <p:spPr>
          <a:xfrm>
            <a:off x="8805672" y="119786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Keep data outside the image</a:t>
            </a:r>
            <a:endParaRPr lang="en-US" sz="1620" dirty="0"/>
          </a:p>
        </p:txBody>
      </p:sp>
      <p:sp>
        <p:nvSpPr>
          <p:cNvPr id="17" name="Shape 15"/>
          <p:cNvSpPr/>
          <p:nvPr/>
        </p:nvSpPr>
        <p:spPr>
          <a:xfrm>
            <a:off x="502920" y="2468880"/>
            <a:ext cx="384048" cy="384048"/>
          </a:xfrm>
          <a:prstGeom prst="ellipse">
            <a:avLst/>
          </a:prstGeom>
          <a:solidFill>
            <a:srgbClr val="3A8D63"/>
          </a:solidFill>
          <a:ln w="12700">
            <a:solidFill>
              <a:srgbClr val="3A8D63">
                <a:alpha val="0"/>
              </a:srgbClr>
            </a:solidFill>
            <a:prstDash val="solid"/>
          </a:ln>
        </p:spPr>
      </p:sp>
      <p:sp>
        <p:nvSpPr>
          <p:cNvPr id="18" name="Text 16"/>
          <p:cNvSpPr/>
          <p:nvPr/>
        </p:nvSpPr>
        <p:spPr>
          <a:xfrm>
            <a:off x="502920" y="249631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19" name="Text 17"/>
          <p:cNvSpPr/>
          <p:nvPr/>
        </p:nvSpPr>
        <p:spPr>
          <a:xfrm>
            <a:off x="1033272" y="243230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Bind inputs read-only</a:t>
            </a:r>
            <a:endParaRPr lang="en-US" sz="1620" dirty="0"/>
          </a:p>
        </p:txBody>
      </p:sp>
      <p:sp>
        <p:nvSpPr>
          <p:cNvPr id="20" name="Shape 18"/>
          <p:cNvSpPr/>
          <p:nvPr/>
        </p:nvSpPr>
        <p:spPr>
          <a:xfrm>
            <a:off x="4389120" y="2468880"/>
            <a:ext cx="384048" cy="384048"/>
          </a:xfrm>
          <a:prstGeom prst="ellipse">
            <a:avLst/>
          </a:prstGeom>
          <a:solidFill>
            <a:srgbClr val="3A8D63"/>
          </a:solidFill>
          <a:ln w="12700">
            <a:solidFill>
              <a:srgbClr val="3A8D63">
                <a:alpha val="0"/>
              </a:srgbClr>
            </a:solidFill>
            <a:prstDash val="solid"/>
          </a:ln>
        </p:spPr>
      </p:sp>
      <p:sp>
        <p:nvSpPr>
          <p:cNvPr id="21" name="Text 19"/>
          <p:cNvSpPr/>
          <p:nvPr/>
        </p:nvSpPr>
        <p:spPr>
          <a:xfrm>
            <a:off x="4389120" y="249631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22" name="Text 20"/>
          <p:cNvSpPr/>
          <p:nvPr/>
        </p:nvSpPr>
        <p:spPr>
          <a:xfrm>
            <a:off x="4919472" y="243230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Put temporary work on local scratch</a:t>
            </a:r>
            <a:endParaRPr lang="en-US" sz="1620" dirty="0"/>
          </a:p>
        </p:txBody>
      </p:sp>
      <p:sp>
        <p:nvSpPr>
          <p:cNvPr id="23" name="Shape 21"/>
          <p:cNvSpPr/>
          <p:nvPr/>
        </p:nvSpPr>
        <p:spPr>
          <a:xfrm>
            <a:off x="8275320" y="2468880"/>
            <a:ext cx="384048" cy="384048"/>
          </a:xfrm>
          <a:prstGeom prst="ellipse">
            <a:avLst/>
          </a:prstGeom>
          <a:solidFill>
            <a:srgbClr val="3A8D63"/>
          </a:solidFill>
          <a:ln w="12700">
            <a:solidFill>
              <a:srgbClr val="3A8D63">
                <a:alpha val="0"/>
              </a:srgbClr>
            </a:solidFill>
            <a:prstDash val="solid"/>
          </a:ln>
        </p:spPr>
      </p:sp>
      <p:sp>
        <p:nvSpPr>
          <p:cNvPr id="24" name="Text 22"/>
          <p:cNvSpPr/>
          <p:nvPr/>
        </p:nvSpPr>
        <p:spPr>
          <a:xfrm>
            <a:off x="8275320" y="249631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25" name="Text 23"/>
          <p:cNvSpPr/>
          <p:nvPr/>
        </p:nvSpPr>
        <p:spPr>
          <a:xfrm>
            <a:off x="8805672" y="243230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Use approved image and cache paths</a:t>
            </a:r>
            <a:endParaRPr lang="en-US" sz="1620" dirty="0"/>
          </a:p>
        </p:txBody>
      </p:sp>
      <p:sp>
        <p:nvSpPr>
          <p:cNvPr id="26" name="Shape 24"/>
          <p:cNvSpPr/>
          <p:nvPr/>
        </p:nvSpPr>
        <p:spPr>
          <a:xfrm>
            <a:off x="502920" y="3703320"/>
            <a:ext cx="384048" cy="384048"/>
          </a:xfrm>
          <a:prstGeom prst="ellipse">
            <a:avLst/>
          </a:prstGeom>
          <a:solidFill>
            <a:srgbClr val="3A8D63"/>
          </a:solidFill>
          <a:ln w="12700">
            <a:solidFill>
              <a:srgbClr val="3A8D63">
                <a:alpha val="0"/>
              </a:srgbClr>
            </a:solidFill>
            <a:prstDash val="solid"/>
          </a:ln>
        </p:spPr>
      </p:sp>
      <p:sp>
        <p:nvSpPr>
          <p:cNvPr id="27" name="Text 25"/>
          <p:cNvSpPr/>
          <p:nvPr/>
        </p:nvSpPr>
        <p:spPr>
          <a:xfrm>
            <a:off x="502920" y="373075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28" name="Text 26"/>
          <p:cNvSpPr/>
          <p:nvPr/>
        </p:nvSpPr>
        <p:spPr>
          <a:xfrm>
            <a:off x="1033272" y="366674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Use --cleanenv and explicit commands</a:t>
            </a:r>
            <a:endParaRPr lang="en-US" sz="1620" dirty="0"/>
          </a:p>
        </p:txBody>
      </p:sp>
      <p:sp>
        <p:nvSpPr>
          <p:cNvPr id="29" name="Shape 27"/>
          <p:cNvSpPr/>
          <p:nvPr/>
        </p:nvSpPr>
        <p:spPr>
          <a:xfrm>
            <a:off x="4389120" y="3703320"/>
            <a:ext cx="384048" cy="384048"/>
          </a:xfrm>
          <a:prstGeom prst="ellipse">
            <a:avLst/>
          </a:prstGeom>
          <a:solidFill>
            <a:srgbClr val="3A8D63"/>
          </a:solidFill>
          <a:ln w="12700">
            <a:solidFill>
              <a:srgbClr val="3A8D63">
                <a:alpha val="0"/>
              </a:srgbClr>
            </a:solidFill>
            <a:prstDash val="solid"/>
          </a:ln>
        </p:spPr>
      </p:sp>
      <p:sp>
        <p:nvSpPr>
          <p:cNvPr id="30" name="Text 28"/>
          <p:cNvSpPr/>
          <p:nvPr/>
        </p:nvSpPr>
        <p:spPr>
          <a:xfrm>
            <a:off x="4389120" y="373075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31" name="Text 29"/>
          <p:cNvSpPr/>
          <p:nvPr/>
        </p:nvSpPr>
        <p:spPr>
          <a:xfrm>
            <a:off x="4919472" y="366674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Request GPU through Slurm</a:t>
            </a:r>
            <a:endParaRPr lang="en-US" sz="1620" dirty="0"/>
          </a:p>
        </p:txBody>
      </p:sp>
      <p:sp>
        <p:nvSpPr>
          <p:cNvPr id="32" name="Shape 30"/>
          <p:cNvSpPr/>
          <p:nvPr/>
        </p:nvSpPr>
        <p:spPr>
          <a:xfrm>
            <a:off x="8275320" y="3703320"/>
            <a:ext cx="384048" cy="384048"/>
          </a:xfrm>
          <a:prstGeom prst="ellipse">
            <a:avLst/>
          </a:prstGeom>
          <a:solidFill>
            <a:srgbClr val="3A8D63"/>
          </a:solidFill>
          <a:ln w="12700">
            <a:solidFill>
              <a:srgbClr val="3A8D63">
                <a:alpha val="0"/>
              </a:srgbClr>
            </a:solidFill>
            <a:prstDash val="solid"/>
          </a:ln>
        </p:spPr>
      </p:sp>
      <p:sp>
        <p:nvSpPr>
          <p:cNvPr id="33" name="Text 31"/>
          <p:cNvSpPr/>
          <p:nvPr/>
        </p:nvSpPr>
        <p:spPr>
          <a:xfrm>
            <a:off x="8275320" y="373075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34" name="Text 32"/>
          <p:cNvSpPr/>
          <p:nvPr/>
        </p:nvSpPr>
        <p:spPr>
          <a:xfrm>
            <a:off x="8805672" y="366674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Test and validate before scale</a:t>
            </a:r>
            <a:endParaRPr lang="en-US" sz="1620" dirty="0"/>
          </a:p>
        </p:txBody>
      </p:sp>
      <p:sp>
        <p:nvSpPr>
          <p:cNvPr id="35" name="Shape 33"/>
          <p:cNvSpPr/>
          <p:nvPr/>
        </p:nvSpPr>
        <p:spPr>
          <a:xfrm>
            <a:off x="1051560" y="5239512"/>
            <a:ext cx="10104120" cy="704088"/>
          </a:xfrm>
          <a:prstGeom prst="roundRect">
            <a:avLst/>
          </a:prstGeom>
          <a:solidFill>
            <a:srgbClr val="7057A3">
              <a:alpha val="8000"/>
            </a:srgbClr>
          </a:solidFill>
          <a:ln w="12700">
            <a:solidFill>
              <a:srgbClr val="7057A3">
                <a:alpha val="0"/>
              </a:srgbClr>
            </a:solidFill>
            <a:prstDash val="solid"/>
          </a:ln>
        </p:spPr>
      </p:sp>
      <p:sp>
        <p:nvSpPr>
          <p:cNvPr id="36" name="Text 34"/>
          <p:cNvSpPr/>
          <p:nvPr/>
        </p:nvSpPr>
        <p:spPr>
          <a:xfrm>
            <a:off x="1417320" y="5431536"/>
            <a:ext cx="9372600" cy="329184"/>
          </a:xfrm>
          <a:prstGeom prst="rect">
            <a:avLst/>
          </a:prstGeom>
          <a:noFill/>
          <a:ln/>
        </p:spPr>
        <p:txBody>
          <a:bodyPr wrap="square" lIns="0" tIns="0" rIns="0" bIns="0" rtlCol="0" anchor="ctr">
            <a:normAutofit/>
          </a:bodyPr>
          <a:lstStyle/>
          <a:p>
            <a:pPr algn="ctr" indent="0" marL="0">
              <a:buNone/>
            </a:pPr>
            <a:r>
              <a:rPr lang="en-US" sz="1900" b="1" dirty="0">
                <a:solidFill>
                  <a:srgbClr val="7057A3"/>
                </a:solidFill>
                <a:latin typeface="Liberation Sans" pitchFamily="34" charset="0"/>
                <a:ea typeface="Liberation Sans" pitchFamily="34" charset="-122"/>
                <a:cs typeface="Liberation Sans" pitchFamily="34" charset="-120"/>
              </a:rPr>
              <a:t>Containerize software; stage active data; preserve provenance.</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iberatio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iberatio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Institute for AI in Medicine, University Hospital Essen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RCC Onboarding Part 4: Containers with Apptainer</dc:title>
  <dc:subject>Package software reproducibly while keeping network storage out of the small-file hot path.</dc:subject>
  <dc:creator>RCC / IKIM Essen</dc:creator>
  <cp:lastModifiedBy>RCC / IKIM Essen</cp:lastModifiedBy>
  <cp:revision>1</cp:revision>
  <dcterms:created xsi:type="dcterms:W3CDTF">2026-07-11T21:46:00Z</dcterms:created>
  <dcterms:modified xsi:type="dcterms:W3CDTF">2026-07-11T21:46:00Z</dcterms:modified>
</cp:coreProperties>
</file>