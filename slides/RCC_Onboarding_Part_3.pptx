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explains performance engineering for biomedical research. The most important message is that faster hardware does not rescue a poorly structured workflow. A computation that should finish in hours can extend to weeks or months when it repeatedly scans network storage, opens millions of small files, requests the wrong number of threads, or runs out of memory and restarts. We will separate CPU, GPU, RAM, disk capacity, and input-output behavior. We will also explain streaming versus random access, large versus small files, compression, node-local scratch, and the tools used to find a bottleneck. The goal is not maximum speed at any cost. The goal is predictable, fair, and scientifically correct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is not a single number. An analysis may be limited by CPU instructions, GPU kernels, memory capacity, memory bandwidth, network transfer, storage throughput, storage latency, or metadata operations. Improving a resource that is not limiting usually changes little. For example, adding CPU cores to a job that waits for thousands of small files can increase contention without shortening runtime. Start by describing the data path and measuring where elapsed time is spent. Then change one variable at a time. This approach is more reliable than guessing from the reputation of a tool or copying a resource request from another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workflow with five thousand samples. If a step spends one second on useful computation and twenty seconds opening, seeking, and closing small files on shared storage, the overhead dominates. Repeat that pattern across many rules and retries, and a nominally short analysis can occupy the system for weeks. Another common pattern is decompressing the same source repeatedly, copying entire directories for each rule, or requesting one core for software configured to use sixteen. Performance mistakes multiply by the number of samples, files, and workflow stages. Estimate scale before launch: number of jobs, files per job, bytes read and written, and expected runtime per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CPU node contains cores that execute instruction streams. Some tools expose a threads option. Slurm must allocate at least that many CPUs per task, and the command must be told to use them. Parallel efficiency usually declines as thread count increases because threads coordinate, share memory bandwidth, and wait for input. Two independent samples may run faster as two smaller jobs than as one very wide job. Measure elapsed time and CPU utilization at several thread counts using representative data. Never start many background processes outside the allocation, and do not assume that a tool called multithreaded scales linearly.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GPUs contain many execution units optimized for highly parallel numerical work. They can accelerate deep learning, image analysis, molecular simulation, and selected sequence-analysis tools. A CPU program does not become GPU-enabled merely because a GPU is allocated. Request the correct GPU resource, use software built for the available driver and libraries, and monitor utilization with nvidia-smi. Low utilization may indicate tiny batches, CPU preprocessing, slow data loading, insufficient parallelism, or frequent host-to-device transfers. GPUs are scarce shared resources, so release them when the GPU portion is complete rather than reserving one during long CPU-only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 holds the active working set: data structures, indices, buffers, and program state. If a job exceeds its Slurm memory allocation, the job may be terminated. If the operating system begins swapping, performance can collapse because disk is far slower than RAM. Requesting far more memory than needed can delay scheduling and reduce capacity for everyone. Use Slurm accounting to inspect maximum resident memory after representative jobs. Some tools scale memory with threads or input size, so record the relationship. A memory leak shows steadily rising use; a normal workload often rises to 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Disk space is capacity. Input-output performance describes how data moves. Four useful dimensions are throughput, latency, input-output operations per second, and metadata rate. Throughput matters for large sequential reads such as scanning a compressed FASTQ. Latency matters when a program waits for individual operations. IOPS matters for many small reads and writes. Metadata rate matters when listing directories, checking file existence, opening files, or creating thousands of paths. Network storage is designed for shared durable data, but it cannot provide local-disk behavior to every job simultaneously. Match the access pattern to the storage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Streaming input-output reads or writes long contiguous sequences. This lets storage, operating-system caches, compression libraries, and network protocols work efficiently. Random input-output jumps among many positions or files and repeatedly pays seek, latency, and metadata costs. Indexed BAM and VCF access can be appropriate when querying a small genomic interval, but repeatedly issuing tiny queries across the entire genome can be slower than one sequential pass. Against network storage, avoid database-like random write patterns and large collections of temporary shards. Stage active files to node-local disk, process them there, and return only the required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directory with hundreds of thousands of files can make listing, tab completion, backups, workflow discovery, and deletion painfully slow. Small files also waste storage blocks and require metadata operations. Many bioinformatics tools create temporary fragments, per-read outputs, or tiny environment files. Prefer a reasonable directory hierarchy, one result bundle per sample or batch, and archive cold collections when appropriate. Do not use tar archives as a substitute for formats that need random indexed access, but do use structured containers or archives for collections that are transferred and consumed together. Clean temporary files through workflow rules instead of leaving them indefinitely.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Biomedical data is often compressible. FASTQ is commonly stored as gzip-compressed FASTQ. VCF can use block gzip with an index. BAM and CRAM are compressed binary alignment formats. Keeping files compressed reduces bytes transferred and stored, which often saves more time than decompression costs. Avoid repeatedly expanding a file to network storage merely because one command expects a path. Many tools read compressed input directly, and Unix pipes can stream decompressed data between compatible tools. Confirm that the chosen compression is splittable or indexable when parallel access is required. Keep the original compressed source and generate only formats needed for downstream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Node-local scratch is temporary storage attached to the compute node. It provides lower latency and avoids making shared storage handle every temporary read and write. Snakemake can expose the job temporary directory through the standard tmpdir resource. Shadow rules can execute in an isolated directory, with modes that link or copy the required inputs. For tools that perform random access or create many temporary files, use an RCC-tested pattern: copy the required inputs to local scratch, run the command there, validate the output, and copy only final results back. Scratch is temporary, so the workflow must not treat it as durable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Slurm accounting first. S acct shows job state, elapsed time, allocated CPUs, and fields such as maximum resident memory. S stat reports live statistics for running jobs. Inside an allocation, time measures elapsed and CPU time, top or h top shows processes, and tools such as pidstat, vmstat, iostat, or dstat can reveal CPU wait, memory pressure, and storage activity when available. N v i d i a s m i reports GPU utilization and memory. Snakemake benchmark files connect measurements to specific rules. Interpret metrics together: low CPU plus high I/O wait suggests storage; full memory and rising swap suggests RAM; low GPU utilization with busy CPUs suggests preprocessing or data loading.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symptom is not a diagnosis. Low CPU efficiency may be caused by input-output wait, serial code, thread oversubscription, or frequent synchronization. A job killed for memory needs either a larger allocation or a method that reduces the working set. A GPU at ten percent utilization may be waiting on CPU preprocessing or tiny batches. A workflow that pauses while discovering files may have a metadata problem. Build a small representative benchmark, change one factor, and compare elapsed time and resource efficiency. Stop when performance is adequate and fair; optimization also has engineering cost and can introduce scientific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operating rules are straightforward. Measure before scaling. Match Slurm requests to the software configuration. Keep source data compressed where possible. Prefer sequential streaming access. Avoid random temporary input-output on network storage. Stage active files to node-local scratch through a tested Snakemake pattern. Reduce small-file and directory counts. Preserve only necessary outputs and clean temporary files. Use Slurm accounting, Snakemake benchmarks, and operating-system tools to identify the actual bottleneck. Above all, perform a pilot at realistic scale. An inefficient workflow multiplied across thousands of samples can turn hours into months and degrade the shared service for colleagues.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6F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15B47"/>
          </a:solidFill>
          <a:ln w="12700">
            <a:solidFill>
              <a:srgbClr val="D15B47">
                <a:alpha val="0"/>
              </a:srgbClr>
            </a:solidFill>
            <a:prstDash val="solid"/>
          </a:ln>
        </p:spPr>
      </p:sp>
      <p:sp>
        <p:nvSpPr>
          <p:cNvPr id="3" name="Shape 1"/>
          <p:cNvSpPr/>
          <p:nvPr/>
        </p:nvSpPr>
        <p:spPr>
          <a:xfrm>
            <a:off x="228600" y="228600"/>
            <a:ext cx="11734495" cy="6400800"/>
          </a:xfrm>
          <a:prstGeom prst="rect">
            <a:avLst/>
          </a:prstGeom>
          <a:solidFill>
            <a:srgbClr val="FFFFFF">
              <a:alpha val="0"/>
            </a:srgbClr>
          </a:solidFill>
          <a:ln w="12700">
            <a:solidFill>
              <a:srgbClr val="FFFFFF">
                <a:alpha val="0"/>
              </a:srgbClr>
            </a:solidFill>
            <a:prstDash val="solid"/>
          </a:ln>
        </p:spPr>
      </p:sp>
      <p:sp>
        <p:nvSpPr>
          <p:cNvPr id="4" name="Text 2"/>
          <p:cNvSpPr/>
          <p:nvPr/>
        </p:nvSpPr>
        <p:spPr>
          <a:xfrm>
            <a:off x="914400" y="685800"/>
            <a:ext cx="2011680" cy="347472"/>
          </a:xfrm>
          <a:prstGeom prst="rect">
            <a:avLst/>
          </a:prstGeom>
          <a:noFill/>
          <a:ln/>
        </p:spPr>
        <p:txBody>
          <a:bodyPr wrap="square" lIns="0" tIns="0" rIns="0" bIns="0" rtlCol="0" anchor="ctr">
            <a:normAutofit/>
          </a:bodyPr>
          <a:lstStyle/>
          <a:p>
            <a:pPr algn="l" indent="0" marL="0">
              <a:buNone/>
            </a:pPr>
            <a:r>
              <a:rPr lang="en-US" sz="1600" b="1" spc="250" kern="0" dirty="0">
                <a:solidFill>
                  <a:srgbClr val="FFFFFF"/>
                </a:solidFill>
                <a:latin typeface="Liberation Sans" pitchFamily="34" charset="0"/>
                <a:ea typeface="Liberation Sans" pitchFamily="34" charset="-122"/>
                <a:cs typeface="Liberation Sans" pitchFamily="34" charset="-120"/>
              </a:rPr>
              <a:t>PART 3</a:t>
            </a:r>
            <a:endParaRPr lang="en-US" sz="1600" dirty="0"/>
          </a:p>
        </p:txBody>
      </p:sp>
      <p:sp>
        <p:nvSpPr>
          <p:cNvPr id="5" name="Text 3"/>
          <p:cNvSpPr/>
          <p:nvPr/>
        </p:nvSpPr>
        <p:spPr>
          <a:xfrm>
            <a:off x="914400" y="1234440"/>
            <a:ext cx="9966960" cy="1097280"/>
          </a:xfrm>
          <a:prstGeom prst="rect">
            <a:avLst/>
          </a:prstGeom>
          <a:noFill/>
          <a:ln/>
        </p:spPr>
        <p:txBody>
          <a:bodyPr wrap="square" lIns="0" tIns="0" rIns="0" bIns="0" rtlCol="0" anchor="t">
            <a:normAutofit/>
          </a:bodyPr>
          <a:lstStyle/>
          <a:p>
            <a:pPr algn="l" indent="0" marL="0">
              <a:buNone/>
            </a:pPr>
            <a:r>
              <a:rPr lang="en-US" sz="3400" b="1" dirty="0">
                <a:solidFill>
                  <a:srgbClr val="FFFFFF"/>
                </a:solidFill>
                <a:latin typeface="Liberation Sans" pitchFamily="34" charset="0"/>
                <a:ea typeface="Liberation Sans" pitchFamily="34" charset="-122"/>
                <a:cs typeface="Liberation Sans" pitchFamily="34" charset="-120"/>
              </a:rPr>
              <a:t>Performance and efficient I/O</a:t>
            </a:r>
            <a:endParaRPr lang="en-US" sz="3400" dirty="0"/>
          </a:p>
        </p:txBody>
      </p:sp>
      <p:sp>
        <p:nvSpPr>
          <p:cNvPr id="6" name="Text 4"/>
          <p:cNvSpPr/>
          <p:nvPr/>
        </p:nvSpPr>
        <p:spPr>
          <a:xfrm>
            <a:off x="932688" y="2487168"/>
            <a:ext cx="9601200" cy="822960"/>
          </a:xfrm>
          <a:prstGeom prst="rect">
            <a:avLst/>
          </a:prstGeom>
          <a:noFill/>
          <a:ln/>
        </p:spPr>
        <p:txBody>
          <a:bodyPr wrap="square" lIns="0" tIns="0" rIns="0" bIns="0" rtlCol="0" anchor="t">
            <a:normAutofit/>
          </a:bodyPr>
          <a:lstStyle/>
          <a:p>
            <a:pPr algn="l" indent="0" marL="0">
              <a:buNone/>
            </a:pPr>
            <a:r>
              <a:rPr lang="en-US" sz="1900" dirty="0">
                <a:solidFill>
                  <a:srgbClr val="FFFFFF"/>
                </a:solidFill>
                <a:latin typeface="Liberation Sans" pitchFamily="34" charset="0"/>
                <a:ea typeface="Liberation Sans" pitchFamily="34" charset="-122"/>
                <a:cs typeface="Liberation Sans" pitchFamily="34" charset="-120"/>
              </a:rPr>
              <a:t>Match CPU, GPU, memory, storage, and data movement to the scientific workload.</a:t>
            </a:r>
            <a:endParaRPr lang="en-US" sz="1900" dirty="0"/>
          </a:p>
        </p:txBody>
      </p:sp>
      <p:sp>
        <p:nvSpPr>
          <p:cNvPr id="7" name="Shape 5"/>
          <p:cNvSpPr/>
          <p:nvPr/>
        </p:nvSpPr>
        <p:spPr>
          <a:xfrm>
            <a:off x="914400" y="3977640"/>
            <a:ext cx="5120640" cy="1051560"/>
          </a:xfrm>
          <a:prstGeom prst="roundRect">
            <a:avLst/>
          </a:prstGeom>
          <a:solidFill>
            <a:srgbClr val="FFFFFF">
              <a:alpha val="12000"/>
            </a:srgbClr>
          </a:solidFill>
          <a:ln w="12700">
            <a:solidFill>
              <a:srgbClr val="FFFFFF">
                <a:alpha val="25000"/>
              </a:srgbClr>
            </a:solidFill>
            <a:prstDash val="solid"/>
          </a:ln>
        </p:spPr>
      </p:sp>
      <p:sp>
        <p:nvSpPr>
          <p:cNvPr id="8" name="Text 6"/>
          <p:cNvSpPr/>
          <p:nvPr/>
        </p:nvSpPr>
        <p:spPr>
          <a:xfrm>
            <a:off x="1170432" y="4187952"/>
            <a:ext cx="4617720" cy="658368"/>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Liberation Sans" pitchFamily="34" charset="0"/>
                <a:ea typeface="Liberation Sans" pitchFamily="34" charset="-122"/>
                <a:cs typeface="Liberation Sans" pitchFamily="34" charset="-120"/>
              </a:rPr>
              <a:t>Outcome: diagnose the limiting resource and structure workflows so hours do not become months.</a:t>
            </a:r>
            <a:endParaRPr lang="en-US" sz="1600" dirty="0"/>
          </a:p>
        </p:txBody>
      </p:sp>
      <p:sp>
        <p:nvSpPr>
          <p:cNvPr id="9" name="Text 7"/>
          <p:cNvSpPr/>
          <p:nvPr/>
        </p:nvSpPr>
        <p:spPr>
          <a:xfrm>
            <a:off x="932688" y="5852160"/>
            <a:ext cx="7955280" cy="320040"/>
          </a:xfrm>
          <a:prstGeom prst="rect">
            <a:avLst/>
          </a:prstGeom>
          <a:noFill/>
          <a:ln/>
        </p:spPr>
        <p:txBody>
          <a:bodyPr wrap="square" lIns="0" tIns="0" rIns="0" bIns="0" rtlCol="0" anchor="ctr">
            <a:normAutofit/>
          </a:bodyPr>
          <a:lstStyle/>
          <a:p>
            <a:pPr algn="l" indent="0" marL="0">
              <a:buNone/>
            </a:pPr>
            <a:r>
              <a:rPr lang="en-US" sz="1300" dirty="0">
                <a:solidFill>
                  <a:srgbClr val="FFFFFF"/>
                </a:solidFill>
                <a:latin typeface="Liberation Sans" pitchFamily="34" charset="0"/>
                <a:ea typeface="Liberation Sans" pitchFamily="34" charset="-122"/>
                <a:cs typeface="Liberation Sans" pitchFamily="34" charset="-120"/>
              </a:rPr>
              <a:t>For biomedical researchers new to distributed computing</a:t>
            </a:r>
            <a:endParaRPr lang="en-US" sz="1300" dirty="0"/>
          </a:p>
        </p:txBody>
      </p:sp>
      <p:sp>
        <p:nvSpPr>
          <p:cNvPr id="10" name="Text 8"/>
          <p:cNvSpPr/>
          <p:nvPr/>
        </p:nvSpPr>
        <p:spPr>
          <a:xfrm>
            <a:off x="9326880" y="5852160"/>
            <a:ext cx="1920240" cy="320040"/>
          </a:xfrm>
          <a:prstGeom prst="rect">
            <a:avLst/>
          </a:prstGeom>
          <a:noFill/>
          <a:ln/>
        </p:spPr>
        <p:txBody>
          <a:bodyPr wrap="square" lIns="0" tIns="0" rIns="0" bIns="0" rtlCol="0" anchor="ctr">
            <a:normAutofit/>
          </a:bodyPr>
          <a:lstStyle/>
          <a:p>
            <a:pPr algn="r" indent="0" marL="0">
              <a:buNone/>
            </a:pPr>
            <a:r>
              <a:rPr lang="en-US" sz="1100" dirty="0">
                <a:solidFill>
                  <a:srgbClr val="FFFFFF"/>
                </a:solidFill>
                <a:latin typeface="Liberation Sans" pitchFamily="34" charset="0"/>
                <a:ea typeface="Liberation Sans" pitchFamily="34" charset="-122"/>
                <a:cs typeface="Liberation Sans" pitchFamily="34" charset="-120"/>
              </a:rPr>
              <a:t>RCC onboarding curriculum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 Performance is a systems property</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The slowest required resource limits the whole workflow</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3</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2 / 14</a:t>
            </a:r>
            <a:endParaRPr lang="en-US" sz="900" dirty="0"/>
          </a:p>
        </p:txBody>
      </p:sp>
      <p:sp>
        <p:nvSpPr>
          <p:cNvPr id="7" name="Shape 5"/>
          <p:cNvSpPr/>
          <p:nvPr/>
        </p:nvSpPr>
        <p:spPr>
          <a:xfrm>
            <a:off x="411480" y="6510528"/>
            <a:ext cx="502920" cy="27432"/>
          </a:xfrm>
          <a:prstGeom prst="rect">
            <a:avLst/>
          </a:prstGeom>
          <a:solidFill>
            <a:srgbClr val="D15B47"/>
          </a:solidFill>
          <a:ln w="12700">
            <a:solidFill>
              <a:srgbClr val="D15B47">
                <a:alpha val="0"/>
              </a:srgbClr>
            </a:solidFill>
            <a:prstDash val="solid"/>
          </a:ln>
        </p:spPr>
      </p:sp>
      <p:sp>
        <p:nvSpPr>
          <p:cNvPr id="8" name="Shape 6"/>
          <p:cNvSpPr/>
          <p:nvPr/>
        </p:nvSpPr>
        <p:spPr>
          <a:xfrm>
            <a:off x="475488" y="1417320"/>
            <a:ext cx="2057400" cy="2377440"/>
          </a:xfrm>
          <a:prstGeom prst="roundRect">
            <a:avLst>
              <a:gd name="adj" fmla="val 3556"/>
            </a:avLst>
          </a:prstGeom>
          <a:solidFill>
            <a:srgbClr val="FFFFFF"/>
          </a:solidFill>
          <a:ln w="12700">
            <a:solidFill>
              <a:srgbClr val="D7E0E7"/>
            </a:solidFill>
            <a:prstDash val="solid"/>
          </a:ln>
        </p:spPr>
      </p:sp>
      <p:sp>
        <p:nvSpPr>
          <p:cNvPr id="9" name="Shape 7"/>
          <p:cNvSpPr/>
          <p:nvPr/>
        </p:nvSpPr>
        <p:spPr>
          <a:xfrm>
            <a:off x="475488" y="1417320"/>
            <a:ext cx="64008" cy="2377440"/>
          </a:xfrm>
          <a:prstGeom prst="rect">
            <a:avLst/>
          </a:prstGeom>
          <a:solidFill>
            <a:srgbClr val="2C6EAF"/>
          </a:solidFill>
          <a:ln w="12700">
            <a:solidFill>
              <a:srgbClr val="2C6EAF">
                <a:alpha val="0"/>
              </a:srgbClr>
            </a:solidFill>
            <a:prstDash val="solid"/>
          </a:ln>
        </p:spPr>
      </p:sp>
      <p:sp>
        <p:nvSpPr>
          <p:cNvPr id="10" name="Text 8"/>
          <p:cNvSpPr/>
          <p:nvPr/>
        </p:nvSpPr>
        <p:spPr>
          <a:xfrm>
            <a:off x="676656" y="156362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CPU</a:t>
            </a:r>
            <a:endParaRPr lang="en-US" sz="1700" dirty="0"/>
          </a:p>
        </p:txBody>
      </p:sp>
      <p:sp>
        <p:nvSpPr>
          <p:cNvPr id="11" name="Text 9"/>
          <p:cNvSpPr/>
          <p:nvPr/>
        </p:nvSpPr>
        <p:spPr>
          <a:xfrm>
            <a:off x="676656" y="1947672"/>
            <a:ext cx="1709928" cy="1719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computation</a:t>
            </a:r>
            <a:endParaRPr lang="en-US" sz="1600" dirty="0"/>
          </a:p>
        </p:txBody>
      </p:sp>
      <p:sp>
        <p:nvSpPr>
          <p:cNvPr id="12" name="Shape 10"/>
          <p:cNvSpPr/>
          <p:nvPr/>
        </p:nvSpPr>
        <p:spPr>
          <a:xfrm>
            <a:off x="2532888" y="2606040"/>
            <a:ext cx="265176" cy="0"/>
          </a:xfrm>
          <a:prstGeom prst="line">
            <a:avLst/>
          </a:prstGeom>
          <a:noFill/>
          <a:ln w="19050">
            <a:solidFill>
              <a:srgbClr val="D7E0E7"/>
            </a:solidFill>
            <a:prstDash val="solid"/>
            <a:headEnd type="none"/>
            <a:tailEnd type="triangle"/>
          </a:ln>
        </p:spPr>
      </p:sp>
      <p:sp>
        <p:nvSpPr>
          <p:cNvPr id="13" name="Shape 11"/>
          <p:cNvSpPr/>
          <p:nvPr/>
        </p:nvSpPr>
        <p:spPr>
          <a:xfrm>
            <a:off x="2807208" y="1417320"/>
            <a:ext cx="2057400" cy="2377440"/>
          </a:xfrm>
          <a:prstGeom prst="roundRect">
            <a:avLst>
              <a:gd name="adj" fmla="val 3556"/>
            </a:avLst>
          </a:prstGeom>
          <a:solidFill>
            <a:srgbClr val="FFFFFF"/>
          </a:solidFill>
          <a:ln w="12700">
            <a:solidFill>
              <a:srgbClr val="D7E0E7"/>
            </a:solidFill>
            <a:prstDash val="solid"/>
          </a:ln>
        </p:spPr>
      </p:sp>
      <p:sp>
        <p:nvSpPr>
          <p:cNvPr id="14" name="Shape 12"/>
          <p:cNvSpPr/>
          <p:nvPr/>
        </p:nvSpPr>
        <p:spPr>
          <a:xfrm>
            <a:off x="2807208" y="1417320"/>
            <a:ext cx="64008" cy="2377440"/>
          </a:xfrm>
          <a:prstGeom prst="rect">
            <a:avLst/>
          </a:prstGeom>
          <a:solidFill>
            <a:srgbClr val="2C6EAF"/>
          </a:solidFill>
          <a:ln w="12700">
            <a:solidFill>
              <a:srgbClr val="2C6EAF">
                <a:alpha val="0"/>
              </a:srgbClr>
            </a:solidFill>
            <a:prstDash val="solid"/>
          </a:ln>
        </p:spPr>
      </p:sp>
      <p:sp>
        <p:nvSpPr>
          <p:cNvPr id="15" name="Text 13"/>
          <p:cNvSpPr/>
          <p:nvPr/>
        </p:nvSpPr>
        <p:spPr>
          <a:xfrm>
            <a:off x="3008376" y="156362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GPU</a:t>
            </a:r>
            <a:endParaRPr lang="en-US" sz="1700" dirty="0"/>
          </a:p>
        </p:txBody>
      </p:sp>
      <p:sp>
        <p:nvSpPr>
          <p:cNvPr id="16" name="Text 14"/>
          <p:cNvSpPr/>
          <p:nvPr/>
        </p:nvSpPr>
        <p:spPr>
          <a:xfrm>
            <a:off x="3008376" y="1947672"/>
            <a:ext cx="1709928" cy="1719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parallel kernels</a:t>
            </a:r>
            <a:endParaRPr lang="en-US" sz="1600" dirty="0"/>
          </a:p>
        </p:txBody>
      </p:sp>
      <p:sp>
        <p:nvSpPr>
          <p:cNvPr id="17" name="Shape 15"/>
          <p:cNvSpPr/>
          <p:nvPr/>
        </p:nvSpPr>
        <p:spPr>
          <a:xfrm>
            <a:off x="4864608" y="2606040"/>
            <a:ext cx="265176" cy="0"/>
          </a:xfrm>
          <a:prstGeom prst="line">
            <a:avLst/>
          </a:prstGeom>
          <a:noFill/>
          <a:ln w="19050">
            <a:solidFill>
              <a:srgbClr val="D7E0E7"/>
            </a:solidFill>
            <a:prstDash val="solid"/>
            <a:headEnd type="none"/>
            <a:tailEnd type="triangle"/>
          </a:ln>
        </p:spPr>
      </p:sp>
      <p:sp>
        <p:nvSpPr>
          <p:cNvPr id="18" name="Shape 16"/>
          <p:cNvSpPr/>
          <p:nvPr/>
        </p:nvSpPr>
        <p:spPr>
          <a:xfrm>
            <a:off x="5138928" y="1417320"/>
            <a:ext cx="2057400" cy="2377440"/>
          </a:xfrm>
          <a:prstGeom prst="roundRect">
            <a:avLst>
              <a:gd name="adj" fmla="val 3556"/>
            </a:avLst>
          </a:prstGeom>
          <a:solidFill>
            <a:srgbClr val="FFFFFF"/>
          </a:solidFill>
          <a:ln w="12700">
            <a:solidFill>
              <a:srgbClr val="D7E0E7"/>
            </a:solidFill>
            <a:prstDash val="solid"/>
          </a:ln>
        </p:spPr>
      </p:sp>
      <p:sp>
        <p:nvSpPr>
          <p:cNvPr id="19" name="Shape 17"/>
          <p:cNvSpPr/>
          <p:nvPr/>
        </p:nvSpPr>
        <p:spPr>
          <a:xfrm>
            <a:off x="5138928" y="1417320"/>
            <a:ext cx="64008" cy="2377440"/>
          </a:xfrm>
          <a:prstGeom prst="rect">
            <a:avLst/>
          </a:prstGeom>
          <a:solidFill>
            <a:srgbClr val="2C6EAF"/>
          </a:solidFill>
          <a:ln w="12700">
            <a:solidFill>
              <a:srgbClr val="2C6EAF">
                <a:alpha val="0"/>
              </a:srgbClr>
            </a:solidFill>
            <a:prstDash val="solid"/>
          </a:ln>
        </p:spPr>
      </p:sp>
      <p:sp>
        <p:nvSpPr>
          <p:cNvPr id="20" name="Text 18"/>
          <p:cNvSpPr/>
          <p:nvPr/>
        </p:nvSpPr>
        <p:spPr>
          <a:xfrm>
            <a:off x="5340096" y="156362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RAM</a:t>
            </a:r>
            <a:endParaRPr lang="en-US" sz="1700" dirty="0"/>
          </a:p>
        </p:txBody>
      </p:sp>
      <p:sp>
        <p:nvSpPr>
          <p:cNvPr id="21" name="Text 19"/>
          <p:cNvSpPr/>
          <p:nvPr/>
        </p:nvSpPr>
        <p:spPr>
          <a:xfrm>
            <a:off x="5340096" y="1947672"/>
            <a:ext cx="1709928" cy="1719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working set</a:t>
            </a:r>
            <a:endParaRPr lang="en-US" sz="1600" dirty="0"/>
          </a:p>
        </p:txBody>
      </p:sp>
      <p:sp>
        <p:nvSpPr>
          <p:cNvPr id="22" name="Shape 20"/>
          <p:cNvSpPr/>
          <p:nvPr/>
        </p:nvSpPr>
        <p:spPr>
          <a:xfrm>
            <a:off x="7196328" y="2606040"/>
            <a:ext cx="265176" cy="0"/>
          </a:xfrm>
          <a:prstGeom prst="line">
            <a:avLst/>
          </a:prstGeom>
          <a:noFill/>
          <a:ln w="19050">
            <a:solidFill>
              <a:srgbClr val="D7E0E7"/>
            </a:solidFill>
            <a:prstDash val="solid"/>
            <a:headEnd type="none"/>
            <a:tailEnd type="triangle"/>
          </a:ln>
        </p:spPr>
      </p:sp>
      <p:sp>
        <p:nvSpPr>
          <p:cNvPr id="23" name="Shape 21"/>
          <p:cNvSpPr/>
          <p:nvPr/>
        </p:nvSpPr>
        <p:spPr>
          <a:xfrm>
            <a:off x="7470648" y="1417320"/>
            <a:ext cx="2057400" cy="2377440"/>
          </a:xfrm>
          <a:prstGeom prst="roundRect">
            <a:avLst>
              <a:gd name="adj" fmla="val 3556"/>
            </a:avLst>
          </a:prstGeom>
          <a:solidFill>
            <a:srgbClr val="FFFFFF"/>
          </a:solidFill>
          <a:ln w="12700">
            <a:solidFill>
              <a:srgbClr val="D7E0E7"/>
            </a:solidFill>
            <a:prstDash val="solid"/>
          </a:ln>
        </p:spPr>
      </p:sp>
      <p:sp>
        <p:nvSpPr>
          <p:cNvPr id="24" name="Shape 22"/>
          <p:cNvSpPr/>
          <p:nvPr/>
        </p:nvSpPr>
        <p:spPr>
          <a:xfrm>
            <a:off x="7470648" y="1417320"/>
            <a:ext cx="64008" cy="2377440"/>
          </a:xfrm>
          <a:prstGeom prst="rect">
            <a:avLst/>
          </a:prstGeom>
          <a:solidFill>
            <a:srgbClr val="2C6EAF"/>
          </a:solidFill>
          <a:ln w="12700">
            <a:solidFill>
              <a:srgbClr val="2C6EAF">
                <a:alpha val="0"/>
              </a:srgbClr>
            </a:solidFill>
            <a:prstDash val="solid"/>
          </a:ln>
        </p:spPr>
      </p:sp>
      <p:sp>
        <p:nvSpPr>
          <p:cNvPr id="25" name="Text 23"/>
          <p:cNvSpPr/>
          <p:nvPr/>
        </p:nvSpPr>
        <p:spPr>
          <a:xfrm>
            <a:off x="7671816" y="156362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Storage</a:t>
            </a:r>
            <a:endParaRPr lang="en-US" sz="1700" dirty="0"/>
          </a:p>
        </p:txBody>
      </p:sp>
      <p:sp>
        <p:nvSpPr>
          <p:cNvPr id="26" name="Text 24"/>
          <p:cNvSpPr/>
          <p:nvPr/>
        </p:nvSpPr>
        <p:spPr>
          <a:xfrm>
            <a:off x="7671816" y="1947672"/>
            <a:ext cx="1709928" cy="1719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capacity</a:t>
            </a:r>
            <a:endParaRPr lang="en-US" sz="1600" dirty="0"/>
          </a:p>
        </p:txBody>
      </p:sp>
      <p:sp>
        <p:nvSpPr>
          <p:cNvPr id="27" name="Shape 25"/>
          <p:cNvSpPr/>
          <p:nvPr/>
        </p:nvSpPr>
        <p:spPr>
          <a:xfrm>
            <a:off x="9528048" y="2606040"/>
            <a:ext cx="265176" cy="0"/>
          </a:xfrm>
          <a:prstGeom prst="line">
            <a:avLst/>
          </a:prstGeom>
          <a:noFill/>
          <a:ln w="19050">
            <a:solidFill>
              <a:srgbClr val="D7E0E7"/>
            </a:solidFill>
            <a:prstDash val="solid"/>
            <a:headEnd type="none"/>
            <a:tailEnd type="triangle"/>
          </a:ln>
        </p:spPr>
      </p:sp>
      <p:sp>
        <p:nvSpPr>
          <p:cNvPr id="28" name="Shape 26"/>
          <p:cNvSpPr/>
          <p:nvPr/>
        </p:nvSpPr>
        <p:spPr>
          <a:xfrm>
            <a:off x="9802368" y="1417320"/>
            <a:ext cx="2057400" cy="2377440"/>
          </a:xfrm>
          <a:prstGeom prst="roundRect">
            <a:avLst>
              <a:gd name="adj" fmla="val 3556"/>
            </a:avLst>
          </a:prstGeom>
          <a:solidFill>
            <a:srgbClr val="FFFFFF"/>
          </a:solidFill>
          <a:ln w="12700">
            <a:solidFill>
              <a:srgbClr val="D7E0E7"/>
            </a:solidFill>
            <a:prstDash val="solid"/>
          </a:ln>
        </p:spPr>
      </p:sp>
      <p:sp>
        <p:nvSpPr>
          <p:cNvPr id="29" name="Shape 27"/>
          <p:cNvSpPr/>
          <p:nvPr/>
        </p:nvSpPr>
        <p:spPr>
          <a:xfrm>
            <a:off x="9802368" y="1417320"/>
            <a:ext cx="64008" cy="2377440"/>
          </a:xfrm>
          <a:prstGeom prst="rect">
            <a:avLst/>
          </a:prstGeom>
          <a:solidFill>
            <a:srgbClr val="D15B47"/>
          </a:solidFill>
          <a:ln w="12700">
            <a:solidFill>
              <a:srgbClr val="D15B47">
                <a:alpha val="0"/>
              </a:srgbClr>
            </a:solidFill>
            <a:prstDash val="solid"/>
          </a:ln>
        </p:spPr>
      </p:sp>
      <p:sp>
        <p:nvSpPr>
          <p:cNvPr id="30" name="Text 28"/>
          <p:cNvSpPr/>
          <p:nvPr/>
        </p:nvSpPr>
        <p:spPr>
          <a:xfrm>
            <a:off x="10003536" y="1563624"/>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I/O</a:t>
            </a:r>
            <a:endParaRPr lang="en-US" sz="1700" dirty="0"/>
          </a:p>
        </p:txBody>
      </p:sp>
      <p:sp>
        <p:nvSpPr>
          <p:cNvPr id="31" name="Text 29"/>
          <p:cNvSpPr/>
          <p:nvPr/>
        </p:nvSpPr>
        <p:spPr>
          <a:xfrm>
            <a:off x="10003536" y="1947672"/>
            <a:ext cx="1709928" cy="171907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data movement</a:t>
            </a:r>
            <a:endParaRPr lang="en-US" sz="1600" dirty="0"/>
          </a:p>
        </p:txBody>
      </p:sp>
      <p:sp>
        <p:nvSpPr>
          <p:cNvPr id="32" name="Shape 30"/>
          <p:cNvSpPr/>
          <p:nvPr/>
        </p:nvSpPr>
        <p:spPr>
          <a:xfrm>
            <a:off x="1143000" y="4343400"/>
            <a:ext cx="9921240" cy="914400"/>
          </a:xfrm>
          <a:prstGeom prst="roundRect">
            <a:avLst/>
          </a:prstGeom>
          <a:solidFill>
            <a:srgbClr val="D15B47">
              <a:alpha val="7000"/>
            </a:srgbClr>
          </a:solidFill>
          <a:ln w="12700">
            <a:solidFill>
              <a:srgbClr val="D15B47">
                <a:alpha val="0"/>
              </a:srgbClr>
            </a:solidFill>
            <a:prstDash val="solid"/>
          </a:ln>
        </p:spPr>
      </p:sp>
      <p:sp>
        <p:nvSpPr>
          <p:cNvPr id="33" name="Text 31"/>
          <p:cNvSpPr/>
          <p:nvPr/>
        </p:nvSpPr>
        <p:spPr>
          <a:xfrm>
            <a:off x="1463040" y="4590288"/>
            <a:ext cx="9281160" cy="384048"/>
          </a:xfrm>
          <a:prstGeom prst="rect">
            <a:avLst/>
          </a:prstGeom>
          <a:noFill/>
          <a:ln/>
        </p:spPr>
        <p:txBody>
          <a:bodyPr wrap="square" lIns="0" tIns="0" rIns="0" bIns="0" rtlCol="0" anchor="ctr">
            <a:normAutofit/>
          </a:bodyPr>
          <a:lstStyle/>
          <a:p>
            <a:pPr algn="ctr" indent="0" marL="0">
              <a:buNone/>
            </a:pPr>
            <a:r>
              <a:rPr lang="en-US" sz="2000" b="1" dirty="0">
                <a:solidFill>
                  <a:srgbClr val="D15B47"/>
                </a:solidFill>
                <a:latin typeface="Liberation Sans" pitchFamily="34" charset="0"/>
                <a:ea typeface="Liberation Sans" pitchFamily="34" charset="-122"/>
                <a:cs typeface="Liberation Sans" pitchFamily="34" charset="-120"/>
              </a:rPr>
              <a:t>Elapsed time is constrained by the bottleneck - not by the most impressive hardware.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2. The same analysis can take hours or months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Repeated inefficient work multiplies across samples and workflow steps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3</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3 / 14</a:t>
            </a:r>
            <a:endParaRPr lang="en-US" sz="900" dirty="0"/>
          </a:p>
        </p:txBody>
      </p:sp>
      <p:sp>
        <p:nvSpPr>
          <p:cNvPr id="7" name="Shape 5"/>
          <p:cNvSpPr/>
          <p:nvPr/>
        </p:nvSpPr>
        <p:spPr>
          <a:xfrm>
            <a:off x="411480" y="6510528"/>
            <a:ext cx="502920" cy="27432"/>
          </a:xfrm>
          <a:prstGeom prst="rect">
            <a:avLst/>
          </a:prstGeom>
          <a:solidFill>
            <a:srgbClr val="D15B47"/>
          </a:solidFill>
          <a:ln w="12700">
            <a:solidFill>
              <a:srgbClr val="D15B47">
                <a:alpha val="0"/>
              </a:srgbClr>
            </a:solidFill>
            <a:prstDash val="solid"/>
          </a:ln>
        </p:spPr>
      </p:sp>
      <p:sp>
        <p:nvSpPr>
          <p:cNvPr id="8" name="Shape 6"/>
          <p:cNvSpPr/>
          <p:nvPr/>
        </p:nvSpPr>
        <p:spPr>
          <a:xfrm>
            <a:off x="685800" y="1325880"/>
            <a:ext cx="5166360" cy="4206240"/>
          </a:xfrm>
          <a:prstGeom prst="roundRect">
            <a:avLst>
              <a:gd name="adj" fmla="val 1739"/>
            </a:avLst>
          </a:prstGeom>
          <a:solidFill>
            <a:srgbClr val="F7FCF9"/>
          </a:solidFill>
          <a:ln w="12700">
            <a:solidFill>
              <a:srgbClr val="D7E0E7"/>
            </a:solidFill>
            <a:prstDash val="solid"/>
          </a:ln>
        </p:spPr>
      </p:sp>
      <p:sp>
        <p:nvSpPr>
          <p:cNvPr id="9" name="Shape 7"/>
          <p:cNvSpPr/>
          <p:nvPr/>
        </p:nvSpPr>
        <p:spPr>
          <a:xfrm>
            <a:off x="685800" y="1325880"/>
            <a:ext cx="64008" cy="4206240"/>
          </a:xfrm>
          <a:prstGeom prst="rect">
            <a:avLst/>
          </a:prstGeom>
          <a:solidFill>
            <a:srgbClr val="3A8D63"/>
          </a:solidFill>
          <a:ln w="12700">
            <a:solidFill>
              <a:srgbClr val="3A8D63">
                <a:alpha val="0"/>
              </a:srgbClr>
            </a:solidFill>
            <a:prstDash val="solid"/>
          </a:ln>
        </p:spPr>
      </p:sp>
      <p:sp>
        <p:nvSpPr>
          <p:cNvPr id="10" name="Text 8"/>
          <p:cNvSpPr/>
          <p:nvPr/>
        </p:nvSpPr>
        <p:spPr>
          <a:xfrm>
            <a:off x="886968" y="1472184"/>
            <a:ext cx="48188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WELL STRUCTURED</a:t>
            </a:r>
            <a:endParaRPr lang="en-US" sz="1700" dirty="0"/>
          </a:p>
        </p:txBody>
      </p:sp>
      <p:sp>
        <p:nvSpPr>
          <p:cNvPr id="11" name="Text 9"/>
          <p:cNvSpPr/>
          <p:nvPr/>
        </p:nvSpPr>
        <p:spPr>
          <a:xfrm>
            <a:off x="886968" y="1856232"/>
            <a:ext cx="4818888" cy="354787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Sequential reads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Compressed inputs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Node-local temporary work</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Measured threads and RAM</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One pass per transformation</a:t>
            </a:r>
            <a:endParaRPr lang="en-US" sz="1800" dirty="0"/>
          </a:p>
          <a:p>
            <a:pPr algn="l" indent="0" marL="0">
              <a:buNone/>
            </a:pP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Illustrative runtime: hours</a:t>
            </a:r>
            <a:endParaRPr lang="en-US" sz="1800" dirty="0"/>
          </a:p>
        </p:txBody>
      </p:sp>
      <p:sp>
        <p:nvSpPr>
          <p:cNvPr id="12" name="Shape 10"/>
          <p:cNvSpPr/>
          <p:nvPr/>
        </p:nvSpPr>
        <p:spPr>
          <a:xfrm>
            <a:off x="6336792" y="1325880"/>
            <a:ext cx="5166360" cy="4206240"/>
          </a:xfrm>
          <a:prstGeom prst="roundRect">
            <a:avLst>
              <a:gd name="adj" fmla="val 1739"/>
            </a:avLst>
          </a:prstGeom>
          <a:solidFill>
            <a:srgbClr val="FFF9F8"/>
          </a:solidFill>
          <a:ln w="12700">
            <a:solidFill>
              <a:srgbClr val="D7E0E7"/>
            </a:solidFill>
            <a:prstDash val="solid"/>
          </a:ln>
        </p:spPr>
      </p:sp>
      <p:sp>
        <p:nvSpPr>
          <p:cNvPr id="13" name="Shape 11"/>
          <p:cNvSpPr/>
          <p:nvPr/>
        </p:nvSpPr>
        <p:spPr>
          <a:xfrm>
            <a:off x="6336792" y="1325880"/>
            <a:ext cx="64008" cy="4206240"/>
          </a:xfrm>
          <a:prstGeom prst="rect">
            <a:avLst/>
          </a:prstGeom>
          <a:solidFill>
            <a:srgbClr val="B23B3B"/>
          </a:solidFill>
          <a:ln w="12700">
            <a:solidFill>
              <a:srgbClr val="B23B3B">
                <a:alpha val="0"/>
              </a:srgbClr>
            </a:solidFill>
            <a:prstDash val="solid"/>
          </a:ln>
        </p:spPr>
      </p:sp>
      <p:sp>
        <p:nvSpPr>
          <p:cNvPr id="14" name="Text 12"/>
          <p:cNvSpPr/>
          <p:nvPr/>
        </p:nvSpPr>
        <p:spPr>
          <a:xfrm>
            <a:off x="6537960" y="1472184"/>
            <a:ext cx="48188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POORLY STRUCTURED</a:t>
            </a:r>
            <a:endParaRPr lang="en-US" sz="1700" dirty="0"/>
          </a:p>
        </p:txBody>
      </p:sp>
      <p:sp>
        <p:nvSpPr>
          <p:cNvPr id="15" name="Text 13"/>
          <p:cNvSpPr/>
          <p:nvPr/>
        </p:nvSpPr>
        <p:spPr>
          <a:xfrm>
            <a:off x="6537960" y="1856232"/>
            <a:ext cx="4818888" cy="354787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Random network I/O</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Millions of tiny files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Repeated decompression</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Oversubscribed threads</a:t>
            </a: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Frequent restart or swapping</a:t>
            </a:r>
            <a:endParaRPr lang="en-US" sz="1800" dirty="0"/>
          </a:p>
          <a:p>
            <a:pPr algn="l" indent="0" marL="0">
              <a:buNone/>
            </a:pPr>
            <a:endParaRPr lang="en-US" sz="1800" dirty="0"/>
          </a:p>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Illustrative runtime: weeks to months</a:t>
            </a:r>
            <a:endParaRPr lang="en-US" sz="1800" dirty="0"/>
          </a:p>
        </p:txBody>
      </p:sp>
      <p:sp>
        <p:nvSpPr>
          <p:cNvPr id="16" name="Shape 14"/>
          <p:cNvSpPr/>
          <p:nvPr/>
        </p:nvSpPr>
        <p:spPr>
          <a:xfrm>
            <a:off x="5806440" y="3401568"/>
            <a:ext cx="530352" cy="0"/>
          </a:xfrm>
          <a:prstGeom prst="line">
            <a:avLst/>
          </a:prstGeom>
          <a:noFill/>
          <a:ln w="38100">
            <a:solidFill>
              <a:srgbClr val="D15B47"/>
            </a:solidFill>
            <a:prstDash val="solid"/>
            <a:headEnd type="none"/>
            <a:tailEnd type="triangle"/>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3. CPU: cores, threads, and parallel efficiency</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More requested cores help only when the software can use them</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3</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4 / 14</a:t>
            </a:r>
            <a:endParaRPr lang="en-US" sz="900" dirty="0"/>
          </a:p>
        </p:txBody>
      </p:sp>
      <p:sp>
        <p:nvSpPr>
          <p:cNvPr id="7" name="Shape 5"/>
          <p:cNvSpPr/>
          <p:nvPr/>
        </p:nvSpPr>
        <p:spPr>
          <a:xfrm>
            <a:off x="411480" y="6510528"/>
            <a:ext cx="502920" cy="27432"/>
          </a:xfrm>
          <a:prstGeom prst="rect">
            <a:avLst/>
          </a:prstGeom>
          <a:solidFill>
            <a:srgbClr val="D15B47"/>
          </a:solidFill>
          <a:ln w="12700">
            <a:solidFill>
              <a:srgbClr val="D15B47">
                <a:alpha val="0"/>
              </a:srgbClr>
            </a:solidFill>
            <a:prstDash val="solid"/>
          </a:ln>
        </p:spPr>
      </p:sp>
      <p:sp>
        <p:nvSpPr>
          <p:cNvPr id="8" name="Text 6"/>
          <p:cNvSpPr/>
          <p:nvPr/>
        </p:nvSpPr>
        <p:spPr>
          <a:xfrm>
            <a:off x="777240" y="1234440"/>
            <a:ext cx="274320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Illustrative runtime</a:t>
            </a:r>
            <a:endParaRPr lang="en-US" sz="1700" dirty="0"/>
          </a:p>
        </p:txBody>
      </p:sp>
      <p:sp>
        <p:nvSpPr>
          <p:cNvPr id="9" name="Text 7"/>
          <p:cNvSpPr/>
          <p:nvPr/>
        </p:nvSpPr>
        <p:spPr>
          <a:xfrm>
            <a:off x="777240" y="1783080"/>
            <a:ext cx="1143000" cy="274320"/>
          </a:xfrm>
          <a:prstGeom prst="rect">
            <a:avLst/>
          </a:prstGeom>
          <a:noFill/>
          <a:ln/>
        </p:spPr>
        <p:txBody>
          <a:bodyPr wrap="square" lIns="0" tIns="0" rIns="0" bIns="0" rtlCol="0" anchor="ctr">
            <a:normAutofit/>
          </a:bodyPr>
          <a:lstStyle/>
          <a:p>
            <a:pPr algn="l" indent="0" marL="0">
              <a:buNone/>
            </a:pPr>
            <a:r>
              <a:rPr lang="en-US" sz="1400" dirty="0">
                <a:solidFill>
                  <a:srgbClr val="5E6B78"/>
                </a:solidFill>
                <a:latin typeface="Liberation Sans" pitchFamily="34" charset="0"/>
                <a:ea typeface="Liberation Sans" pitchFamily="34" charset="-122"/>
                <a:cs typeface="Liberation Sans" pitchFamily="34" charset="-120"/>
              </a:rPr>
              <a:t>1 thread</a:t>
            </a:r>
            <a:endParaRPr lang="en-US" sz="1400" dirty="0"/>
          </a:p>
        </p:txBody>
      </p:sp>
      <p:sp>
        <p:nvSpPr>
          <p:cNvPr id="10" name="Shape 8"/>
          <p:cNvSpPr/>
          <p:nvPr/>
        </p:nvSpPr>
        <p:spPr>
          <a:xfrm>
            <a:off x="2011680" y="1783080"/>
            <a:ext cx="5852160" cy="347472"/>
          </a:xfrm>
          <a:prstGeom prst="rect">
            <a:avLst/>
          </a:prstGeom>
          <a:solidFill>
            <a:srgbClr val="D15B47"/>
          </a:solidFill>
          <a:ln w="12700">
            <a:solidFill>
              <a:srgbClr val="D15B47">
                <a:alpha val="0"/>
              </a:srgbClr>
            </a:solidFill>
            <a:prstDash val="solid"/>
          </a:ln>
        </p:spPr>
      </p:sp>
      <p:sp>
        <p:nvSpPr>
          <p:cNvPr id="11" name="Text 9"/>
          <p:cNvSpPr/>
          <p:nvPr/>
        </p:nvSpPr>
        <p:spPr>
          <a:xfrm>
            <a:off x="8046720" y="1783080"/>
            <a:ext cx="1005840" cy="274320"/>
          </a:xfrm>
          <a:prstGeom prst="rect">
            <a:avLst/>
          </a:prstGeom>
          <a:noFill/>
          <a:ln/>
        </p:spPr>
        <p:txBody>
          <a:bodyPr wrap="square" lIns="0" tIns="0" rIns="0" bIns="0" rtlCol="0" anchor="ctr">
            <a:normAutofit/>
          </a:bodyPr>
          <a:lstStyle/>
          <a:p>
            <a:pPr algn="l" indent="0" marL="0">
              <a:buNone/>
            </a:pPr>
            <a:r>
              <a:rPr lang="en-US" sz="1400" b="1" dirty="0">
                <a:solidFill>
                  <a:srgbClr val="1F2937"/>
                </a:solidFill>
                <a:latin typeface="Liberation Sans" pitchFamily="34" charset="0"/>
                <a:ea typeface="Liberation Sans" pitchFamily="34" charset="-122"/>
                <a:cs typeface="Liberation Sans" pitchFamily="34" charset="-120"/>
              </a:rPr>
              <a:t>100 min</a:t>
            </a:r>
            <a:endParaRPr lang="en-US" sz="1400" dirty="0"/>
          </a:p>
        </p:txBody>
      </p:sp>
      <p:sp>
        <p:nvSpPr>
          <p:cNvPr id="12" name="Text 10"/>
          <p:cNvSpPr/>
          <p:nvPr/>
        </p:nvSpPr>
        <p:spPr>
          <a:xfrm>
            <a:off x="777240" y="2496312"/>
            <a:ext cx="1143000" cy="274320"/>
          </a:xfrm>
          <a:prstGeom prst="rect">
            <a:avLst/>
          </a:prstGeom>
          <a:noFill/>
          <a:ln/>
        </p:spPr>
        <p:txBody>
          <a:bodyPr wrap="square" lIns="0" tIns="0" rIns="0" bIns="0" rtlCol="0" anchor="ctr">
            <a:normAutofit/>
          </a:bodyPr>
          <a:lstStyle/>
          <a:p>
            <a:pPr algn="l" indent="0" marL="0">
              <a:buNone/>
            </a:pPr>
            <a:r>
              <a:rPr lang="en-US" sz="1400" dirty="0">
                <a:solidFill>
                  <a:srgbClr val="5E6B78"/>
                </a:solidFill>
                <a:latin typeface="Liberation Sans" pitchFamily="34" charset="0"/>
                <a:ea typeface="Liberation Sans" pitchFamily="34" charset="-122"/>
                <a:cs typeface="Liberation Sans" pitchFamily="34" charset="-120"/>
              </a:rPr>
              <a:t>2 threads</a:t>
            </a:r>
            <a:endParaRPr lang="en-US" sz="1400" dirty="0"/>
          </a:p>
        </p:txBody>
      </p:sp>
      <p:sp>
        <p:nvSpPr>
          <p:cNvPr id="13" name="Shape 11"/>
          <p:cNvSpPr/>
          <p:nvPr/>
        </p:nvSpPr>
        <p:spPr>
          <a:xfrm>
            <a:off x="2011680" y="2496312"/>
            <a:ext cx="3394253" cy="347472"/>
          </a:xfrm>
          <a:prstGeom prst="rect">
            <a:avLst/>
          </a:prstGeom>
          <a:solidFill>
            <a:srgbClr val="D15B47"/>
          </a:solidFill>
          <a:ln w="12700">
            <a:solidFill>
              <a:srgbClr val="D15B47">
                <a:alpha val="0"/>
              </a:srgbClr>
            </a:solidFill>
            <a:prstDash val="solid"/>
          </a:ln>
        </p:spPr>
      </p:sp>
      <p:sp>
        <p:nvSpPr>
          <p:cNvPr id="14" name="Text 12"/>
          <p:cNvSpPr/>
          <p:nvPr/>
        </p:nvSpPr>
        <p:spPr>
          <a:xfrm>
            <a:off x="8046720" y="2496312"/>
            <a:ext cx="1005840" cy="274320"/>
          </a:xfrm>
          <a:prstGeom prst="rect">
            <a:avLst/>
          </a:prstGeom>
          <a:noFill/>
          <a:ln/>
        </p:spPr>
        <p:txBody>
          <a:bodyPr wrap="square" lIns="0" tIns="0" rIns="0" bIns="0" rtlCol="0" anchor="ctr">
            <a:normAutofit/>
          </a:bodyPr>
          <a:lstStyle/>
          <a:p>
            <a:pPr algn="l" indent="0" marL="0">
              <a:buNone/>
            </a:pPr>
            <a:r>
              <a:rPr lang="en-US" sz="1400" b="1" dirty="0">
                <a:solidFill>
                  <a:srgbClr val="1F2937"/>
                </a:solidFill>
                <a:latin typeface="Liberation Sans" pitchFamily="34" charset="0"/>
                <a:ea typeface="Liberation Sans" pitchFamily="34" charset="-122"/>
                <a:cs typeface="Liberation Sans" pitchFamily="34" charset="-120"/>
              </a:rPr>
              <a:t>58 min</a:t>
            </a:r>
            <a:endParaRPr lang="en-US" sz="1400" dirty="0"/>
          </a:p>
        </p:txBody>
      </p:sp>
      <p:sp>
        <p:nvSpPr>
          <p:cNvPr id="15" name="Text 13"/>
          <p:cNvSpPr/>
          <p:nvPr/>
        </p:nvSpPr>
        <p:spPr>
          <a:xfrm>
            <a:off x="777240" y="3209544"/>
            <a:ext cx="1143000" cy="274320"/>
          </a:xfrm>
          <a:prstGeom prst="rect">
            <a:avLst/>
          </a:prstGeom>
          <a:noFill/>
          <a:ln/>
        </p:spPr>
        <p:txBody>
          <a:bodyPr wrap="square" lIns="0" tIns="0" rIns="0" bIns="0" rtlCol="0" anchor="ctr">
            <a:normAutofit/>
          </a:bodyPr>
          <a:lstStyle/>
          <a:p>
            <a:pPr algn="l" indent="0" marL="0">
              <a:buNone/>
            </a:pPr>
            <a:r>
              <a:rPr lang="en-US" sz="1400" dirty="0">
                <a:solidFill>
                  <a:srgbClr val="5E6B78"/>
                </a:solidFill>
                <a:latin typeface="Liberation Sans" pitchFamily="34" charset="0"/>
                <a:ea typeface="Liberation Sans" pitchFamily="34" charset="-122"/>
                <a:cs typeface="Liberation Sans" pitchFamily="34" charset="-120"/>
              </a:rPr>
              <a:t>4 threads</a:t>
            </a:r>
            <a:endParaRPr lang="en-US" sz="1400" dirty="0"/>
          </a:p>
        </p:txBody>
      </p:sp>
      <p:sp>
        <p:nvSpPr>
          <p:cNvPr id="16" name="Shape 14"/>
          <p:cNvSpPr/>
          <p:nvPr/>
        </p:nvSpPr>
        <p:spPr>
          <a:xfrm>
            <a:off x="2011680" y="3209544"/>
            <a:ext cx="2106778" cy="347472"/>
          </a:xfrm>
          <a:prstGeom prst="rect">
            <a:avLst/>
          </a:prstGeom>
          <a:solidFill>
            <a:srgbClr val="D15B47"/>
          </a:solidFill>
          <a:ln w="12700">
            <a:solidFill>
              <a:srgbClr val="D15B47">
                <a:alpha val="0"/>
              </a:srgbClr>
            </a:solidFill>
            <a:prstDash val="solid"/>
          </a:ln>
        </p:spPr>
      </p:sp>
      <p:sp>
        <p:nvSpPr>
          <p:cNvPr id="17" name="Text 15"/>
          <p:cNvSpPr/>
          <p:nvPr/>
        </p:nvSpPr>
        <p:spPr>
          <a:xfrm>
            <a:off x="8046720" y="3209544"/>
            <a:ext cx="1005840" cy="274320"/>
          </a:xfrm>
          <a:prstGeom prst="rect">
            <a:avLst/>
          </a:prstGeom>
          <a:noFill/>
          <a:ln/>
        </p:spPr>
        <p:txBody>
          <a:bodyPr wrap="square" lIns="0" tIns="0" rIns="0" bIns="0" rtlCol="0" anchor="ctr">
            <a:normAutofit/>
          </a:bodyPr>
          <a:lstStyle/>
          <a:p>
            <a:pPr algn="l" indent="0" marL="0">
              <a:buNone/>
            </a:pPr>
            <a:r>
              <a:rPr lang="en-US" sz="1400" b="1" dirty="0">
                <a:solidFill>
                  <a:srgbClr val="1F2937"/>
                </a:solidFill>
                <a:latin typeface="Liberation Sans" pitchFamily="34" charset="0"/>
                <a:ea typeface="Liberation Sans" pitchFamily="34" charset="-122"/>
                <a:cs typeface="Liberation Sans" pitchFamily="34" charset="-120"/>
              </a:rPr>
              <a:t>36 min</a:t>
            </a:r>
            <a:endParaRPr lang="en-US" sz="1400" dirty="0"/>
          </a:p>
        </p:txBody>
      </p:sp>
      <p:sp>
        <p:nvSpPr>
          <p:cNvPr id="18" name="Text 16"/>
          <p:cNvSpPr/>
          <p:nvPr/>
        </p:nvSpPr>
        <p:spPr>
          <a:xfrm>
            <a:off x="777240" y="3922776"/>
            <a:ext cx="1143000" cy="274320"/>
          </a:xfrm>
          <a:prstGeom prst="rect">
            <a:avLst/>
          </a:prstGeom>
          <a:noFill/>
          <a:ln/>
        </p:spPr>
        <p:txBody>
          <a:bodyPr wrap="square" lIns="0" tIns="0" rIns="0" bIns="0" rtlCol="0" anchor="ctr">
            <a:normAutofit/>
          </a:bodyPr>
          <a:lstStyle/>
          <a:p>
            <a:pPr algn="l" indent="0" marL="0">
              <a:buNone/>
            </a:pPr>
            <a:r>
              <a:rPr lang="en-US" sz="1400" dirty="0">
                <a:solidFill>
                  <a:srgbClr val="5E6B78"/>
                </a:solidFill>
                <a:latin typeface="Liberation Sans" pitchFamily="34" charset="0"/>
                <a:ea typeface="Liberation Sans" pitchFamily="34" charset="-122"/>
                <a:cs typeface="Liberation Sans" pitchFamily="34" charset="-120"/>
              </a:rPr>
              <a:t>8 threads</a:t>
            </a:r>
            <a:endParaRPr lang="en-US" sz="1400" dirty="0"/>
          </a:p>
        </p:txBody>
      </p:sp>
      <p:sp>
        <p:nvSpPr>
          <p:cNvPr id="19" name="Shape 17"/>
          <p:cNvSpPr/>
          <p:nvPr/>
        </p:nvSpPr>
        <p:spPr>
          <a:xfrm>
            <a:off x="2011680" y="3922776"/>
            <a:ext cx="1697126" cy="347472"/>
          </a:xfrm>
          <a:prstGeom prst="rect">
            <a:avLst/>
          </a:prstGeom>
          <a:solidFill>
            <a:srgbClr val="D15B47"/>
          </a:solidFill>
          <a:ln w="12700">
            <a:solidFill>
              <a:srgbClr val="D15B47">
                <a:alpha val="0"/>
              </a:srgbClr>
            </a:solidFill>
            <a:prstDash val="solid"/>
          </a:ln>
        </p:spPr>
      </p:sp>
      <p:sp>
        <p:nvSpPr>
          <p:cNvPr id="20" name="Text 18"/>
          <p:cNvSpPr/>
          <p:nvPr/>
        </p:nvSpPr>
        <p:spPr>
          <a:xfrm>
            <a:off x="8046720" y="3922776"/>
            <a:ext cx="1005840" cy="274320"/>
          </a:xfrm>
          <a:prstGeom prst="rect">
            <a:avLst/>
          </a:prstGeom>
          <a:noFill/>
          <a:ln/>
        </p:spPr>
        <p:txBody>
          <a:bodyPr wrap="square" lIns="0" tIns="0" rIns="0" bIns="0" rtlCol="0" anchor="ctr">
            <a:normAutofit/>
          </a:bodyPr>
          <a:lstStyle/>
          <a:p>
            <a:pPr algn="l" indent="0" marL="0">
              <a:buNone/>
            </a:pPr>
            <a:r>
              <a:rPr lang="en-US" sz="1400" b="1" dirty="0">
                <a:solidFill>
                  <a:srgbClr val="1F2937"/>
                </a:solidFill>
                <a:latin typeface="Liberation Sans" pitchFamily="34" charset="0"/>
                <a:ea typeface="Liberation Sans" pitchFamily="34" charset="-122"/>
                <a:cs typeface="Liberation Sans" pitchFamily="34" charset="-120"/>
              </a:rPr>
              <a:t>29 min</a:t>
            </a:r>
            <a:endParaRPr lang="en-US" sz="1400" dirty="0"/>
          </a:p>
        </p:txBody>
      </p:sp>
      <p:sp>
        <p:nvSpPr>
          <p:cNvPr id="21" name="Text 19"/>
          <p:cNvSpPr/>
          <p:nvPr/>
        </p:nvSpPr>
        <p:spPr>
          <a:xfrm>
            <a:off x="777240" y="4636008"/>
            <a:ext cx="1143000" cy="274320"/>
          </a:xfrm>
          <a:prstGeom prst="rect">
            <a:avLst/>
          </a:prstGeom>
          <a:noFill/>
          <a:ln/>
        </p:spPr>
        <p:txBody>
          <a:bodyPr wrap="square" lIns="0" tIns="0" rIns="0" bIns="0" rtlCol="0" anchor="ctr">
            <a:normAutofit/>
          </a:bodyPr>
          <a:lstStyle/>
          <a:p>
            <a:pPr algn="l" indent="0" marL="0">
              <a:buNone/>
            </a:pPr>
            <a:r>
              <a:rPr lang="en-US" sz="1400" dirty="0">
                <a:solidFill>
                  <a:srgbClr val="5E6B78"/>
                </a:solidFill>
                <a:latin typeface="Liberation Sans" pitchFamily="34" charset="0"/>
                <a:ea typeface="Liberation Sans" pitchFamily="34" charset="-122"/>
                <a:cs typeface="Liberation Sans" pitchFamily="34" charset="-120"/>
              </a:rPr>
              <a:t>16 threads</a:t>
            </a:r>
            <a:endParaRPr lang="en-US" sz="1400" dirty="0"/>
          </a:p>
        </p:txBody>
      </p:sp>
      <p:sp>
        <p:nvSpPr>
          <p:cNvPr id="22" name="Shape 20"/>
          <p:cNvSpPr/>
          <p:nvPr/>
        </p:nvSpPr>
        <p:spPr>
          <a:xfrm>
            <a:off x="2011680" y="4636008"/>
            <a:ext cx="1580083" cy="347472"/>
          </a:xfrm>
          <a:prstGeom prst="rect">
            <a:avLst/>
          </a:prstGeom>
          <a:solidFill>
            <a:srgbClr val="D15B47"/>
          </a:solidFill>
          <a:ln w="12700">
            <a:solidFill>
              <a:srgbClr val="D15B47">
                <a:alpha val="0"/>
              </a:srgbClr>
            </a:solidFill>
            <a:prstDash val="solid"/>
          </a:ln>
        </p:spPr>
      </p:sp>
      <p:sp>
        <p:nvSpPr>
          <p:cNvPr id="23" name="Text 21"/>
          <p:cNvSpPr/>
          <p:nvPr/>
        </p:nvSpPr>
        <p:spPr>
          <a:xfrm>
            <a:off x="8046720" y="4636008"/>
            <a:ext cx="1005840" cy="274320"/>
          </a:xfrm>
          <a:prstGeom prst="rect">
            <a:avLst/>
          </a:prstGeom>
          <a:noFill/>
          <a:ln/>
        </p:spPr>
        <p:txBody>
          <a:bodyPr wrap="square" lIns="0" tIns="0" rIns="0" bIns="0" rtlCol="0" anchor="ctr">
            <a:normAutofit/>
          </a:bodyPr>
          <a:lstStyle/>
          <a:p>
            <a:pPr algn="l" indent="0" marL="0">
              <a:buNone/>
            </a:pPr>
            <a:r>
              <a:rPr lang="en-US" sz="1400" b="1" dirty="0">
                <a:solidFill>
                  <a:srgbClr val="1F2937"/>
                </a:solidFill>
                <a:latin typeface="Liberation Sans" pitchFamily="34" charset="0"/>
                <a:ea typeface="Liberation Sans" pitchFamily="34" charset="-122"/>
                <a:cs typeface="Liberation Sans" pitchFamily="34" charset="-120"/>
              </a:rPr>
              <a:t>27 min</a:t>
            </a:r>
            <a:endParaRPr lang="en-US" sz="1400" dirty="0"/>
          </a:p>
        </p:txBody>
      </p:sp>
      <p:sp>
        <p:nvSpPr>
          <p:cNvPr id="24" name="Shape 22"/>
          <p:cNvSpPr/>
          <p:nvPr/>
        </p:nvSpPr>
        <p:spPr>
          <a:xfrm>
            <a:off x="8961120" y="1325880"/>
            <a:ext cx="2514600" cy="3520440"/>
          </a:xfrm>
          <a:prstGeom prst="roundRect">
            <a:avLst>
              <a:gd name="adj" fmla="val 2909"/>
            </a:avLst>
          </a:prstGeom>
          <a:solidFill>
            <a:srgbClr val="FFFFFF"/>
          </a:solidFill>
          <a:ln w="12700">
            <a:solidFill>
              <a:srgbClr val="D7E0E7"/>
            </a:solidFill>
            <a:prstDash val="solid"/>
          </a:ln>
        </p:spPr>
      </p:sp>
      <p:sp>
        <p:nvSpPr>
          <p:cNvPr id="25" name="Shape 23"/>
          <p:cNvSpPr/>
          <p:nvPr/>
        </p:nvSpPr>
        <p:spPr>
          <a:xfrm>
            <a:off x="8961120" y="1325880"/>
            <a:ext cx="64008" cy="3520440"/>
          </a:xfrm>
          <a:prstGeom prst="rect">
            <a:avLst/>
          </a:prstGeom>
          <a:solidFill>
            <a:srgbClr val="2C6EAF"/>
          </a:solidFill>
          <a:ln w="12700">
            <a:solidFill>
              <a:srgbClr val="2C6EAF">
                <a:alpha val="0"/>
              </a:srgbClr>
            </a:solidFill>
            <a:prstDash val="solid"/>
          </a:ln>
        </p:spPr>
      </p:sp>
      <p:sp>
        <p:nvSpPr>
          <p:cNvPr id="26" name="Text 24"/>
          <p:cNvSpPr/>
          <p:nvPr/>
        </p:nvSpPr>
        <p:spPr>
          <a:xfrm>
            <a:off x="9162288" y="1472184"/>
            <a:ext cx="21671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Measure</a:t>
            </a:r>
            <a:endParaRPr lang="en-US" sz="1700" dirty="0"/>
          </a:p>
        </p:txBody>
      </p:sp>
      <p:sp>
        <p:nvSpPr>
          <p:cNvPr id="27" name="Text 25"/>
          <p:cNvSpPr/>
          <p:nvPr/>
        </p:nvSpPr>
        <p:spPr>
          <a:xfrm>
            <a:off x="9162288" y="1856232"/>
            <a:ext cx="2167128" cy="2862072"/>
          </a:xfrm>
          <a:prstGeom prst="rect">
            <a:avLst/>
          </a:prstGeom>
          <a:noFill/>
          <a:ln/>
        </p:spPr>
        <p:txBody>
          <a:bodyPr wrap="square" lIns="0" tIns="0" rIns="0" bIns="0" rtlCol="0" anchor="t">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 elapsed time</a:t>
            </a:r>
            <a:endParaRPr lang="en-US" sz="1500" dirty="0"/>
          </a:p>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 CPU efficiency</a:t>
            </a:r>
            <a:endParaRPr lang="en-US" sz="1500" dirty="0"/>
          </a:p>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 memory use</a:t>
            </a:r>
            <a:endParaRPr lang="en-US" sz="1500" dirty="0"/>
          </a:p>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 I/O wait</a:t>
            </a:r>
            <a:endParaRPr lang="en-US" sz="1500" dirty="0"/>
          </a:p>
          <a:p>
            <a:pPr algn="l" indent="0" marL="0">
              <a:buNone/>
            </a:pPr>
            <a:endParaRPr lang="en-US" sz="1500" dirty="0"/>
          </a:p>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Choose the smallest efficient allocation.</a:t>
            </a:r>
            <a:endParaRPr lang="en-US" sz="1500" dirty="0"/>
          </a:p>
        </p:txBody>
      </p:sp>
      <p:sp>
        <p:nvSpPr>
          <p:cNvPr id="28" name="Text 26"/>
          <p:cNvSpPr/>
          <p:nvPr/>
        </p:nvSpPr>
        <p:spPr>
          <a:xfrm>
            <a:off x="3154680" y="5623560"/>
            <a:ext cx="5943600" cy="347472"/>
          </a:xfrm>
          <a:prstGeom prst="rect">
            <a:avLst/>
          </a:prstGeom>
          <a:noFill/>
          <a:ln/>
        </p:spPr>
        <p:txBody>
          <a:bodyPr wrap="square" lIns="0" tIns="0" rIns="0" bIns="0" rtlCol="0" anchor="ctr">
            <a:normAutofit/>
          </a:bodyPr>
          <a:lstStyle/>
          <a:p>
            <a:pPr algn="ctr" indent="0" marL="0">
              <a:buNone/>
            </a:pPr>
            <a:r>
              <a:rPr lang="en-US" sz="2000" b="1" dirty="0">
                <a:solidFill>
                  <a:srgbClr val="D15B47"/>
                </a:solidFill>
                <a:latin typeface="Liberation Sans" pitchFamily="34" charset="0"/>
                <a:ea typeface="Liberation Sans" pitchFamily="34" charset="-122"/>
                <a:cs typeface="Liberation Sans" pitchFamily="34" charset="-120"/>
              </a:rPr>
              <a:t>Doubling cores rarely halves runtime.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4. GPU: powerful, specialized, and easy to underuse</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A GPU helps only when the application and data path are GPU-aware</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3</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5 / 14</a:t>
            </a:r>
            <a:endParaRPr lang="en-US" sz="900" dirty="0"/>
          </a:p>
        </p:txBody>
      </p:sp>
      <p:sp>
        <p:nvSpPr>
          <p:cNvPr id="7" name="Shape 5"/>
          <p:cNvSpPr/>
          <p:nvPr/>
        </p:nvSpPr>
        <p:spPr>
          <a:xfrm>
            <a:off x="411480" y="6510528"/>
            <a:ext cx="502920" cy="27432"/>
          </a:xfrm>
          <a:prstGeom prst="rect">
            <a:avLst/>
          </a:prstGeom>
          <a:solidFill>
            <a:srgbClr val="D15B47"/>
          </a:solidFill>
          <a:ln w="12700">
            <a:solidFill>
              <a:srgbClr val="D15B47">
                <a:alpha val="0"/>
              </a:srgbClr>
            </a:solidFill>
            <a:prstDash val="solid"/>
          </a:ln>
        </p:spPr>
      </p:sp>
      <p:sp>
        <p:nvSpPr>
          <p:cNvPr id="8" name="Shape 6"/>
          <p:cNvSpPr/>
          <p:nvPr/>
        </p:nvSpPr>
        <p:spPr>
          <a:xfrm>
            <a:off x="640080" y="1325880"/>
            <a:ext cx="3154680" cy="4251960"/>
          </a:xfrm>
          <a:prstGeom prst="roundRect">
            <a:avLst>
              <a:gd name="adj" fmla="val 2319"/>
            </a:avLst>
          </a:prstGeom>
          <a:solidFill>
            <a:srgbClr val="FFFFFF"/>
          </a:solidFill>
          <a:ln w="12700">
            <a:solidFill>
              <a:srgbClr val="D7E0E7"/>
            </a:solidFill>
            <a:prstDash val="solid"/>
          </a:ln>
        </p:spPr>
      </p:sp>
      <p:sp>
        <p:nvSpPr>
          <p:cNvPr id="9" name="Shape 7"/>
          <p:cNvSpPr/>
          <p:nvPr/>
        </p:nvSpPr>
        <p:spPr>
          <a:xfrm>
            <a:off x="640080" y="1325880"/>
            <a:ext cx="64008" cy="4251960"/>
          </a:xfrm>
          <a:prstGeom prst="rect">
            <a:avLst/>
          </a:prstGeom>
          <a:solidFill>
            <a:srgbClr val="3A8D63"/>
          </a:solidFill>
          <a:ln w="12700">
            <a:solidFill>
              <a:srgbClr val="3A8D63">
                <a:alpha val="0"/>
              </a:srgbClr>
            </a:solidFill>
            <a:prstDash val="solid"/>
          </a:ln>
        </p:spPr>
      </p:sp>
      <p:sp>
        <p:nvSpPr>
          <p:cNvPr id="10" name="Text 8"/>
          <p:cNvSpPr/>
          <p:nvPr/>
        </p:nvSpPr>
        <p:spPr>
          <a:xfrm>
            <a:off x="841248" y="1472184"/>
            <a:ext cx="28072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GOOD GPU FIT</a:t>
            </a:r>
            <a:endParaRPr lang="en-US" sz="1700" dirty="0"/>
          </a:p>
        </p:txBody>
      </p:sp>
      <p:sp>
        <p:nvSpPr>
          <p:cNvPr id="11" name="Text 9"/>
          <p:cNvSpPr/>
          <p:nvPr/>
        </p:nvSpPr>
        <p:spPr>
          <a:xfrm>
            <a:off x="841248" y="1856232"/>
            <a:ext cx="2807208" cy="359359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Large matrix operations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Deep-learning training or inference</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GPU-enabled image processing</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GPU-aware simulation</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Sufficient batch size</a:t>
            </a:r>
            <a:endParaRPr lang="en-US" sz="1700" dirty="0"/>
          </a:p>
        </p:txBody>
      </p:sp>
      <p:sp>
        <p:nvSpPr>
          <p:cNvPr id="12" name="Shape 10"/>
          <p:cNvSpPr/>
          <p:nvPr/>
        </p:nvSpPr>
        <p:spPr>
          <a:xfrm>
            <a:off x="4517136" y="1325880"/>
            <a:ext cx="3154680" cy="4251960"/>
          </a:xfrm>
          <a:prstGeom prst="roundRect">
            <a:avLst>
              <a:gd name="adj" fmla="val 2319"/>
            </a:avLst>
          </a:prstGeom>
          <a:solidFill>
            <a:srgbClr val="FFFFFF"/>
          </a:solidFill>
          <a:ln w="12700">
            <a:solidFill>
              <a:srgbClr val="D7E0E7"/>
            </a:solidFill>
            <a:prstDash val="solid"/>
          </a:ln>
        </p:spPr>
      </p:sp>
      <p:sp>
        <p:nvSpPr>
          <p:cNvPr id="13" name="Shape 11"/>
          <p:cNvSpPr/>
          <p:nvPr/>
        </p:nvSpPr>
        <p:spPr>
          <a:xfrm>
            <a:off x="4517136" y="1325880"/>
            <a:ext cx="64008" cy="4251960"/>
          </a:xfrm>
          <a:prstGeom prst="rect">
            <a:avLst/>
          </a:prstGeom>
          <a:solidFill>
            <a:srgbClr val="D15B47"/>
          </a:solidFill>
          <a:ln w="12700">
            <a:solidFill>
              <a:srgbClr val="D15B47">
                <a:alpha val="0"/>
              </a:srgbClr>
            </a:solidFill>
            <a:prstDash val="solid"/>
          </a:ln>
        </p:spPr>
      </p:sp>
      <p:sp>
        <p:nvSpPr>
          <p:cNvPr id="14" name="Text 12"/>
          <p:cNvSpPr/>
          <p:nvPr/>
        </p:nvSpPr>
        <p:spPr>
          <a:xfrm>
            <a:off x="4718304" y="1472184"/>
            <a:ext cx="28072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COMMON BOTTLENECK</a:t>
            </a:r>
            <a:endParaRPr lang="en-US" sz="1700" dirty="0"/>
          </a:p>
        </p:txBody>
      </p:sp>
      <p:sp>
        <p:nvSpPr>
          <p:cNvPr id="15" name="Text 13"/>
          <p:cNvSpPr/>
          <p:nvPr/>
        </p:nvSpPr>
        <p:spPr>
          <a:xfrm>
            <a:off x="4718304" y="1856232"/>
            <a:ext cx="2807208" cy="359359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CPU preprocessing</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Small batches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Slow file loading</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Frequent transfers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Unsupported software build</a:t>
            </a:r>
            <a:endParaRPr lang="en-US" sz="1700" dirty="0"/>
          </a:p>
        </p:txBody>
      </p:sp>
      <p:sp>
        <p:nvSpPr>
          <p:cNvPr id="16" name="Shape 14"/>
          <p:cNvSpPr/>
          <p:nvPr/>
        </p:nvSpPr>
        <p:spPr>
          <a:xfrm>
            <a:off x="8394192" y="1325880"/>
            <a:ext cx="3154680" cy="4251960"/>
          </a:xfrm>
          <a:prstGeom prst="roundRect">
            <a:avLst>
              <a:gd name="adj" fmla="val 2319"/>
            </a:avLst>
          </a:prstGeom>
          <a:solidFill>
            <a:srgbClr val="FFFFFF"/>
          </a:solidFill>
          <a:ln w="12700">
            <a:solidFill>
              <a:srgbClr val="D7E0E7"/>
            </a:solidFill>
            <a:prstDash val="solid"/>
          </a:ln>
        </p:spPr>
      </p:sp>
      <p:sp>
        <p:nvSpPr>
          <p:cNvPr id="17" name="Shape 15"/>
          <p:cNvSpPr/>
          <p:nvPr/>
        </p:nvSpPr>
        <p:spPr>
          <a:xfrm>
            <a:off x="8394192" y="1325880"/>
            <a:ext cx="64008" cy="4251960"/>
          </a:xfrm>
          <a:prstGeom prst="rect">
            <a:avLst/>
          </a:prstGeom>
          <a:solidFill>
            <a:srgbClr val="2C6EAF"/>
          </a:solidFill>
          <a:ln w="12700">
            <a:solidFill>
              <a:srgbClr val="2C6EAF">
                <a:alpha val="0"/>
              </a:srgbClr>
            </a:solidFill>
            <a:prstDash val="solid"/>
          </a:ln>
        </p:spPr>
      </p:sp>
      <p:sp>
        <p:nvSpPr>
          <p:cNvPr id="18" name="Text 16"/>
          <p:cNvSpPr/>
          <p:nvPr/>
        </p:nvSpPr>
        <p:spPr>
          <a:xfrm>
            <a:off x="8595360" y="1472184"/>
            <a:ext cx="280720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OBSERVE</a:t>
            </a:r>
            <a:endParaRPr lang="en-US" sz="1700" dirty="0"/>
          </a:p>
        </p:txBody>
      </p:sp>
      <p:sp>
        <p:nvSpPr>
          <p:cNvPr id="19" name="Text 17"/>
          <p:cNvSpPr/>
          <p:nvPr/>
        </p:nvSpPr>
        <p:spPr>
          <a:xfrm>
            <a:off x="8595360" y="1856232"/>
            <a:ext cx="2807208" cy="359359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nvidia-smi</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GPU utilization</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GPU memory</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Power state</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CPU and I/O at the same time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5. RAM: capacity is not the same as speed</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Request enough for the working set, but avoid waste</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3</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6 / 14</a:t>
            </a:r>
            <a:endParaRPr lang="en-US" sz="900" dirty="0"/>
          </a:p>
        </p:txBody>
      </p:sp>
      <p:sp>
        <p:nvSpPr>
          <p:cNvPr id="7" name="Shape 5"/>
          <p:cNvSpPr/>
          <p:nvPr/>
        </p:nvSpPr>
        <p:spPr>
          <a:xfrm>
            <a:off x="411480" y="6510528"/>
            <a:ext cx="502920" cy="27432"/>
          </a:xfrm>
          <a:prstGeom prst="rect">
            <a:avLst/>
          </a:prstGeom>
          <a:solidFill>
            <a:srgbClr val="D15B47"/>
          </a:solidFill>
          <a:ln w="12700">
            <a:solidFill>
              <a:srgbClr val="D15B47">
                <a:alpha val="0"/>
              </a:srgbClr>
            </a:solidFill>
            <a:prstDash val="solid"/>
          </a:ln>
        </p:spPr>
      </p:sp>
      <p:sp>
        <p:nvSpPr>
          <p:cNvPr id="8" name="Shape 6"/>
          <p:cNvSpPr/>
          <p:nvPr/>
        </p:nvSpPr>
        <p:spPr>
          <a:xfrm>
            <a:off x="685800" y="1325880"/>
            <a:ext cx="3429000" cy="3246120"/>
          </a:xfrm>
          <a:prstGeom prst="roundRect">
            <a:avLst>
              <a:gd name="adj" fmla="val 2254"/>
            </a:avLst>
          </a:prstGeom>
          <a:solidFill>
            <a:srgbClr val="FFFFFF"/>
          </a:solidFill>
          <a:ln w="12700">
            <a:solidFill>
              <a:srgbClr val="D7E0E7"/>
            </a:solidFill>
            <a:prstDash val="solid"/>
          </a:ln>
        </p:spPr>
      </p:sp>
      <p:sp>
        <p:nvSpPr>
          <p:cNvPr id="9" name="Shape 7"/>
          <p:cNvSpPr/>
          <p:nvPr/>
        </p:nvSpPr>
        <p:spPr>
          <a:xfrm>
            <a:off x="685800" y="1325880"/>
            <a:ext cx="64008" cy="3246120"/>
          </a:xfrm>
          <a:prstGeom prst="rect">
            <a:avLst/>
          </a:prstGeom>
          <a:solidFill>
            <a:srgbClr val="B23B3B"/>
          </a:solidFill>
          <a:ln w="12700">
            <a:solidFill>
              <a:srgbClr val="B23B3B">
                <a:alpha val="0"/>
              </a:srgbClr>
            </a:solidFill>
            <a:prstDash val="solid"/>
          </a:ln>
        </p:spPr>
      </p:sp>
      <p:sp>
        <p:nvSpPr>
          <p:cNvPr id="10" name="Text 8"/>
          <p:cNvSpPr/>
          <p:nvPr/>
        </p:nvSpPr>
        <p:spPr>
          <a:xfrm>
            <a:off x="886968" y="1472184"/>
            <a:ext cx="30815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Too little</a:t>
            </a:r>
            <a:endParaRPr lang="en-US" sz="1700" dirty="0"/>
          </a:p>
        </p:txBody>
      </p:sp>
      <p:sp>
        <p:nvSpPr>
          <p:cNvPr id="11" name="Text 9"/>
          <p:cNvSpPr/>
          <p:nvPr/>
        </p:nvSpPr>
        <p:spPr>
          <a:xfrm>
            <a:off x="886968" y="1856232"/>
            <a:ext cx="3081528" cy="258775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OOM kill or restart</a:t>
            </a:r>
            <a:endParaRPr lang="en-US" sz="1800" dirty="0"/>
          </a:p>
        </p:txBody>
      </p:sp>
      <p:sp>
        <p:nvSpPr>
          <p:cNvPr id="12" name="Shape 10"/>
          <p:cNvSpPr/>
          <p:nvPr/>
        </p:nvSpPr>
        <p:spPr>
          <a:xfrm>
            <a:off x="4553712" y="1325880"/>
            <a:ext cx="3429000" cy="3246120"/>
          </a:xfrm>
          <a:prstGeom prst="roundRect">
            <a:avLst>
              <a:gd name="adj" fmla="val 2254"/>
            </a:avLst>
          </a:prstGeom>
          <a:solidFill>
            <a:srgbClr val="FFFFFF"/>
          </a:solidFill>
          <a:ln w="12700">
            <a:solidFill>
              <a:srgbClr val="D7E0E7"/>
            </a:solidFill>
            <a:prstDash val="solid"/>
          </a:ln>
        </p:spPr>
      </p:sp>
      <p:sp>
        <p:nvSpPr>
          <p:cNvPr id="13" name="Shape 11"/>
          <p:cNvSpPr/>
          <p:nvPr/>
        </p:nvSpPr>
        <p:spPr>
          <a:xfrm>
            <a:off x="4553712" y="1325880"/>
            <a:ext cx="64008" cy="3246120"/>
          </a:xfrm>
          <a:prstGeom prst="rect">
            <a:avLst/>
          </a:prstGeom>
          <a:solidFill>
            <a:srgbClr val="3A8D63"/>
          </a:solidFill>
          <a:ln w="12700">
            <a:solidFill>
              <a:srgbClr val="3A8D63">
                <a:alpha val="0"/>
              </a:srgbClr>
            </a:solidFill>
            <a:prstDash val="solid"/>
          </a:ln>
        </p:spPr>
      </p:sp>
      <p:sp>
        <p:nvSpPr>
          <p:cNvPr id="14" name="Text 12"/>
          <p:cNvSpPr/>
          <p:nvPr/>
        </p:nvSpPr>
        <p:spPr>
          <a:xfrm>
            <a:off x="4754880" y="1472184"/>
            <a:ext cx="30815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Right-sized</a:t>
            </a:r>
            <a:endParaRPr lang="en-US" sz="1700" dirty="0"/>
          </a:p>
        </p:txBody>
      </p:sp>
      <p:sp>
        <p:nvSpPr>
          <p:cNvPr id="15" name="Text 13"/>
          <p:cNvSpPr/>
          <p:nvPr/>
        </p:nvSpPr>
        <p:spPr>
          <a:xfrm>
            <a:off x="4754880" y="1856232"/>
            <a:ext cx="3081528" cy="258775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stable working set</a:t>
            </a:r>
            <a:endParaRPr lang="en-US" sz="1800" dirty="0"/>
          </a:p>
        </p:txBody>
      </p:sp>
      <p:sp>
        <p:nvSpPr>
          <p:cNvPr id="16" name="Shape 14"/>
          <p:cNvSpPr/>
          <p:nvPr/>
        </p:nvSpPr>
        <p:spPr>
          <a:xfrm>
            <a:off x="8421624" y="1325880"/>
            <a:ext cx="3429000" cy="3246120"/>
          </a:xfrm>
          <a:prstGeom prst="roundRect">
            <a:avLst>
              <a:gd name="adj" fmla="val 2254"/>
            </a:avLst>
          </a:prstGeom>
          <a:solidFill>
            <a:srgbClr val="FFFFFF"/>
          </a:solidFill>
          <a:ln w="12700">
            <a:solidFill>
              <a:srgbClr val="D7E0E7"/>
            </a:solidFill>
            <a:prstDash val="solid"/>
          </a:ln>
        </p:spPr>
      </p:sp>
      <p:sp>
        <p:nvSpPr>
          <p:cNvPr id="17" name="Shape 15"/>
          <p:cNvSpPr/>
          <p:nvPr/>
        </p:nvSpPr>
        <p:spPr>
          <a:xfrm>
            <a:off x="8421624" y="1325880"/>
            <a:ext cx="64008" cy="3246120"/>
          </a:xfrm>
          <a:prstGeom prst="rect">
            <a:avLst/>
          </a:prstGeom>
          <a:solidFill>
            <a:srgbClr val="C58A13"/>
          </a:solidFill>
          <a:ln w="12700">
            <a:solidFill>
              <a:srgbClr val="C58A13">
                <a:alpha val="0"/>
              </a:srgbClr>
            </a:solidFill>
            <a:prstDash val="solid"/>
          </a:ln>
        </p:spPr>
      </p:sp>
      <p:sp>
        <p:nvSpPr>
          <p:cNvPr id="18" name="Text 16"/>
          <p:cNvSpPr/>
          <p:nvPr/>
        </p:nvSpPr>
        <p:spPr>
          <a:xfrm>
            <a:off x="8622792" y="1472184"/>
            <a:ext cx="30815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Too much</a:t>
            </a:r>
            <a:endParaRPr lang="en-US" sz="1700" dirty="0"/>
          </a:p>
        </p:txBody>
      </p:sp>
      <p:sp>
        <p:nvSpPr>
          <p:cNvPr id="19" name="Text 17"/>
          <p:cNvSpPr/>
          <p:nvPr/>
        </p:nvSpPr>
        <p:spPr>
          <a:xfrm>
            <a:off x="8622792" y="1856232"/>
            <a:ext cx="3081528" cy="2587752"/>
          </a:xfrm>
          <a:prstGeom prst="rect">
            <a:avLst/>
          </a:prstGeom>
          <a:noFill/>
          <a:ln/>
        </p:spPr>
        <p:txBody>
          <a:bodyPr wrap="square" lIns="0" tIns="0" rIns="0" bIns="0" rtlCol="0" anchor="t">
            <a:normAutofit/>
          </a:bodyPr>
          <a:lstStyle/>
          <a:p>
            <a:pPr algn="l" indent="0" marL="0">
              <a:buNone/>
            </a:pPr>
            <a:r>
              <a:rPr lang="en-US" sz="1800" dirty="0">
                <a:solidFill>
                  <a:srgbClr val="1F2937"/>
                </a:solidFill>
                <a:latin typeface="Liberation Sans" pitchFamily="34" charset="0"/>
                <a:ea typeface="Liberation Sans" pitchFamily="34" charset="-122"/>
                <a:cs typeface="Liberation Sans" pitchFamily="34" charset="-120"/>
              </a:rPr>
              <a:t>longer queue, wasted capacity</a:t>
            </a:r>
            <a:endParaRPr lang="en-US" sz="1800" dirty="0"/>
          </a:p>
        </p:txBody>
      </p:sp>
      <p:sp>
        <p:nvSpPr>
          <p:cNvPr id="20" name="Shape 18"/>
          <p:cNvSpPr/>
          <p:nvPr/>
        </p:nvSpPr>
        <p:spPr>
          <a:xfrm>
            <a:off x="1234440" y="4983480"/>
            <a:ext cx="9738360" cy="658368"/>
          </a:xfrm>
          <a:prstGeom prst="roundRect">
            <a:avLst/>
          </a:prstGeom>
          <a:solidFill>
            <a:srgbClr val="2C6EAF">
              <a:alpha val="7000"/>
            </a:srgbClr>
          </a:solidFill>
          <a:ln w="12700">
            <a:solidFill>
              <a:srgbClr val="2C6EAF">
                <a:alpha val="0"/>
              </a:srgbClr>
            </a:solidFill>
            <a:prstDash val="solid"/>
          </a:ln>
        </p:spPr>
      </p:sp>
      <p:sp>
        <p:nvSpPr>
          <p:cNvPr id="21" name="Text 19"/>
          <p:cNvSpPr/>
          <p:nvPr/>
        </p:nvSpPr>
        <p:spPr>
          <a:xfrm>
            <a:off x="1554480" y="5148072"/>
            <a:ext cx="9098280" cy="310896"/>
          </a:xfrm>
          <a:prstGeom prst="rect">
            <a:avLst/>
          </a:prstGeom>
          <a:noFill/>
          <a:ln/>
        </p:spPr>
        <p:txBody>
          <a:bodyPr wrap="square" lIns="0" tIns="0" rIns="0" bIns="0" rtlCol="0" anchor="ctr">
            <a:normAutofit/>
          </a:bodyPr>
          <a:lstStyle/>
          <a:p>
            <a:pPr algn="ctr" indent="0" marL="0">
              <a:buNone/>
            </a:pPr>
            <a:r>
              <a:rPr lang="en-US" sz="1700" b="1" dirty="0">
                <a:solidFill>
                  <a:srgbClr val="2C6EAF"/>
                </a:solidFill>
                <a:latin typeface="Liberation Mono" pitchFamily="34" charset="0"/>
                <a:ea typeface="Liberation Mono" pitchFamily="34" charset="-122"/>
                <a:cs typeface="Liberation Mono" pitchFamily="34" charset="-120"/>
              </a:rPr>
              <a:t>Use sacct MaxRSS and representative benchmarks to size memory requests.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6. Disk space and I/O are different questions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Capacity asks “how much?”; I/O asks “how fast and in what pattern?”</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3</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7 / 14</a:t>
            </a:r>
            <a:endParaRPr lang="en-US" sz="900" dirty="0"/>
          </a:p>
        </p:txBody>
      </p:sp>
      <p:sp>
        <p:nvSpPr>
          <p:cNvPr id="7" name="Shape 5"/>
          <p:cNvSpPr/>
          <p:nvPr/>
        </p:nvSpPr>
        <p:spPr>
          <a:xfrm>
            <a:off x="411480" y="6510528"/>
            <a:ext cx="502920" cy="27432"/>
          </a:xfrm>
          <a:prstGeom prst="rect">
            <a:avLst/>
          </a:prstGeom>
          <a:solidFill>
            <a:srgbClr val="D15B47"/>
          </a:solidFill>
          <a:ln w="12700">
            <a:solidFill>
              <a:srgbClr val="D15B47">
                <a:alpha val="0"/>
              </a:srgbClr>
            </a:solidFill>
            <a:prstDash val="solid"/>
          </a:ln>
        </p:spPr>
      </p:sp>
      <p:sp>
        <p:nvSpPr>
          <p:cNvPr id="8" name="Shape 6"/>
          <p:cNvSpPr/>
          <p:nvPr/>
        </p:nvSpPr>
        <p:spPr>
          <a:xfrm>
            <a:off x="594360" y="1325880"/>
            <a:ext cx="2542032" cy="3611880"/>
          </a:xfrm>
          <a:prstGeom prst="roundRect">
            <a:avLst>
              <a:gd name="adj" fmla="val 2878"/>
            </a:avLst>
          </a:prstGeom>
          <a:solidFill>
            <a:srgbClr val="FFFFFF"/>
          </a:solidFill>
          <a:ln w="12700">
            <a:solidFill>
              <a:srgbClr val="D7E0E7"/>
            </a:solidFill>
            <a:prstDash val="solid"/>
          </a:ln>
        </p:spPr>
      </p:sp>
      <p:sp>
        <p:nvSpPr>
          <p:cNvPr id="9" name="Shape 7"/>
          <p:cNvSpPr/>
          <p:nvPr/>
        </p:nvSpPr>
        <p:spPr>
          <a:xfrm>
            <a:off x="594360" y="1325880"/>
            <a:ext cx="64008" cy="3611880"/>
          </a:xfrm>
          <a:prstGeom prst="rect">
            <a:avLst/>
          </a:prstGeom>
          <a:solidFill>
            <a:srgbClr val="2C6EAF"/>
          </a:solidFill>
          <a:ln w="12700">
            <a:solidFill>
              <a:srgbClr val="2C6EAF">
                <a:alpha val="0"/>
              </a:srgbClr>
            </a:solidFill>
            <a:prstDash val="solid"/>
          </a:ln>
        </p:spPr>
      </p:sp>
      <p:sp>
        <p:nvSpPr>
          <p:cNvPr id="10" name="Text 8"/>
          <p:cNvSpPr/>
          <p:nvPr/>
        </p:nvSpPr>
        <p:spPr>
          <a:xfrm>
            <a:off x="795528" y="147218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Capacity</a:t>
            </a:r>
            <a:endParaRPr lang="en-US" sz="1700" dirty="0"/>
          </a:p>
        </p:txBody>
      </p:sp>
      <p:sp>
        <p:nvSpPr>
          <p:cNvPr id="11" name="Text 9"/>
          <p:cNvSpPr/>
          <p:nvPr/>
        </p:nvSpPr>
        <p:spPr>
          <a:xfrm>
            <a:off x="795528" y="1856232"/>
            <a:ext cx="2194560" cy="295351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GB / TB</a:t>
            </a:r>
            <a:endParaRPr lang="en-US" sz="1600" dirty="0"/>
          </a:p>
          <a:p>
            <a:pPr algn="l" indent="0" marL="0">
              <a:buNone/>
            </a:pPr>
            <a:endParaRPr lang="en-US" sz="1600" dirty="0"/>
          </a:p>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How much can be stored?</a:t>
            </a:r>
            <a:endParaRPr lang="en-US" sz="1600" dirty="0"/>
          </a:p>
        </p:txBody>
      </p:sp>
      <p:sp>
        <p:nvSpPr>
          <p:cNvPr id="12" name="Shape 10"/>
          <p:cNvSpPr/>
          <p:nvPr/>
        </p:nvSpPr>
        <p:spPr>
          <a:xfrm>
            <a:off x="3474720" y="1325880"/>
            <a:ext cx="2542032" cy="3611880"/>
          </a:xfrm>
          <a:prstGeom prst="roundRect">
            <a:avLst>
              <a:gd name="adj" fmla="val 2878"/>
            </a:avLst>
          </a:prstGeom>
          <a:solidFill>
            <a:srgbClr val="FFFFFF"/>
          </a:solidFill>
          <a:ln w="12700">
            <a:solidFill>
              <a:srgbClr val="D7E0E7"/>
            </a:solidFill>
            <a:prstDash val="solid"/>
          </a:ln>
        </p:spPr>
      </p:sp>
      <p:sp>
        <p:nvSpPr>
          <p:cNvPr id="13" name="Shape 11"/>
          <p:cNvSpPr/>
          <p:nvPr/>
        </p:nvSpPr>
        <p:spPr>
          <a:xfrm>
            <a:off x="3474720" y="1325880"/>
            <a:ext cx="64008" cy="3611880"/>
          </a:xfrm>
          <a:prstGeom prst="rect">
            <a:avLst/>
          </a:prstGeom>
          <a:solidFill>
            <a:srgbClr val="2C6EAF"/>
          </a:solidFill>
          <a:ln w="12700">
            <a:solidFill>
              <a:srgbClr val="2C6EAF">
                <a:alpha val="0"/>
              </a:srgbClr>
            </a:solidFill>
            <a:prstDash val="solid"/>
          </a:ln>
        </p:spPr>
      </p:sp>
      <p:sp>
        <p:nvSpPr>
          <p:cNvPr id="14" name="Text 12"/>
          <p:cNvSpPr/>
          <p:nvPr/>
        </p:nvSpPr>
        <p:spPr>
          <a:xfrm>
            <a:off x="3675888" y="147218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Throughput</a:t>
            </a:r>
            <a:endParaRPr lang="en-US" sz="1700" dirty="0"/>
          </a:p>
        </p:txBody>
      </p:sp>
      <p:sp>
        <p:nvSpPr>
          <p:cNvPr id="15" name="Text 13"/>
          <p:cNvSpPr/>
          <p:nvPr/>
        </p:nvSpPr>
        <p:spPr>
          <a:xfrm>
            <a:off x="3675888" y="1856232"/>
            <a:ext cx="2194560" cy="295351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MB/s or GB/s</a:t>
            </a:r>
            <a:endParaRPr lang="en-US" sz="1600" dirty="0"/>
          </a:p>
          <a:p>
            <a:pPr algn="l" indent="0" marL="0">
              <a:buNone/>
            </a:pPr>
            <a:endParaRPr lang="en-US" sz="1600" dirty="0"/>
          </a:p>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How quickly do long streams move?</a:t>
            </a:r>
            <a:endParaRPr lang="en-US" sz="1600" dirty="0"/>
          </a:p>
        </p:txBody>
      </p:sp>
      <p:sp>
        <p:nvSpPr>
          <p:cNvPr id="16" name="Shape 14"/>
          <p:cNvSpPr/>
          <p:nvPr/>
        </p:nvSpPr>
        <p:spPr>
          <a:xfrm>
            <a:off x="6355080" y="1325880"/>
            <a:ext cx="2542032" cy="3611880"/>
          </a:xfrm>
          <a:prstGeom prst="roundRect">
            <a:avLst>
              <a:gd name="adj" fmla="val 2878"/>
            </a:avLst>
          </a:prstGeom>
          <a:solidFill>
            <a:srgbClr val="FFFFFF"/>
          </a:solidFill>
          <a:ln w="12700">
            <a:solidFill>
              <a:srgbClr val="D7E0E7"/>
            </a:solidFill>
            <a:prstDash val="solid"/>
          </a:ln>
        </p:spPr>
      </p:sp>
      <p:sp>
        <p:nvSpPr>
          <p:cNvPr id="17" name="Shape 15"/>
          <p:cNvSpPr/>
          <p:nvPr/>
        </p:nvSpPr>
        <p:spPr>
          <a:xfrm>
            <a:off x="6355080" y="1325880"/>
            <a:ext cx="64008" cy="3611880"/>
          </a:xfrm>
          <a:prstGeom prst="rect">
            <a:avLst/>
          </a:prstGeom>
          <a:solidFill>
            <a:srgbClr val="D15B47"/>
          </a:solidFill>
          <a:ln w="12700">
            <a:solidFill>
              <a:srgbClr val="D15B47">
                <a:alpha val="0"/>
              </a:srgbClr>
            </a:solidFill>
            <a:prstDash val="solid"/>
          </a:ln>
        </p:spPr>
      </p:sp>
      <p:sp>
        <p:nvSpPr>
          <p:cNvPr id="18" name="Text 16"/>
          <p:cNvSpPr/>
          <p:nvPr/>
        </p:nvSpPr>
        <p:spPr>
          <a:xfrm>
            <a:off x="6556248" y="147218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Latency + IOPS</a:t>
            </a:r>
            <a:endParaRPr lang="en-US" sz="1700" dirty="0"/>
          </a:p>
        </p:txBody>
      </p:sp>
      <p:sp>
        <p:nvSpPr>
          <p:cNvPr id="19" name="Text 17"/>
          <p:cNvSpPr/>
          <p:nvPr/>
        </p:nvSpPr>
        <p:spPr>
          <a:xfrm>
            <a:off x="6556248" y="1856232"/>
            <a:ext cx="2194560" cy="295351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ms + ops/s</a:t>
            </a:r>
            <a:endParaRPr lang="en-US" sz="1600" dirty="0"/>
          </a:p>
          <a:p>
            <a:pPr algn="l" indent="0" marL="0">
              <a:buNone/>
            </a:pPr>
            <a:endParaRPr lang="en-US" sz="1600" dirty="0"/>
          </a:p>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How costly are small random operations?</a:t>
            </a:r>
            <a:endParaRPr lang="en-US" sz="1600" dirty="0"/>
          </a:p>
        </p:txBody>
      </p:sp>
      <p:sp>
        <p:nvSpPr>
          <p:cNvPr id="20" name="Shape 18"/>
          <p:cNvSpPr/>
          <p:nvPr/>
        </p:nvSpPr>
        <p:spPr>
          <a:xfrm>
            <a:off x="9235440" y="1325880"/>
            <a:ext cx="2542032" cy="3611880"/>
          </a:xfrm>
          <a:prstGeom prst="roundRect">
            <a:avLst>
              <a:gd name="adj" fmla="val 2878"/>
            </a:avLst>
          </a:prstGeom>
          <a:solidFill>
            <a:srgbClr val="FFFFFF"/>
          </a:solidFill>
          <a:ln w="12700">
            <a:solidFill>
              <a:srgbClr val="D7E0E7"/>
            </a:solidFill>
            <a:prstDash val="solid"/>
          </a:ln>
        </p:spPr>
      </p:sp>
      <p:sp>
        <p:nvSpPr>
          <p:cNvPr id="21" name="Shape 19"/>
          <p:cNvSpPr/>
          <p:nvPr/>
        </p:nvSpPr>
        <p:spPr>
          <a:xfrm>
            <a:off x="9235440" y="1325880"/>
            <a:ext cx="64008" cy="3611880"/>
          </a:xfrm>
          <a:prstGeom prst="rect">
            <a:avLst/>
          </a:prstGeom>
          <a:solidFill>
            <a:srgbClr val="2C6EAF"/>
          </a:solidFill>
          <a:ln w="12700">
            <a:solidFill>
              <a:srgbClr val="2C6EAF">
                <a:alpha val="0"/>
              </a:srgbClr>
            </a:solidFill>
            <a:prstDash val="solid"/>
          </a:ln>
        </p:spPr>
      </p:sp>
      <p:sp>
        <p:nvSpPr>
          <p:cNvPr id="22" name="Text 20"/>
          <p:cNvSpPr/>
          <p:nvPr/>
        </p:nvSpPr>
        <p:spPr>
          <a:xfrm>
            <a:off x="9436608" y="147218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Metadata</a:t>
            </a:r>
            <a:endParaRPr lang="en-US" sz="1700" dirty="0"/>
          </a:p>
        </p:txBody>
      </p:sp>
      <p:sp>
        <p:nvSpPr>
          <p:cNvPr id="23" name="Text 21"/>
          <p:cNvSpPr/>
          <p:nvPr/>
        </p:nvSpPr>
        <p:spPr>
          <a:xfrm>
            <a:off x="9436608" y="1856232"/>
            <a:ext cx="2194560" cy="295351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creates / stats / lists</a:t>
            </a:r>
            <a:endParaRPr lang="en-US" sz="1600" dirty="0"/>
          </a:p>
          <a:p>
            <a:pPr algn="l" indent="0" marL="0">
              <a:buNone/>
            </a:pPr>
            <a:endParaRPr lang="en-US" sz="1600" dirty="0"/>
          </a:p>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How many paths are being managed?</a:t>
            </a:r>
            <a:endParaRPr lang="en-US" sz="1600" dirty="0"/>
          </a:p>
        </p:txBody>
      </p:sp>
      <p:sp>
        <p:nvSpPr>
          <p:cNvPr id="24" name="Text 22"/>
          <p:cNvSpPr/>
          <p:nvPr/>
        </p:nvSpPr>
        <p:spPr>
          <a:xfrm>
            <a:off x="1874520" y="5349240"/>
            <a:ext cx="8458200" cy="347472"/>
          </a:xfrm>
          <a:prstGeom prst="rect">
            <a:avLst/>
          </a:prstGeom>
          <a:noFill/>
          <a:ln/>
        </p:spPr>
        <p:txBody>
          <a:bodyPr wrap="square" lIns="0" tIns="0" rIns="0" bIns="0" rtlCol="0" anchor="ctr">
            <a:normAutofit/>
          </a:bodyPr>
          <a:lstStyle/>
          <a:p>
            <a:pPr algn="ctr" indent="0" marL="0">
              <a:buNone/>
            </a:pPr>
            <a:r>
              <a:rPr lang="en-US" sz="1900" b="1" dirty="0">
                <a:solidFill>
                  <a:srgbClr val="17324D"/>
                </a:solidFill>
                <a:latin typeface="Liberation Sans" pitchFamily="34" charset="0"/>
                <a:ea typeface="Liberation Sans" pitchFamily="34" charset="-122"/>
                <a:cs typeface="Liberation Sans" pitchFamily="34" charset="-120"/>
              </a:rPr>
              <a:t>A storage system can have plenty of free space and still be the bottleneck.</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7. Streaming versus random I/O</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Long sequential reads are efficient; tiny scattered accesses are expensive</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3</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8 / 14</a:t>
            </a:r>
            <a:endParaRPr lang="en-US" sz="900" dirty="0"/>
          </a:p>
        </p:txBody>
      </p:sp>
      <p:sp>
        <p:nvSpPr>
          <p:cNvPr id="7" name="Shape 5"/>
          <p:cNvSpPr/>
          <p:nvPr/>
        </p:nvSpPr>
        <p:spPr>
          <a:xfrm>
            <a:off x="411480" y="6510528"/>
            <a:ext cx="502920" cy="27432"/>
          </a:xfrm>
          <a:prstGeom prst="rect">
            <a:avLst/>
          </a:prstGeom>
          <a:solidFill>
            <a:srgbClr val="D15B47"/>
          </a:solidFill>
          <a:ln w="12700">
            <a:solidFill>
              <a:srgbClr val="D15B47">
                <a:alpha val="0"/>
              </a:srgbClr>
            </a:solidFill>
            <a:prstDash val="solid"/>
          </a:ln>
        </p:spPr>
      </p:sp>
      <p:sp>
        <p:nvSpPr>
          <p:cNvPr id="8" name="Shape 6"/>
          <p:cNvSpPr/>
          <p:nvPr/>
        </p:nvSpPr>
        <p:spPr>
          <a:xfrm>
            <a:off x="685800" y="1325880"/>
            <a:ext cx="5166360" cy="4069080"/>
          </a:xfrm>
          <a:prstGeom prst="roundRect">
            <a:avLst>
              <a:gd name="adj" fmla="val 1798"/>
            </a:avLst>
          </a:prstGeom>
          <a:solidFill>
            <a:srgbClr val="F7FCF9"/>
          </a:solidFill>
          <a:ln w="12700">
            <a:solidFill>
              <a:srgbClr val="D7E0E7"/>
            </a:solidFill>
            <a:prstDash val="solid"/>
          </a:ln>
        </p:spPr>
      </p:sp>
      <p:sp>
        <p:nvSpPr>
          <p:cNvPr id="9" name="Shape 7"/>
          <p:cNvSpPr/>
          <p:nvPr/>
        </p:nvSpPr>
        <p:spPr>
          <a:xfrm>
            <a:off x="685800" y="1325880"/>
            <a:ext cx="64008" cy="4069080"/>
          </a:xfrm>
          <a:prstGeom prst="rect">
            <a:avLst/>
          </a:prstGeom>
          <a:solidFill>
            <a:srgbClr val="3A8D63"/>
          </a:solidFill>
          <a:ln w="12700">
            <a:solidFill>
              <a:srgbClr val="3A8D63">
                <a:alpha val="0"/>
              </a:srgbClr>
            </a:solidFill>
            <a:prstDash val="solid"/>
          </a:ln>
        </p:spPr>
      </p:sp>
      <p:sp>
        <p:nvSpPr>
          <p:cNvPr id="10" name="Text 8"/>
          <p:cNvSpPr/>
          <p:nvPr/>
        </p:nvSpPr>
        <p:spPr>
          <a:xfrm>
            <a:off x="886968" y="1472184"/>
            <a:ext cx="48188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STREAMING I/O</a:t>
            </a:r>
            <a:endParaRPr lang="en-US" sz="1700" dirty="0"/>
          </a:p>
        </p:txBody>
      </p:sp>
      <p:sp>
        <p:nvSpPr>
          <p:cNvPr id="11" name="Text 9"/>
          <p:cNvSpPr/>
          <p:nvPr/>
        </p:nvSpPr>
        <p:spPr>
          <a:xfrm>
            <a:off x="886968" y="1856232"/>
            <a:ext cx="4818888" cy="341071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a:t>
            </a:r>
            <a:endParaRPr lang="en-US" sz="1700" dirty="0"/>
          </a:p>
          <a:p>
            <a:pPr algn="l" indent="0" marL="0">
              <a:buNone/>
            </a:pP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One long read or write</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High throughput</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Efficient prefetch and compression</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Good fit for FASTQ scans and large outputs</a:t>
            </a:r>
            <a:endParaRPr lang="en-US" sz="1700" dirty="0"/>
          </a:p>
        </p:txBody>
      </p:sp>
      <p:sp>
        <p:nvSpPr>
          <p:cNvPr id="12" name="Shape 10"/>
          <p:cNvSpPr/>
          <p:nvPr/>
        </p:nvSpPr>
        <p:spPr>
          <a:xfrm>
            <a:off x="6336792" y="1325880"/>
            <a:ext cx="5166360" cy="4069080"/>
          </a:xfrm>
          <a:prstGeom prst="roundRect">
            <a:avLst>
              <a:gd name="adj" fmla="val 1798"/>
            </a:avLst>
          </a:prstGeom>
          <a:solidFill>
            <a:srgbClr val="FFF9F8"/>
          </a:solidFill>
          <a:ln w="12700">
            <a:solidFill>
              <a:srgbClr val="D7E0E7"/>
            </a:solidFill>
            <a:prstDash val="solid"/>
          </a:ln>
        </p:spPr>
      </p:sp>
      <p:sp>
        <p:nvSpPr>
          <p:cNvPr id="13" name="Shape 11"/>
          <p:cNvSpPr/>
          <p:nvPr/>
        </p:nvSpPr>
        <p:spPr>
          <a:xfrm>
            <a:off x="6336792" y="1325880"/>
            <a:ext cx="64008" cy="4069080"/>
          </a:xfrm>
          <a:prstGeom prst="rect">
            <a:avLst/>
          </a:prstGeom>
          <a:solidFill>
            <a:srgbClr val="B23B3B"/>
          </a:solidFill>
          <a:ln w="12700">
            <a:solidFill>
              <a:srgbClr val="B23B3B">
                <a:alpha val="0"/>
              </a:srgbClr>
            </a:solidFill>
            <a:prstDash val="solid"/>
          </a:ln>
        </p:spPr>
      </p:sp>
      <p:sp>
        <p:nvSpPr>
          <p:cNvPr id="14" name="Text 12"/>
          <p:cNvSpPr/>
          <p:nvPr/>
        </p:nvSpPr>
        <p:spPr>
          <a:xfrm>
            <a:off x="6537960" y="1472184"/>
            <a:ext cx="481888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RANDOM / SMALL I/O</a:t>
            </a:r>
            <a:endParaRPr lang="en-US" sz="1700" dirty="0"/>
          </a:p>
        </p:txBody>
      </p:sp>
      <p:sp>
        <p:nvSpPr>
          <p:cNvPr id="15" name="Text 13"/>
          <p:cNvSpPr/>
          <p:nvPr/>
        </p:nvSpPr>
        <p:spPr>
          <a:xfrm>
            <a:off x="6537960" y="1856232"/>
            <a:ext cx="4818888" cy="3410712"/>
          </a:xfrm>
          <a:prstGeom prst="rect">
            <a:avLst/>
          </a:prstGeom>
          <a:noFill/>
          <a:ln/>
        </p:spPr>
        <p:txBody>
          <a:bodyPr wrap="square" lIns="0" tIns="0" rIns="0" bIns="0" rtlCol="0" anchor="t">
            <a:normAutofit/>
          </a:bodyPr>
          <a:lstStyle/>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   █ █    █  █</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  ↕   ↕ ↕    ↕  ↕</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Many seeks, opens, stats, and closes</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Latency and metadata dominate</a:t>
            </a:r>
            <a:endParaRPr lang="en-US" sz="1700" dirty="0"/>
          </a:p>
          <a:p>
            <a:pPr algn="l" indent="0" marL="0">
              <a:buNone/>
            </a:pPr>
            <a:r>
              <a:rPr lang="en-US" sz="1700" dirty="0">
                <a:solidFill>
                  <a:srgbClr val="1F2937"/>
                </a:solidFill>
                <a:latin typeface="Liberation Sans" pitchFamily="34" charset="0"/>
                <a:ea typeface="Liberation Sans" pitchFamily="34" charset="-122"/>
                <a:cs typeface="Liberation Sans" pitchFamily="34" charset="-120"/>
              </a:rPr>
              <a:t>Poor fit for network temporary work</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8. Large files, small files, and crowded directories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File count can be more expensive than byte count</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3</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9 / 14</a:t>
            </a:r>
            <a:endParaRPr lang="en-US" sz="900" dirty="0"/>
          </a:p>
        </p:txBody>
      </p:sp>
      <p:sp>
        <p:nvSpPr>
          <p:cNvPr id="7" name="Shape 5"/>
          <p:cNvSpPr/>
          <p:nvPr/>
        </p:nvSpPr>
        <p:spPr>
          <a:xfrm>
            <a:off x="411480" y="6510528"/>
            <a:ext cx="502920" cy="27432"/>
          </a:xfrm>
          <a:prstGeom prst="rect">
            <a:avLst/>
          </a:prstGeom>
          <a:solidFill>
            <a:srgbClr val="D15B47"/>
          </a:solidFill>
          <a:ln w="12700">
            <a:solidFill>
              <a:srgbClr val="D15B47">
                <a:alpha val="0"/>
              </a:srgbClr>
            </a:solidFill>
            <a:prstDash val="solid"/>
          </a:ln>
        </p:spPr>
      </p:sp>
      <p:sp>
        <p:nvSpPr>
          <p:cNvPr id="8" name="Shape 6"/>
          <p:cNvSpPr/>
          <p:nvPr/>
        </p:nvSpPr>
        <p:spPr>
          <a:xfrm>
            <a:off x="594360" y="1325880"/>
            <a:ext cx="5394960" cy="4343400"/>
          </a:xfrm>
          <a:prstGeom prst="roundRect">
            <a:avLst/>
          </a:prstGeom>
          <a:solidFill>
            <a:srgbClr val="FFF9F8"/>
          </a:solidFill>
          <a:ln w="15240">
            <a:solidFill>
              <a:srgbClr val="B23B3B"/>
            </a:solidFill>
            <a:prstDash val="solid"/>
          </a:ln>
        </p:spPr>
      </p:sp>
      <p:sp>
        <p:nvSpPr>
          <p:cNvPr id="9" name="Text 7"/>
          <p:cNvSpPr/>
          <p:nvPr/>
        </p:nvSpPr>
        <p:spPr>
          <a:xfrm>
            <a:off x="914400" y="1600200"/>
            <a:ext cx="4754880" cy="320040"/>
          </a:xfrm>
          <a:prstGeom prst="rect">
            <a:avLst/>
          </a:prstGeom>
          <a:noFill/>
          <a:ln/>
        </p:spPr>
        <p:txBody>
          <a:bodyPr wrap="square" lIns="0" tIns="0" rIns="0" bIns="0" rtlCol="0" anchor="ctr">
            <a:normAutofit/>
          </a:bodyPr>
          <a:lstStyle/>
          <a:p>
            <a:pPr algn="ctr" indent="0" marL="0">
              <a:buNone/>
            </a:pPr>
            <a:r>
              <a:rPr lang="en-US" sz="2000" b="1" dirty="0">
                <a:solidFill>
                  <a:srgbClr val="B23B3B"/>
                </a:solidFill>
                <a:latin typeface="Liberation Sans" pitchFamily="34" charset="0"/>
                <a:ea typeface="Liberation Sans" pitchFamily="34" charset="-122"/>
                <a:cs typeface="Liberation Sans" pitchFamily="34" charset="-120"/>
              </a:rPr>
              <a:t>CROWDED DIRECTORY</a:t>
            </a:r>
            <a:endParaRPr lang="en-US" sz="2000" dirty="0"/>
          </a:p>
        </p:txBody>
      </p:sp>
      <p:sp>
        <p:nvSpPr>
          <p:cNvPr id="10" name="Shape 8"/>
          <p:cNvSpPr/>
          <p:nvPr/>
        </p:nvSpPr>
        <p:spPr>
          <a:xfrm>
            <a:off x="914400" y="2148840"/>
            <a:ext cx="201168" cy="164592"/>
          </a:xfrm>
          <a:prstGeom prst="rect">
            <a:avLst/>
          </a:prstGeom>
          <a:solidFill>
            <a:srgbClr val="B23B3B">
              <a:alpha val="45000"/>
            </a:srgbClr>
          </a:solidFill>
          <a:ln w="6350">
            <a:solidFill>
              <a:srgbClr val="B23B3B">
                <a:alpha val="50000"/>
              </a:srgbClr>
            </a:solidFill>
            <a:prstDash val="solid"/>
          </a:ln>
        </p:spPr>
      </p:sp>
      <p:sp>
        <p:nvSpPr>
          <p:cNvPr id="11" name="Shape 9"/>
          <p:cNvSpPr/>
          <p:nvPr/>
        </p:nvSpPr>
        <p:spPr>
          <a:xfrm>
            <a:off x="1271016" y="2148840"/>
            <a:ext cx="201168" cy="164592"/>
          </a:xfrm>
          <a:prstGeom prst="rect">
            <a:avLst/>
          </a:prstGeom>
          <a:solidFill>
            <a:srgbClr val="B23B3B">
              <a:alpha val="45000"/>
            </a:srgbClr>
          </a:solidFill>
          <a:ln w="6350">
            <a:solidFill>
              <a:srgbClr val="B23B3B">
                <a:alpha val="50000"/>
              </a:srgbClr>
            </a:solidFill>
            <a:prstDash val="solid"/>
          </a:ln>
        </p:spPr>
      </p:sp>
      <p:sp>
        <p:nvSpPr>
          <p:cNvPr id="12" name="Shape 10"/>
          <p:cNvSpPr/>
          <p:nvPr/>
        </p:nvSpPr>
        <p:spPr>
          <a:xfrm>
            <a:off x="1627632" y="2148840"/>
            <a:ext cx="201168" cy="164592"/>
          </a:xfrm>
          <a:prstGeom prst="rect">
            <a:avLst/>
          </a:prstGeom>
          <a:solidFill>
            <a:srgbClr val="B23B3B">
              <a:alpha val="45000"/>
            </a:srgbClr>
          </a:solidFill>
          <a:ln w="6350">
            <a:solidFill>
              <a:srgbClr val="B23B3B">
                <a:alpha val="50000"/>
              </a:srgbClr>
            </a:solidFill>
            <a:prstDash val="solid"/>
          </a:ln>
        </p:spPr>
      </p:sp>
      <p:sp>
        <p:nvSpPr>
          <p:cNvPr id="13" name="Shape 11"/>
          <p:cNvSpPr/>
          <p:nvPr/>
        </p:nvSpPr>
        <p:spPr>
          <a:xfrm>
            <a:off x="1984248" y="2148840"/>
            <a:ext cx="201168" cy="164592"/>
          </a:xfrm>
          <a:prstGeom prst="rect">
            <a:avLst/>
          </a:prstGeom>
          <a:solidFill>
            <a:srgbClr val="B23B3B">
              <a:alpha val="45000"/>
            </a:srgbClr>
          </a:solidFill>
          <a:ln w="6350">
            <a:solidFill>
              <a:srgbClr val="B23B3B">
                <a:alpha val="50000"/>
              </a:srgbClr>
            </a:solidFill>
            <a:prstDash val="solid"/>
          </a:ln>
        </p:spPr>
      </p:sp>
      <p:sp>
        <p:nvSpPr>
          <p:cNvPr id="14" name="Shape 12"/>
          <p:cNvSpPr/>
          <p:nvPr/>
        </p:nvSpPr>
        <p:spPr>
          <a:xfrm>
            <a:off x="2340864" y="2148840"/>
            <a:ext cx="201168" cy="164592"/>
          </a:xfrm>
          <a:prstGeom prst="rect">
            <a:avLst/>
          </a:prstGeom>
          <a:solidFill>
            <a:srgbClr val="B23B3B">
              <a:alpha val="45000"/>
            </a:srgbClr>
          </a:solidFill>
          <a:ln w="6350">
            <a:solidFill>
              <a:srgbClr val="B23B3B">
                <a:alpha val="50000"/>
              </a:srgbClr>
            </a:solidFill>
            <a:prstDash val="solid"/>
          </a:ln>
        </p:spPr>
      </p:sp>
      <p:sp>
        <p:nvSpPr>
          <p:cNvPr id="15" name="Shape 13"/>
          <p:cNvSpPr/>
          <p:nvPr/>
        </p:nvSpPr>
        <p:spPr>
          <a:xfrm>
            <a:off x="2697480" y="2148840"/>
            <a:ext cx="201168" cy="164592"/>
          </a:xfrm>
          <a:prstGeom prst="rect">
            <a:avLst/>
          </a:prstGeom>
          <a:solidFill>
            <a:srgbClr val="B23B3B">
              <a:alpha val="45000"/>
            </a:srgbClr>
          </a:solidFill>
          <a:ln w="6350">
            <a:solidFill>
              <a:srgbClr val="B23B3B">
                <a:alpha val="50000"/>
              </a:srgbClr>
            </a:solidFill>
            <a:prstDash val="solid"/>
          </a:ln>
        </p:spPr>
      </p:sp>
      <p:sp>
        <p:nvSpPr>
          <p:cNvPr id="16" name="Shape 14"/>
          <p:cNvSpPr/>
          <p:nvPr/>
        </p:nvSpPr>
        <p:spPr>
          <a:xfrm>
            <a:off x="3054096" y="2148840"/>
            <a:ext cx="201168" cy="164592"/>
          </a:xfrm>
          <a:prstGeom prst="rect">
            <a:avLst/>
          </a:prstGeom>
          <a:solidFill>
            <a:srgbClr val="B23B3B">
              <a:alpha val="45000"/>
            </a:srgbClr>
          </a:solidFill>
          <a:ln w="6350">
            <a:solidFill>
              <a:srgbClr val="B23B3B">
                <a:alpha val="50000"/>
              </a:srgbClr>
            </a:solidFill>
            <a:prstDash val="solid"/>
          </a:ln>
        </p:spPr>
      </p:sp>
      <p:sp>
        <p:nvSpPr>
          <p:cNvPr id="17" name="Shape 15"/>
          <p:cNvSpPr/>
          <p:nvPr/>
        </p:nvSpPr>
        <p:spPr>
          <a:xfrm>
            <a:off x="3410712" y="2148840"/>
            <a:ext cx="201168" cy="164592"/>
          </a:xfrm>
          <a:prstGeom prst="rect">
            <a:avLst/>
          </a:prstGeom>
          <a:solidFill>
            <a:srgbClr val="B23B3B">
              <a:alpha val="45000"/>
            </a:srgbClr>
          </a:solidFill>
          <a:ln w="6350">
            <a:solidFill>
              <a:srgbClr val="B23B3B">
                <a:alpha val="50000"/>
              </a:srgbClr>
            </a:solidFill>
            <a:prstDash val="solid"/>
          </a:ln>
        </p:spPr>
      </p:sp>
      <p:sp>
        <p:nvSpPr>
          <p:cNvPr id="18" name="Shape 16"/>
          <p:cNvSpPr/>
          <p:nvPr/>
        </p:nvSpPr>
        <p:spPr>
          <a:xfrm>
            <a:off x="3767328" y="2148840"/>
            <a:ext cx="201168" cy="164592"/>
          </a:xfrm>
          <a:prstGeom prst="rect">
            <a:avLst/>
          </a:prstGeom>
          <a:solidFill>
            <a:srgbClr val="B23B3B">
              <a:alpha val="45000"/>
            </a:srgbClr>
          </a:solidFill>
          <a:ln w="6350">
            <a:solidFill>
              <a:srgbClr val="B23B3B">
                <a:alpha val="50000"/>
              </a:srgbClr>
            </a:solidFill>
            <a:prstDash val="solid"/>
          </a:ln>
        </p:spPr>
      </p:sp>
      <p:sp>
        <p:nvSpPr>
          <p:cNvPr id="19" name="Shape 17"/>
          <p:cNvSpPr/>
          <p:nvPr/>
        </p:nvSpPr>
        <p:spPr>
          <a:xfrm>
            <a:off x="4123944" y="2148840"/>
            <a:ext cx="201168" cy="164592"/>
          </a:xfrm>
          <a:prstGeom prst="rect">
            <a:avLst/>
          </a:prstGeom>
          <a:solidFill>
            <a:srgbClr val="B23B3B">
              <a:alpha val="45000"/>
            </a:srgbClr>
          </a:solidFill>
          <a:ln w="6350">
            <a:solidFill>
              <a:srgbClr val="B23B3B">
                <a:alpha val="50000"/>
              </a:srgbClr>
            </a:solidFill>
            <a:prstDash val="solid"/>
          </a:ln>
        </p:spPr>
      </p:sp>
      <p:sp>
        <p:nvSpPr>
          <p:cNvPr id="20" name="Shape 18"/>
          <p:cNvSpPr/>
          <p:nvPr/>
        </p:nvSpPr>
        <p:spPr>
          <a:xfrm>
            <a:off x="4480560" y="2148840"/>
            <a:ext cx="201168" cy="164592"/>
          </a:xfrm>
          <a:prstGeom prst="rect">
            <a:avLst/>
          </a:prstGeom>
          <a:solidFill>
            <a:srgbClr val="B23B3B">
              <a:alpha val="45000"/>
            </a:srgbClr>
          </a:solidFill>
          <a:ln w="6350">
            <a:solidFill>
              <a:srgbClr val="B23B3B">
                <a:alpha val="50000"/>
              </a:srgbClr>
            </a:solidFill>
            <a:prstDash val="solid"/>
          </a:ln>
        </p:spPr>
      </p:sp>
      <p:sp>
        <p:nvSpPr>
          <p:cNvPr id="21" name="Shape 19"/>
          <p:cNvSpPr/>
          <p:nvPr/>
        </p:nvSpPr>
        <p:spPr>
          <a:xfrm>
            <a:off x="4837176" y="2148840"/>
            <a:ext cx="201168" cy="164592"/>
          </a:xfrm>
          <a:prstGeom prst="rect">
            <a:avLst/>
          </a:prstGeom>
          <a:solidFill>
            <a:srgbClr val="B23B3B">
              <a:alpha val="45000"/>
            </a:srgbClr>
          </a:solidFill>
          <a:ln w="6350">
            <a:solidFill>
              <a:srgbClr val="B23B3B">
                <a:alpha val="50000"/>
              </a:srgbClr>
            </a:solidFill>
            <a:prstDash val="solid"/>
          </a:ln>
        </p:spPr>
      </p:sp>
      <p:sp>
        <p:nvSpPr>
          <p:cNvPr id="22" name="Shape 20"/>
          <p:cNvSpPr/>
          <p:nvPr/>
        </p:nvSpPr>
        <p:spPr>
          <a:xfrm>
            <a:off x="914400" y="2487168"/>
            <a:ext cx="201168" cy="164592"/>
          </a:xfrm>
          <a:prstGeom prst="rect">
            <a:avLst/>
          </a:prstGeom>
          <a:solidFill>
            <a:srgbClr val="B23B3B">
              <a:alpha val="45000"/>
            </a:srgbClr>
          </a:solidFill>
          <a:ln w="6350">
            <a:solidFill>
              <a:srgbClr val="B23B3B">
                <a:alpha val="50000"/>
              </a:srgbClr>
            </a:solidFill>
            <a:prstDash val="solid"/>
          </a:ln>
        </p:spPr>
      </p:sp>
      <p:sp>
        <p:nvSpPr>
          <p:cNvPr id="23" name="Shape 21"/>
          <p:cNvSpPr/>
          <p:nvPr/>
        </p:nvSpPr>
        <p:spPr>
          <a:xfrm>
            <a:off x="1271016" y="2487168"/>
            <a:ext cx="201168" cy="164592"/>
          </a:xfrm>
          <a:prstGeom prst="rect">
            <a:avLst/>
          </a:prstGeom>
          <a:solidFill>
            <a:srgbClr val="B23B3B">
              <a:alpha val="45000"/>
            </a:srgbClr>
          </a:solidFill>
          <a:ln w="6350">
            <a:solidFill>
              <a:srgbClr val="B23B3B">
                <a:alpha val="50000"/>
              </a:srgbClr>
            </a:solidFill>
            <a:prstDash val="solid"/>
          </a:ln>
        </p:spPr>
      </p:sp>
      <p:sp>
        <p:nvSpPr>
          <p:cNvPr id="24" name="Shape 22"/>
          <p:cNvSpPr/>
          <p:nvPr/>
        </p:nvSpPr>
        <p:spPr>
          <a:xfrm>
            <a:off x="1627632" y="2487168"/>
            <a:ext cx="201168" cy="164592"/>
          </a:xfrm>
          <a:prstGeom prst="rect">
            <a:avLst/>
          </a:prstGeom>
          <a:solidFill>
            <a:srgbClr val="B23B3B">
              <a:alpha val="45000"/>
            </a:srgbClr>
          </a:solidFill>
          <a:ln w="6350">
            <a:solidFill>
              <a:srgbClr val="B23B3B">
                <a:alpha val="50000"/>
              </a:srgbClr>
            </a:solidFill>
            <a:prstDash val="solid"/>
          </a:ln>
        </p:spPr>
      </p:sp>
      <p:sp>
        <p:nvSpPr>
          <p:cNvPr id="25" name="Shape 23"/>
          <p:cNvSpPr/>
          <p:nvPr/>
        </p:nvSpPr>
        <p:spPr>
          <a:xfrm>
            <a:off x="1984248" y="2487168"/>
            <a:ext cx="201168" cy="164592"/>
          </a:xfrm>
          <a:prstGeom prst="rect">
            <a:avLst/>
          </a:prstGeom>
          <a:solidFill>
            <a:srgbClr val="B23B3B">
              <a:alpha val="45000"/>
            </a:srgbClr>
          </a:solidFill>
          <a:ln w="6350">
            <a:solidFill>
              <a:srgbClr val="B23B3B">
                <a:alpha val="50000"/>
              </a:srgbClr>
            </a:solidFill>
            <a:prstDash val="solid"/>
          </a:ln>
        </p:spPr>
      </p:sp>
      <p:sp>
        <p:nvSpPr>
          <p:cNvPr id="26" name="Shape 24"/>
          <p:cNvSpPr/>
          <p:nvPr/>
        </p:nvSpPr>
        <p:spPr>
          <a:xfrm>
            <a:off x="2340864" y="2487168"/>
            <a:ext cx="201168" cy="164592"/>
          </a:xfrm>
          <a:prstGeom prst="rect">
            <a:avLst/>
          </a:prstGeom>
          <a:solidFill>
            <a:srgbClr val="B23B3B">
              <a:alpha val="45000"/>
            </a:srgbClr>
          </a:solidFill>
          <a:ln w="6350">
            <a:solidFill>
              <a:srgbClr val="B23B3B">
                <a:alpha val="50000"/>
              </a:srgbClr>
            </a:solidFill>
            <a:prstDash val="solid"/>
          </a:ln>
        </p:spPr>
      </p:sp>
      <p:sp>
        <p:nvSpPr>
          <p:cNvPr id="27" name="Shape 25"/>
          <p:cNvSpPr/>
          <p:nvPr/>
        </p:nvSpPr>
        <p:spPr>
          <a:xfrm>
            <a:off x="2697480" y="2487168"/>
            <a:ext cx="201168" cy="164592"/>
          </a:xfrm>
          <a:prstGeom prst="rect">
            <a:avLst/>
          </a:prstGeom>
          <a:solidFill>
            <a:srgbClr val="B23B3B">
              <a:alpha val="45000"/>
            </a:srgbClr>
          </a:solidFill>
          <a:ln w="6350">
            <a:solidFill>
              <a:srgbClr val="B23B3B">
                <a:alpha val="50000"/>
              </a:srgbClr>
            </a:solidFill>
            <a:prstDash val="solid"/>
          </a:ln>
        </p:spPr>
      </p:sp>
      <p:sp>
        <p:nvSpPr>
          <p:cNvPr id="28" name="Shape 26"/>
          <p:cNvSpPr/>
          <p:nvPr/>
        </p:nvSpPr>
        <p:spPr>
          <a:xfrm>
            <a:off x="3054096" y="2487168"/>
            <a:ext cx="201168" cy="164592"/>
          </a:xfrm>
          <a:prstGeom prst="rect">
            <a:avLst/>
          </a:prstGeom>
          <a:solidFill>
            <a:srgbClr val="B23B3B">
              <a:alpha val="45000"/>
            </a:srgbClr>
          </a:solidFill>
          <a:ln w="6350">
            <a:solidFill>
              <a:srgbClr val="B23B3B">
                <a:alpha val="50000"/>
              </a:srgbClr>
            </a:solidFill>
            <a:prstDash val="solid"/>
          </a:ln>
        </p:spPr>
      </p:sp>
      <p:sp>
        <p:nvSpPr>
          <p:cNvPr id="29" name="Shape 27"/>
          <p:cNvSpPr/>
          <p:nvPr/>
        </p:nvSpPr>
        <p:spPr>
          <a:xfrm>
            <a:off x="3410712" y="2487168"/>
            <a:ext cx="201168" cy="164592"/>
          </a:xfrm>
          <a:prstGeom prst="rect">
            <a:avLst/>
          </a:prstGeom>
          <a:solidFill>
            <a:srgbClr val="B23B3B">
              <a:alpha val="45000"/>
            </a:srgbClr>
          </a:solidFill>
          <a:ln w="6350">
            <a:solidFill>
              <a:srgbClr val="B23B3B">
                <a:alpha val="50000"/>
              </a:srgbClr>
            </a:solidFill>
            <a:prstDash val="solid"/>
          </a:ln>
        </p:spPr>
      </p:sp>
      <p:sp>
        <p:nvSpPr>
          <p:cNvPr id="30" name="Shape 28"/>
          <p:cNvSpPr/>
          <p:nvPr/>
        </p:nvSpPr>
        <p:spPr>
          <a:xfrm>
            <a:off x="3767328" y="2487168"/>
            <a:ext cx="201168" cy="164592"/>
          </a:xfrm>
          <a:prstGeom prst="rect">
            <a:avLst/>
          </a:prstGeom>
          <a:solidFill>
            <a:srgbClr val="B23B3B">
              <a:alpha val="45000"/>
            </a:srgbClr>
          </a:solidFill>
          <a:ln w="6350">
            <a:solidFill>
              <a:srgbClr val="B23B3B">
                <a:alpha val="50000"/>
              </a:srgbClr>
            </a:solidFill>
            <a:prstDash val="solid"/>
          </a:ln>
        </p:spPr>
      </p:sp>
      <p:sp>
        <p:nvSpPr>
          <p:cNvPr id="31" name="Shape 29"/>
          <p:cNvSpPr/>
          <p:nvPr/>
        </p:nvSpPr>
        <p:spPr>
          <a:xfrm>
            <a:off x="4123944" y="2487168"/>
            <a:ext cx="201168" cy="164592"/>
          </a:xfrm>
          <a:prstGeom prst="rect">
            <a:avLst/>
          </a:prstGeom>
          <a:solidFill>
            <a:srgbClr val="B23B3B">
              <a:alpha val="45000"/>
            </a:srgbClr>
          </a:solidFill>
          <a:ln w="6350">
            <a:solidFill>
              <a:srgbClr val="B23B3B">
                <a:alpha val="50000"/>
              </a:srgbClr>
            </a:solidFill>
            <a:prstDash val="solid"/>
          </a:ln>
        </p:spPr>
      </p:sp>
      <p:sp>
        <p:nvSpPr>
          <p:cNvPr id="32" name="Shape 30"/>
          <p:cNvSpPr/>
          <p:nvPr/>
        </p:nvSpPr>
        <p:spPr>
          <a:xfrm>
            <a:off x="4480560" y="2487168"/>
            <a:ext cx="201168" cy="164592"/>
          </a:xfrm>
          <a:prstGeom prst="rect">
            <a:avLst/>
          </a:prstGeom>
          <a:solidFill>
            <a:srgbClr val="B23B3B">
              <a:alpha val="45000"/>
            </a:srgbClr>
          </a:solidFill>
          <a:ln w="6350">
            <a:solidFill>
              <a:srgbClr val="B23B3B">
                <a:alpha val="50000"/>
              </a:srgbClr>
            </a:solidFill>
            <a:prstDash val="solid"/>
          </a:ln>
        </p:spPr>
      </p:sp>
      <p:sp>
        <p:nvSpPr>
          <p:cNvPr id="33" name="Shape 31"/>
          <p:cNvSpPr/>
          <p:nvPr/>
        </p:nvSpPr>
        <p:spPr>
          <a:xfrm>
            <a:off x="4837176" y="2487168"/>
            <a:ext cx="201168" cy="164592"/>
          </a:xfrm>
          <a:prstGeom prst="rect">
            <a:avLst/>
          </a:prstGeom>
          <a:solidFill>
            <a:srgbClr val="B23B3B">
              <a:alpha val="45000"/>
            </a:srgbClr>
          </a:solidFill>
          <a:ln w="6350">
            <a:solidFill>
              <a:srgbClr val="B23B3B">
                <a:alpha val="50000"/>
              </a:srgbClr>
            </a:solidFill>
            <a:prstDash val="solid"/>
          </a:ln>
        </p:spPr>
      </p:sp>
      <p:sp>
        <p:nvSpPr>
          <p:cNvPr id="34" name="Shape 32"/>
          <p:cNvSpPr/>
          <p:nvPr/>
        </p:nvSpPr>
        <p:spPr>
          <a:xfrm>
            <a:off x="914400" y="2825496"/>
            <a:ext cx="201168" cy="164592"/>
          </a:xfrm>
          <a:prstGeom prst="rect">
            <a:avLst/>
          </a:prstGeom>
          <a:solidFill>
            <a:srgbClr val="B23B3B">
              <a:alpha val="45000"/>
            </a:srgbClr>
          </a:solidFill>
          <a:ln w="6350">
            <a:solidFill>
              <a:srgbClr val="B23B3B">
                <a:alpha val="50000"/>
              </a:srgbClr>
            </a:solidFill>
            <a:prstDash val="solid"/>
          </a:ln>
        </p:spPr>
      </p:sp>
      <p:sp>
        <p:nvSpPr>
          <p:cNvPr id="35" name="Shape 33"/>
          <p:cNvSpPr/>
          <p:nvPr/>
        </p:nvSpPr>
        <p:spPr>
          <a:xfrm>
            <a:off x="1271016" y="2825496"/>
            <a:ext cx="201168" cy="164592"/>
          </a:xfrm>
          <a:prstGeom prst="rect">
            <a:avLst/>
          </a:prstGeom>
          <a:solidFill>
            <a:srgbClr val="B23B3B">
              <a:alpha val="45000"/>
            </a:srgbClr>
          </a:solidFill>
          <a:ln w="6350">
            <a:solidFill>
              <a:srgbClr val="B23B3B">
                <a:alpha val="50000"/>
              </a:srgbClr>
            </a:solidFill>
            <a:prstDash val="solid"/>
          </a:ln>
        </p:spPr>
      </p:sp>
      <p:sp>
        <p:nvSpPr>
          <p:cNvPr id="36" name="Shape 34"/>
          <p:cNvSpPr/>
          <p:nvPr/>
        </p:nvSpPr>
        <p:spPr>
          <a:xfrm>
            <a:off x="1627632" y="2825496"/>
            <a:ext cx="201168" cy="164592"/>
          </a:xfrm>
          <a:prstGeom prst="rect">
            <a:avLst/>
          </a:prstGeom>
          <a:solidFill>
            <a:srgbClr val="B23B3B">
              <a:alpha val="45000"/>
            </a:srgbClr>
          </a:solidFill>
          <a:ln w="6350">
            <a:solidFill>
              <a:srgbClr val="B23B3B">
                <a:alpha val="50000"/>
              </a:srgbClr>
            </a:solidFill>
            <a:prstDash val="solid"/>
          </a:ln>
        </p:spPr>
      </p:sp>
      <p:sp>
        <p:nvSpPr>
          <p:cNvPr id="37" name="Shape 35"/>
          <p:cNvSpPr/>
          <p:nvPr/>
        </p:nvSpPr>
        <p:spPr>
          <a:xfrm>
            <a:off x="1984248" y="2825496"/>
            <a:ext cx="201168" cy="164592"/>
          </a:xfrm>
          <a:prstGeom prst="rect">
            <a:avLst/>
          </a:prstGeom>
          <a:solidFill>
            <a:srgbClr val="B23B3B">
              <a:alpha val="45000"/>
            </a:srgbClr>
          </a:solidFill>
          <a:ln w="6350">
            <a:solidFill>
              <a:srgbClr val="B23B3B">
                <a:alpha val="50000"/>
              </a:srgbClr>
            </a:solidFill>
            <a:prstDash val="solid"/>
          </a:ln>
        </p:spPr>
      </p:sp>
      <p:sp>
        <p:nvSpPr>
          <p:cNvPr id="38" name="Shape 36"/>
          <p:cNvSpPr/>
          <p:nvPr/>
        </p:nvSpPr>
        <p:spPr>
          <a:xfrm>
            <a:off x="2340864" y="2825496"/>
            <a:ext cx="201168" cy="164592"/>
          </a:xfrm>
          <a:prstGeom prst="rect">
            <a:avLst/>
          </a:prstGeom>
          <a:solidFill>
            <a:srgbClr val="B23B3B">
              <a:alpha val="45000"/>
            </a:srgbClr>
          </a:solidFill>
          <a:ln w="6350">
            <a:solidFill>
              <a:srgbClr val="B23B3B">
                <a:alpha val="50000"/>
              </a:srgbClr>
            </a:solidFill>
            <a:prstDash val="solid"/>
          </a:ln>
        </p:spPr>
      </p:sp>
      <p:sp>
        <p:nvSpPr>
          <p:cNvPr id="39" name="Shape 37"/>
          <p:cNvSpPr/>
          <p:nvPr/>
        </p:nvSpPr>
        <p:spPr>
          <a:xfrm>
            <a:off x="2697480" y="2825496"/>
            <a:ext cx="201168" cy="164592"/>
          </a:xfrm>
          <a:prstGeom prst="rect">
            <a:avLst/>
          </a:prstGeom>
          <a:solidFill>
            <a:srgbClr val="B23B3B">
              <a:alpha val="45000"/>
            </a:srgbClr>
          </a:solidFill>
          <a:ln w="6350">
            <a:solidFill>
              <a:srgbClr val="B23B3B">
                <a:alpha val="50000"/>
              </a:srgbClr>
            </a:solidFill>
            <a:prstDash val="solid"/>
          </a:ln>
        </p:spPr>
      </p:sp>
      <p:sp>
        <p:nvSpPr>
          <p:cNvPr id="40" name="Shape 38"/>
          <p:cNvSpPr/>
          <p:nvPr/>
        </p:nvSpPr>
        <p:spPr>
          <a:xfrm>
            <a:off x="3054096" y="2825496"/>
            <a:ext cx="201168" cy="164592"/>
          </a:xfrm>
          <a:prstGeom prst="rect">
            <a:avLst/>
          </a:prstGeom>
          <a:solidFill>
            <a:srgbClr val="B23B3B">
              <a:alpha val="45000"/>
            </a:srgbClr>
          </a:solidFill>
          <a:ln w="6350">
            <a:solidFill>
              <a:srgbClr val="B23B3B">
                <a:alpha val="50000"/>
              </a:srgbClr>
            </a:solidFill>
            <a:prstDash val="solid"/>
          </a:ln>
        </p:spPr>
      </p:sp>
      <p:sp>
        <p:nvSpPr>
          <p:cNvPr id="41" name="Shape 39"/>
          <p:cNvSpPr/>
          <p:nvPr/>
        </p:nvSpPr>
        <p:spPr>
          <a:xfrm>
            <a:off x="3410712" y="2825496"/>
            <a:ext cx="201168" cy="164592"/>
          </a:xfrm>
          <a:prstGeom prst="rect">
            <a:avLst/>
          </a:prstGeom>
          <a:solidFill>
            <a:srgbClr val="B23B3B">
              <a:alpha val="45000"/>
            </a:srgbClr>
          </a:solidFill>
          <a:ln w="6350">
            <a:solidFill>
              <a:srgbClr val="B23B3B">
                <a:alpha val="50000"/>
              </a:srgbClr>
            </a:solidFill>
            <a:prstDash val="solid"/>
          </a:ln>
        </p:spPr>
      </p:sp>
      <p:sp>
        <p:nvSpPr>
          <p:cNvPr id="42" name="Shape 40"/>
          <p:cNvSpPr/>
          <p:nvPr/>
        </p:nvSpPr>
        <p:spPr>
          <a:xfrm>
            <a:off x="3767328" y="2825496"/>
            <a:ext cx="201168" cy="164592"/>
          </a:xfrm>
          <a:prstGeom prst="rect">
            <a:avLst/>
          </a:prstGeom>
          <a:solidFill>
            <a:srgbClr val="B23B3B">
              <a:alpha val="45000"/>
            </a:srgbClr>
          </a:solidFill>
          <a:ln w="6350">
            <a:solidFill>
              <a:srgbClr val="B23B3B">
                <a:alpha val="50000"/>
              </a:srgbClr>
            </a:solidFill>
            <a:prstDash val="solid"/>
          </a:ln>
        </p:spPr>
      </p:sp>
      <p:sp>
        <p:nvSpPr>
          <p:cNvPr id="43" name="Shape 41"/>
          <p:cNvSpPr/>
          <p:nvPr/>
        </p:nvSpPr>
        <p:spPr>
          <a:xfrm>
            <a:off x="4123944" y="2825496"/>
            <a:ext cx="201168" cy="164592"/>
          </a:xfrm>
          <a:prstGeom prst="rect">
            <a:avLst/>
          </a:prstGeom>
          <a:solidFill>
            <a:srgbClr val="B23B3B">
              <a:alpha val="45000"/>
            </a:srgbClr>
          </a:solidFill>
          <a:ln w="6350">
            <a:solidFill>
              <a:srgbClr val="B23B3B">
                <a:alpha val="50000"/>
              </a:srgbClr>
            </a:solidFill>
            <a:prstDash val="solid"/>
          </a:ln>
        </p:spPr>
      </p:sp>
      <p:sp>
        <p:nvSpPr>
          <p:cNvPr id="44" name="Shape 42"/>
          <p:cNvSpPr/>
          <p:nvPr/>
        </p:nvSpPr>
        <p:spPr>
          <a:xfrm>
            <a:off x="4480560" y="2825496"/>
            <a:ext cx="201168" cy="164592"/>
          </a:xfrm>
          <a:prstGeom prst="rect">
            <a:avLst/>
          </a:prstGeom>
          <a:solidFill>
            <a:srgbClr val="B23B3B">
              <a:alpha val="45000"/>
            </a:srgbClr>
          </a:solidFill>
          <a:ln w="6350">
            <a:solidFill>
              <a:srgbClr val="B23B3B">
                <a:alpha val="50000"/>
              </a:srgbClr>
            </a:solidFill>
            <a:prstDash val="solid"/>
          </a:ln>
        </p:spPr>
      </p:sp>
      <p:sp>
        <p:nvSpPr>
          <p:cNvPr id="45" name="Shape 43"/>
          <p:cNvSpPr/>
          <p:nvPr/>
        </p:nvSpPr>
        <p:spPr>
          <a:xfrm>
            <a:off x="4837176" y="2825496"/>
            <a:ext cx="201168" cy="164592"/>
          </a:xfrm>
          <a:prstGeom prst="rect">
            <a:avLst/>
          </a:prstGeom>
          <a:solidFill>
            <a:srgbClr val="B23B3B">
              <a:alpha val="45000"/>
            </a:srgbClr>
          </a:solidFill>
          <a:ln w="6350">
            <a:solidFill>
              <a:srgbClr val="B23B3B">
                <a:alpha val="50000"/>
              </a:srgbClr>
            </a:solidFill>
            <a:prstDash val="solid"/>
          </a:ln>
        </p:spPr>
      </p:sp>
      <p:sp>
        <p:nvSpPr>
          <p:cNvPr id="46" name="Shape 44"/>
          <p:cNvSpPr/>
          <p:nvPr/>
        </p:nvSpPr>
        <p:spPr>
          <a:xfrm>
            <a:off x="914400" y="3163824"/>
            <a:ext cx="201168" cy="164592"/>
          </a:xfrm>
          <a:prstGeom prst="rect">
            <a:avLst/>
          </a:prstGeom>
          <a:solidFill>
            <a:srgbClr val="B23B3B">
              <a:alpha val="45000"/>
            </a:srgbClr>
          </a:solidFill>
          <a:ln w="6350">
            <a:solidFill>
              <a:srgbClr val="B23B3B">
                <a:alpha val="50000"/>
              </a:srgbClr>
            </a:solidFill>
            <a:prstDash val="solid"/>
          </a:ln>
        </p:spPr>
      </p:sp>
      <p:sp>
        <p:nvSpPr>
          <p:cNvPr id="47" name="Shape 45"/>
          <p:cNvSpPr/>
          <p:nvPr/>
        </p:nvSpPr>
        <p:spPr>
          <a:xfrm>
            <a:off x="1271016" y="3163824"/>
            <a:ext cx="201168" cy="164592"/>
          </a:xfrm>
          <a:prstGeom prst="rect">
            <a:avLst/>
          </a:prstGeom>
          <a:solidFill>
            <a:srgbClr val="B23B3B">
              <a:alpha val="45000"/>
            </a:srgbClr>
          </a:solidFill>
          <a:ln w="6350">
            <a:solidFill>
              <a:srgbClr val="B23B3B">
                <a:alpha val="50000"/>
              </a:srgbClr>
            </a:solidFill>
            <a:prstDash val="solid"/>
          </a:ln>
        </p:spPr>
      </p:sp>
      <p:sp>
        <p:nvSpPr>
          <p:cNvPr id="48" name="Shape 46"/>
          <p:cNvSpPr/>
          <p:nvPr/>
        </p:nvSpPr>
        <p:spPr>
          <a:xfrm>
            <a:off x="1627632" y="3163824"/>
            <a:ext cx="201168" cy="164592"/>
          </a:xfrm>
          <a:prstGeom prst="rect">
            <a:avLst/>
          </a:prstGeom>
          <a:solidFill>
            <a:srgbClr val="B23B3B">
              <a:alpha val="45000"/>
            </a:srgbClr>
          </a:solidFill>
          <a:ln w="6350">
            <a:solidFill>
              <a:srgbClr val="B23B3B">
                <a:alpha val="50000"/>
              </a:srgbClr>
            </a:solidFill>
            <a:prstDash val="solid"/>
          </a:ln>
        </p:spPr>
      </p:sp>
      <p:sp>
        <p:nvSpPr>
          <p:cNvPr id="49" name="Shape 47"/>
          <p:cNvSpPr/>
          <p:nvPr/>
        </p:nvSpPr>
        <p:spPr>
          <a:xfrm>
            <a:off x="1984248" y="3163824"/>
            <a:ext cx="201168" cy="164592"/>
          </a:xfrm>
          <a:prstGeom prst="rect">
            <a:avLst/>
          </a:prstGeom>
          <a:solidFill>
            <a:srgbClr val="B23B3B">
              <a:alpha val="45000"/>
            </a:srgbClr>
          </a:solidFill>
          <a:ln w="6350">
            <a:solidFill>
              <a:srgbClr val="B23B3B">
                <a:alpha val="50000"/>
              </a:srgbClr>
            </a:solidFill>
            <a:prstDash val="solid"/>
          </a:ln>
        </p:spPr>
      </p:sp>
      <p:sp>
        <p:nvSpPr>
          <p:cNvPr id="50" name="Shape 48"/>
          <p:cNvSpPr/>
          <p:nvPr/>
        </p:nvSpPr>
        <p:spPr>
          <a:xfrm>
            <a:off x="2340864" y="3163824"/>
            <a:ext cx="201168" cy="164592"/>
          </a:xfrm>
          <a:prstGeom prst="rect">
            <a:avLst/>
          </a:prstGeom>
          <a:solidFill>
            <a:srgbClr val="B23B3B">
              <a:alpha val="45000"/>
            </a:srgbClr>
          </a:solidFill>
          <a:ln w="6350">
            <a:solidFill>
              <a:srgbClr val="B23B3B">
                <a:alpha val="50000"/>
              </a:srgbClr>
            </a:solidFill>
            <a:prstDash val="solid"/>
          </a:ln>
        </p:spPr>
      </p:sp>
      <p:sp>
        <p:nvSpPr>
          <p:cNvPr id="51" name="Shape 49"/>
          <p:cNvSpPr/>
          <p:nvPr/>
        </p:nvSpPr>
        <p:spPr>
          <a:xfrm>
            <a:off x="2697480" y="3163824"/>
            <a:ext cx="201168" cy="164592"/>
          </a:xfrm>
          <a:prstGeom prst="rect">
            <a:avLst/>
          </a:prstGeom>
          <a:solidFill>
            <a:srgbClr val="B23B3B">
              <a:alpha val="45000"/>
            </a:srgbClr>
          </a:solidFill>
          <a:ln w="6350">
            <a:solidFill>
              <a:srgbClr val="B23B3B">
                <a:alpha val="50000"/>
              </a:srgbClr>
            </a:solidFill>
            <a:prstDash val="solid"/>
          </a:ln>
        </p:spPr>
      </p:sp>
      <p:sp>
        <p:nvSpPr>
          <p:cNvPr id="52" name="Shape 50"/>
          <p:cNvSpPr/>
          <p:nvPr/>
        </p:nvSpPr>
        <p:spPr>
          <a:xfrm>
            <a:off x="3054096" y="3163824"/>
            <a:ext cx="201168" cy="164592"/>
          </a:xfrm>
          <a:prstGeom prst="rect">
            <a:avLst/>
          </a:prstGeom>
          <a:solidFill>
            <a:srgbClr val="B23B3B">
              <a:alpha val="45000"/>
            </a:srgbClr>
          </a:solidFill>
          <a:ln w="6350">
            <a:solidFill>
              <a:srgbClr val="B23B3B">
                <a:alpha val="50000"/>
              </a:srgbClr>
            </a:solidFill>
            <a:prstDash val="solid"/>
          </a:ln>
        </p:spPr>
      </p:sp>
      <p:sp>
        <p:nvSpPr>
          <p:cNvPr id="53" name="Shape 51"/>
          <p:cNvSpPr/>
          <p:nvPr/>
        </p:nvSpPr>
        <p:spPr>
          <a:xfrm>
            <a:off x="3410712" y="3163824"/>
            <a:ext cx="201168" cy="164592"/>
          </a:xfrm>
          <a:prstGeom prst="rect">
            <a:avLst/>
          </a:prstGeom>
          <a:solidFill>
            <a:srgbClr val="B23B3B">
              <a:alpha val="45000"/>
            </a:srgbClr>
          </a:solidFill>
          <a:ln w="6350">
            <a:solidFill>
              <a:srgbClr val="B23B3B">
                <a:alpha val="50000"/>
              </a:srgbClr>
            </a:solidFill>
            <a:prstDash val="solid"/>
          </a:ln>
        </p:spPr>
      </p:sp>
      <p:sp>
        <p:nvSpPr>
          <p:cNvPr id="54" name="Shape 52"/>
          <p:cNvSpPr/>
          <p:nvPr/>
        </p:nvSpPr>
        <p:spPr>
          <a:xfrm>
            <a:off x="3767328" y="3163824"/>
            <a:ext cx="201168" cy="164592"/>
          </a:xfrm>
          <a:prstGeom prst="rect">
            <a:avLst/>
          </a:prstGeom>
          <a:solidFill>
            <a:srgbClr val="B23B3B">
              <a:alpha val="45000"/>
            </a:srgbClr>
          </a:solidFill>
          <a:ln w="6350">
            <a:solidFill>
              <a:srgbClr val="B23B3B">
                <a:alpha val="50000"/>
              </a:srgbClr>
            </a:solidFill>
            <a:prstDash val="solid"/>
          </a:ln>
        </p:spPr>
      </p:sp>
      <p:sp>
        <p:nvSpPr>
          <p:cNvPr id="55" name="Shape 53"/>
          <p:cNvSpPr/>
          <p:nvPr/>
        </p:nvSpPr>
        <p:spPr>
          <a:xfrm>
            <a:off x="4123944" y="3163824"/>
            <a:ext cx="201168" cy="164592"/>
          </a:xfrm>
          <a:prstGeom prst="rect">
            <a:avLst/>
          </a:prstGeom>
          <a:solidFill>
            <a:srgbClr val="B23B3B">
              <a:alpha val="45000"/>
            </a:srgbClr>
          </a:solidFill>
          <a:ln w="6350">
            <a:solidFill>
              <a:srgbClr val="B23B3B">
                <a:alpha val="50000"/>
              </a:srgbClr>
            </a:solidFill>
            <a:prstDash val="solid"/>
          </a:ln>
        </p:spPr>
      </p:sp>
      <p:sp>
        <p:nvSpPr>
          <p:cNvPr id="56" name="Shape 54"/>
          <p:cNvSpPr/>
          <p:nvPr/>
        </p:nvSpPr>
        <p:spPr>
          <a:xfrm>
            <a:off x="4480560" y="3163824"/>
            <a:ext cx="201168" cy="164592"/>
          </a:xfrm>
          <a:prstGeom prst="rect">
            <a:avLst/>
          </a:prstGeom>
          <a:solidFill>
            <a:srgbClr val="B23B3B">
              <a:alpha val="45000"/>
            </a:srgbClr>
          </a:solidFill>
          <a:ln w="6350">
            <a:solidFill>
              <a:srgbClr val="B23B3B">
                <a:alpha val="50000"/>
              </a:srgbClr>
            </a:solidFill>
            <a:prstDash val="solid"/>
          </a:ln>
        </p:spPr>
      </p:sp>
      <p:sp>
        <p:nvSpPr>
          <p:cNvPr id="57" name="Shape 55"/>
          <p:cNvSpPr/>
          <p:nvPr/>
        </p:nvSpPr>
        <p:spPr>
          <a:xfrm>
            <a:off x="4837176" y="3163824"/>
            <a:ext cx="201168" cy="164592"/>
          </a:xfrm>
          <a:prstGeom prst="rect">
            <a:avLst/>
          </a:prstGeom>
          <a:solidFill>
            <a:srgbClr val="B23B3B">
              <a:alpha val="45000"/>
            </a:srgbClr>
          </a:solidFill>
          <a:ln w="6350">
            <a:solidFill>
              <a:srgbClr val="B23B3B">
                <a:alpha val="50000"/>
              </a:srgbClr>
            </a:solidFill>
            <a:prstDash val="solid"/>
          </a:ln>
        </p:spPr>
      </p:sp>
      <p:sp>
        <p:nvSpPr>
          <p:cNvPr id="58" name="Shape 56"/>
          <p:cNvSpPr/>
          <p:nvPr/>
        </p:nvSpPr>
        <p:spPr>
          <a:xfrm>
            <a:off x="914400" y="3502152"/>
            <a:ext cx="201168" cy="164592"/>
          </a:xfrm>
          <a:prstGeom prst="rect">
            <a:avLst/>
          </a:prstGeom>
          <a:solidFill>
            <a:srgbClr val="B23B3B">
              <a:alpha val="45000"/>
            </a:srgbClr>
          </a:solidFill>
          <a:ln w="6350">
            <a:solidFill>
              <a:srgbClr val="B23B3B">
                <a:alpha val="50000"/>
              </a:srgbClr>
            </a:solidFill>
            <a:prstDash val="solid"/>
          </a:ln>
        </p:spPr>
      </p:sp>
      <p:sp>
        <p:nvSpPr>
          <p:cNvPr id="59" name="Shape 57"/>
          <p:cNvSpPr/>
          <p:nvPr/>
        </p:nvSpPr>
        <p:spPr>
          <a:xfrm>
            <a:off x="1271016" y="3502152"/>
            <a:ext cx="201168" cy="164592"/>
          </a:xfrm>
          <a:prstGeom prst="rect">
            <a:avLst/>
          </a:prstGeom>
          <a:solidFill>
            <a:srgbClr val="B23B3B">
              <a:alpha val="45000"/>
            </a:srgbClr>
          </a:solidFill>
          <a:ln w="6350">
            <a:solidFill>
              <a:srgbClr val="B23B3B">
                <a:alpha val="50000"/>
              </a:srgbClr>
            </a:solidFill>
            <a:prstDash val="solid"/>
          </a:ln>
        </p:spPr>
      </p:sp>
      <p:sp>
        <p:nvSpPr>
          <p:cNvPr id="60" name="Shape 58"/>
          <p:cNvSpPr/>
          <p:nvPr/>
        </p:nvSpPr>
        <p:spPr>
          <a:xfrm>
            <a:off x="1627632" y="3502152"/>
            <a:ext cx="201168" cy="164592"/>
          </a:xfrm>
          <a:prstGeom prst="rect">
            <a:avLst/>
          </a:prstGeom>
          <a:solidFill>
            <a:srgbClr val="B23B3B">
              <a:alpha val="45000"/>
            </a:srgbClr>
          </a:solidFill>
          <a:ln w="6350">
            <a:solidFill>
              <a:srgbClr val="B23B3B">
                <a:alpha val="50000"/>
              </a:srgbClr>
            </a:solidFill>
            <a:prstDash val="solid"/>
          </a:ln>
        </p:spPr>
      </p:sp>
      <p:sp>
        <p:nvSpPr>
          <p:cNvPr id="61" name="Shape 59"/>
          <p:cNvSpPr/>
          <p:nvPr/>
        </p:nvSpPr>
        <p:spPr>
          <a:xfrm>
            <a:off x="1984248" y="3502152"/>
            <a:ext cx="201168" cy="164592"/>
          </a:xfrm>
          <a:prstGeom prst="rect">
            <a:avLst/>
          </a:prstGeom>
          <a:solidFill>
            <a:srgbClr val="B23B3B">
              <a:alpha val="45000"/>
            </a:srgbClr>
          </a:solidFill>
          <a:ln w="6350">
            <a:solidFill>
              <a:srgbClr val="B23B3B">
                <a:alpha val="50000"/>
              </a:srgbClr>
            </a:solidFill>
            <a:prstDash val="solid"/>
          </a:ln>
        </p:spPr>
      </p:sp>
      <p:sp>
        <p:nvSpPr>
          <p:cNvPr id="62" name="Shape 60"/>
          <p:cNvSpPr/>
          <p:nvPr/>
        </p:nvSpPr>
        <p:spPr>
          <a:xfrm>
            <a:off x="2340864" y="3502152"/>
            <a:ext cx="201168" cy="164592"/>
          </a:xfrm>
          <a:prstGeom prst="rect">
            <a:avLst/>
          </a:prstGeom>
          <a:solidFill>
            <a:srgbClr val="B23B3B">
              <a:alpha val="45000"/>
            </a:srgbClr>
          </a:solidFill>
          <a:ln w="6350">
            <a:solidFill>
              <a:srgbClr val="B23B3B">
                <a:alpha val="50000"/>
              </a:srgbClr>
            </a:solidFill>
            <a:prstDash val="solid"/>
          </a:ln>
        </p:spPr>
      </p:sp>
      <p:sp>
        <p:nvSpPr>
          <p:cNvPr id="63" name="Shape 61"/>
          <p:cNvSpPr/>
          <p:nvPr/>
        </p:nvSpPr>
        <p:spPr>
          <a:xfrm>
            <a:off x="2697480" y="3502152"/>
            <a:ext cx="201168" cy="164592"/>
          </a:xfrm>
          <a:prstGeom prst="rect">
            <a:avLst/>
          </a:prstGeom>
          <a:solidFill>
            <a:srgbClr val="B23B3B">
              <a:alpha val="45000"/>
            </a:srgbClr>
          </a:solidFill>
          <a:ln w="6350">
            <a:solidFill>
              <a:srgbClr val="B23B3B">
                <a:alpha val="50000"/>
              </a:srgbClr>
            </a:solidFill>
            <a:prstDash val="solid"/>
          </a:ln>
        </p:spPr>
      </p:sp>
      <p:sp>
        <p:nvSpPr>
          <p:cNvPr id="64" name="Shape 62"/>
          <p:cNvSpPr/>
          <p:nvPr/>
        </p:nvSpPr>
        <p:spPr>
          <a:xfrm>
            <a:off x="3054096" y="3502152"/>
            <a:ext cx="201168" cy="164592"/>
          </a:xfrm>
          <a:prstGeom prst="rect">
            <a:avLst/>
          </a:prstGeom>
          <a:solidFill>
            <a:srgbClr val="B23B3B">
              <a:alpha val="45000"/>
            </a:srgbClr>
          </a:solidFill>
          <a:ln w="6350">
            <a:solidFill>
              <a:srgbClr val="B23B3B">
                <a:alpha val="50000"/>
              </a:srgbClr>
            </a:solidFill>
            <a:prstDash val="solid"/>
          </a:ln>
        </p:spPr>
      </p:sp>
      <p:sp>
        <p:nvSpPr>
          <p:cNvPr id="65" name="Shape 63"/>
          <p:cNvSpPr/>
          <p:nvPr/>
        </p:nvSpPr>
        <p:spPr>
          <a:xfrm>
            <a:off x="3410712" y="3502152"/>
            <a:ext cx="201168" cy="164592"/>
          </a:xfrm>
          <a:prstGeom prst="rect">
            <a:avLst/>
          </a:prstGeom>
          <a:solidFill>
            <a:srgbClr val="B23B3B">
              <a:alpha val="45000"/>
            </a:srgbClr>
          </a:solidFill>
          <a:ln w="6350">
            <a:solidFill>
              <a:srgbClr val="B23B3B">
                <a:alpha val="50000"/>
              </a:srgbClr>
            </a:solidFill>
            <a:prstDash val="solid"/>
          </a:ln>
        </p:spPr>
      </p:sp>
      <p:sp>
        <p:nvSpPr>
          <p:cNvPr id="66" name="Shape 64"/>
          <p:cNvSpPr/>
          <p:nvPr/>
        </p:nvSpPr>
        <p:spPr>
          <a:xfrm>
            <a:off x="3767328" y="3502152"/>
            <a:ext cx="201168" cy="164592"/>
          </a:xfrm>
          <a:prstGeom prst="rect">
            <a:avLst/>
          </a:prstGeom>
          <a:solidFill>
            <a:srgbClr val="B23B3B">
              <a:alpha val="45000"/>
            </a:srgbClr>
          </a:solidFill>
          <a:ln w="6350">
            <a:solidFill>
              <a:srgbClr val="B23B3B">
                <a:alpha val="50000"/>
              </a:srgbClr>
            </a:solidFill>
            <a:prstDash val="solid"/>
          </a:ln>
        </p:spPr>
      </p:sp>
      <p:sp>
        <p:nvSpPr>
          <p:cNvPr id="67" name="Shape 65"/>
          <p:cNvSpPr/>
          <p:nvPr/>
        </p:nvSpPr>
        <p:spPr>
          <a:xfrm>
            <a:off x="4123944" y="3502152"/>
            <a:ext cx="201168" cy="164592"/>
          </a:xfrm>
          <a:prstGeom prst="rect">
            <a:avLst/>
          </a:prstGeom>
          <a:solidFill>
            <a:srgbClr val="B23B3B">
              <a:alpha val="45000"/>
            </a:srgbClr>
          </a:solidFill>
          <a:ln w="6350">
            <a:solidFill>
              <a:srgbClr val="B23B3B">
                <a:alpha val="50000"/>
              </a:srgbClr>
            </a:solidFill>
            <a:prstDash val="solid"/>
          </a:ln>
        </p:spPr>
      </p:sp>
      <p:sp>
        <p:nvSpPr>
          <p:cNvPr id="68" name="Shape 66"/>
          <p:cNvSpPr/>
          <p:nvPr/>
        </p:nvSpPr>
        <p:spPr>
          <a:xfrm>
            <a:off x="4480560" y="3502152"/>
            <a:ext cx="201168" cy="164592"/>
          </a:xfrm>
          <a:prstGeom prst="rect">
            <a:avLst/>
          </a:prstGeom>
          <a:solidFill>
            <a:srgbClr val="B23B3B">
              <a:alpha val="45000"/>
            </a:srgbClr>
          </a:solidFill>
          <a:ln w="6350">
            <a:solidFill>
              <a:srgbClr val="B23B3B">
                <a:alpha val="50000"/>
              </a:srgbClr>
            </a:solidFill>
            <a:prstDash val="solid"/>
          </a:ln>
        </p:spPr>
      </p:sp>
      <p:sp>
        <p:nvSpPr>
          <p:cNvPr id="69" name="Shape 67"/>
          <p:cNvSpPr/>
          <p:nvPr/>
        </p:nvSpPr>
        <p:spPr>
          <a:xfrm>
            <a:off x="4837176" y="3502152"/>
            <a:ext cx="201168" cy="164592"/>
          </a:xfrm>
          <a:prstGeom prst="rect">
            <a:avLst/>
          </a:prstGeom>
          <a:solidFill>
            <a:srgbClr val="B23B3B">
              <a:alpha val="45000"/>
            </a:srgbClr>
          </a:solidFill>
          <a:ln w="6350">
            <a:solidFill>
              <a:srgbClr val="B23B3B">
                <a:alpha val="50000"/>
              </a:srgbClr>
            </a:solidFill>
            <a:prstDash val="solid"/>
          </a:ln>
        </p:spPr>
      </p:sp>
      <p:sp>
        <p:nvSpPr>
          <p:cNvPr id="70" name="Shape 68"/>
          <p:cNvSpPr/>
          <p:nvPr/>
        </p:nvSpPr>
        <p:spPr>
          <a:xfrm>
            <a:off x="914400" y="3840480"/>
            <a:ext cx="201168" cy="164592"/>
          </a:xfrm>
          <a:prstGeom prst="rect">
            <a:avLst/>
          </a:prstGeom>
          <a:solidFill>
            <a:srgbClr val="B23B3B">
              <a:alpha val="45000"/>
            </a:srgbClr>
          </a:solidFill>
          <a:ln w="6350">
            <a:solidFill>
              <a:srgbClr val="B23B3B">
                <a:alpha val="50000"/>
              </a:srgbClr>
            </a:solidFill>
            <a:prstDash val="solid"/>
          </a:ln>
        </p:spPr>
      </p:sp>
      <p:sp>
        <p:nvSpPr>
          <p:cNvPr id="71" name="Shape 69"/>
          <p:cNvSpPr/>
          <p:nvPr/>
        </p:nvSpPr>
        <p:spPr>
          <a:xfrm>
            <a:off x="1271016" y="3840480"/>
            <a:ext cx="201168" cy="164592"/>
          </a:xfrm>
          <a:prstGeom prst="rect">
            <a:avLst/>
          </a:prstGeom>
          <a:solidFill>
            <a:srgbClr val="B23B3B">
              <a:alpha val="45000"/>
            </a:srgbClr>
          </a:solidFill>
          <a:ln w="6350">
            <a:solidFill>
              <a:srgbClr val="B23B3B">
                <a:alpha val="50000"/>
              </a:srgbClr>
            </a:solidFill>
            <a:prstDash val="solid"/>
          </a:ln>
        </p:spPr>
      </p:sp>
      <p:sp>
        <p:nvSpPr>
          <p:cNvPr id="72" name="Shape 70"/>
          <p:cNvSpPr/>
          <p:nvPr/>
        </p:nvSpPr>
        <p:spPr>
          <a:xfrm>
            <a:off x="1627632" y="3840480"/>
            <a:ext cx="201168" cy="164592"/>
          </a:xfrm>
          <a:prstGeom prst="rect">
            <a:avLst/>
          </a:prstGeom>
          <a:solidFill>
            <a:srgbClr val="B23B3B">
              <a:alpha val="45000"/>
            </a:srgbClr>
          </a:solidFill>
          <a:ln w="6350">
            <a:solidFill>
              <a:srgbClr val="B23B3B">
                <a:alpha val="50000"/>
              </a:srgbClr>
            </a:solidFill>
            <a:prstDash val="solid"/>
          </a:ln>
        </p:spPr>
      </p:sp>
      <p:sp>
        <p:nvSpPr>
          <p:cNvPr id="73" name="Shape 71"/>
          <p:cNvSpPr/>
          <p:nvPr/>
        </p:nvSpPr>
        <p:spPr>
          <a:xfrm>
            <a:off x="1984248" y="3840480"/>
            <a:ext cx="201168" cy="164592"/>
          </a:xfrm>
          <a:prstGeom prst="rect">
            <a:avLst/>
          </a:prstGeom>
          <a:solidFill>
            <a:srgbClr val="B23B3B">
              <a:alpha val="45000"/>
            </a:srgbClr>
          </a:solidFill>
          <a:ln w="6350">
            <a:solidFill>
              <a:srgbClr val="B23B3B">
                <a:alpha val="50000"/>
              </a:srgbClr>
            </a:solidFill>
            <a:prstDash val="solid"/>
          </a:ln>
        </p:spPr>
      </p:sp>
      <p:sp>
        <p:nvSpPr>
          <p:cNvPr id="74" name="Shape 72"/>
          <p:cNvSpPr/>
          <p:nvPr/>
        </p:nvSpPr>
        <p:spPr>
          <a:xfrm>
            <a:off x="2340864" y="3840480"/>
            <a:ext cx="201168" cy="164592"/>
          </a:xfrm>
          <a:prstGeom prst="rect">
            <a:avLst/>
          </a:prstGeom>
          <a:solidFill>
            <a:srgbClr val="B23B3B">
              <a:alpha val="45000"/>
            </a:srgbClr>
          </a:solidFill>
          <a:ln w="6350">
            <a:solidFill>
              <a:srgbClr val="B23B3B">
                <a:alpha val="50000"/>
              </a:srgbClr>
            </a:solidFill>
            <a:prstDash val="solid"/>
          </a:ln>
        </p:spPr>
      </p:sp>
      <p:sp>
        <p:nvSpPr>
          <p:cNvPr id="75" name="Shape 73"/>
          <p:cNvSpPr/>
          <p:nvPr/>
        </p:nvSpPr>
        <p:spPr>
          <a:xfrm>
            <a:off x="2697480" y="3840480"/>
            <a:ext cx="201168" cy="164592"/>
          </a:xfrm>
          <a:prstGeom prst="rect">
            <a:avLst/>
          </a:prstGeom>
          <a:solidFill>
            <a:srgbClr val="B23B3B">
              <a:alpha val="45000"/>
            </a:srgbClr>
          </a:solidFill>
          <a:ln w="6350">
            <a:solidFill>
              <a:srgbClr val="B23B3B">
                <a:alpha val="50000"/>
              </a:srgbClr>
            </a:solidFill>
            <a:prstDash val="solid"/>
          </a:ln>
        </p:spPr>
      </p:sp>
      <p:sp>
        <p:nvSpPr>
          <p:cNvPr id="76" name="Shape 74"/>
          <p:cNvSpPr/>
          <p:nvPr/>
        </p:nvSpPr>
        <p:spPr>
          <a:xfrm>
            <a:off x="3054096" y="3840480"/>
            <a:ext cx="201168" cy="164592"/>
          </a:xfrm>
          <a:prstGeom prst="rect">
            <a:avLst/>
          </a:prstGeom>
          <a:solidFill>
            <a:srgbClr val="B23B3B">
              <a:alpha val="45000"/>
            </a:srgbClr>
          </a:solidFill>
          <a:ln w="6350">
            <a:solidFill>
              <a:srgbClr val="B23B3B">
                <a:alpha val="50000"/>
              </a:srgbClr>
            </a:solidFill>
            <a:prstDash val="solid"/>
          </a:ln>
        </p:spPr>
      </p:sp>
      <p:sp>
        <p:nvSpPr>
          <p:cNvPr id="77" name="Shape 75"/>
          <p:cNvSpPr/>
          <p:nvPr/>
        </p:nvSpPr>
        <p:spPr>
          <a:xfrm>
            <a:off x="3410712" y="3840480"/>
            <a:ext cx="201168" cy="164592"/>
          </a:xfrm>
          <a:prstGeom prst="rect">
            <a:avLst/>
          </a:prstGeom>
          <a:solidFill>
            <a:srgbClr val="B23B3B">
              <a:alpha val="45000"/>
            </a:srgbClr>
          </a:solidFill>
          <a:ln w="6350">
            <a:solidFill>
              <a:srgbClr val="B23B3B">
                <a:alpha val="50000"/>
              </a:srgbClr>
            </a:solidFill>
            <a:prstDash val="solid"/>
          </a:ln>
        </p:spPr>
      </p:sp>
      <p:sp>
        <p:nvSpPr>
          <p:cNvPr id="78" name="Shape 76"/>
          <p:cNvSpPr/>
          <p:nvPr/>
        </p:nvSpPr>
        <p:spPr>
          <a:xfrm>
            <a:off x="3767328" y="3840480"/>
            <a:ext cx="201168" cy="164592"/>
          </a:xfrm>
          <a:prstGeom prst="rect">
            <a:avLst/>
          </a:prstGeom>
          <a:solidFill>
            <a:srgbClr val="B23B3B">
              <a:alpha val="45000"/>
            </a:srgbClr>
          </a:solidFill>
          <a:ln w="6350">
            <a:solidFill>
              <a:srgbClr val="B23B3B">
                <a:alpha val="50000"/>
              </a:srgbClr>
            </a:solidFill>
            <a:prstDash val="solid"/>
          </a:ln>
        </p:spPr>
      </p:sp>
      <p:sp>
        <p:nvSpPr>
          <p:cNvPr id="79" name="Shape 77"/>
          <p:cNvSpPr/>
          <p:nvPr/>
        </p:nvSpPr>
        <p:spPr>
          <a:xfrm>
            <a:off x="4123944" y="3840480"/>
            <a:ext cx="201168" cy="164592"/>
          </a:xfrm>
          <a:prstGeom prst="rect">
            <a:avLst/>
          </a:prstGeom>
          <a:solidFill>
            <a:srgbClr val="B23B3B">
              <a:alpha val="45000"/>
            </a:srgbClr>
          </a:solidFill>
          <a:ln w="6350">
            <a:solidFill>
              <a:srgbClr val="B23B3B">
                <a:alpha val="50000"/>
              </a:srgbClr>
            </a:solidFill>
            <a:prstDash val="solid"/>
          </a:ln>
        </p:spPr>
      </p:sp>
      <p:sp>
        <p:nvSpPr>
          <p:cNvPr id="80" name="Shape 78"/>
          <p:cNvSpPr/>
          <p:nvPr/>
        </p:nvSpPr>
        <p:spPr>
          <a:xfrm>
            <a:off x="4480560" y="3840480"/>
            <a:ext cx="201168" cy="164592"/>
          </a:xfrm>
          <a:prstGeom prst="rect">
            <a:avLst/>
          </a:prstGeom>
          <a:solidFill>
            <a:srgbClr val="B23B3B">
              <a:alpha val="45000"/>
            </a:srgbClr>
          </a:solidFill>
          <a:ln w="6350">
            <a:solidFill>
              <a:srgbClr val="B23B3B">
                <a:alpha val="50000"/>
              </a:srgbClr>
            </a:solidFill>
            <a:prstDash val="solid"/>
          </a:ln>
        </p:spPr>
      </p:sp>
      <p:sp>
        <p:nvSpPr>
          <p:cNvPr id="81" name="Shape 79"/>
          <p:cNvSpPr/>
          <p:nvPr/>
        </p:nvSpPr>
        <p:spPr>
          <a:xfrm>
            <a:off x="4837176" y="3840480"/>
            <a:ext cx="201168" cy="164592"/>
          </a:xfrm>
          <a:prstGeom prst="rect">
            <a:avLst/>
          </a:prstGeom>
          <a:solidFill>
            <a:srgbClr val="B23B3B">
              <a:alpha val="45000"/>
            </a:srgbClr>
          </a:solidFill>
          <a:ln w="6350">
            <a:solidFill>
              <a:srgbClr val="B23B3B">
                <a:alpha val="50000"/>
              </a:srgbClr>
            </a:solidFill>
            <a:prstDash val="solid"/>
          </a:ln>
        </p:spPr>
      </p:sp>
      <p:sp>
        <p:nvSpPr>
          <p:cNvPr id="82" name="Shape 80"/>
          <p:cNvSpPr/>
          <p:nvPr/>
        </p:nvSpPr>
        <p:spPr>
          <a:xfrm>
            <a:off x="914400" y="4178808"/>
            <a:ext cx="201168" cy="164592"/>
          </a:xfrm>
          <a:prstGeom prst="rect">
            <a:avLst/>
          </a:prstGeom>
          <a:solidFill>
            <a:srgbClr val="B23B3B">
              <a:alpha val="45000"/>
            </a:srgbClr>
          </a:solidFill>
          <a:ln w="6350">
            <a:solidFill>
              <a:srgbClr val="B23B3B">
                <a:alpha val="50000"/>
              </a:srgbClr>
            </a:solidFill>
            <a:prstDash val="solid"/>
          </a:ln>
        </p:spPr>
      </p:sp>
      <p:sp>
        <p:nvSpPr>
          <p:cNvPr id="83" name="Shape 81"/>
          <p:cNvSpPr/>
          <p:nvPr/>
        </p:nvSpPr>
        <p:spPr>
          <a:xfrm>
            <a:off x="1271016" y="4178808"/>
            <a:ext cx="201168" cy="164592"/>
          </a:xfrm>
          <a:prstGeom prst="rect">
            <a:avLst/>
          </a:prstGeom>
          <a:solidFill>
            <a:srgbClr val="B23B3B">
              <a:alpha val="45000"/>
            </a:srgbClr>
          </a:solidFill>
          <a:ln w="6350">
            <a:solidFill>
              <a:srgbClr val="B23B3B">
                <a:alpha val="50000"/>
              </a:srgbClr>
            </a:solidFill>
            <a:prstDash val="solid"/>
          </a:ln>
        </p:spPr>
      </p:sp>
      <p:sp>
        <p:nvSpPr>
          <p:cNvPr id="84" name="Shape 82"/>
          <p:cNvSpPr/>
          <p:nvPr/>
        </p:nvSpPr>
        <p:spPr>
          <a:xfrm>
            <a:off x="1627632" y="4178808"/>
            <a:ext cx="201168" cy="164592"/>
          </a:xfrm>
          <a:prstGeom prst="rect">
            <a:avLst/>
          </a:prstGeom>
          <a:solidFill>
            <a:srgbClr val="B23B3B">
              <a:alpha val="45000"/>
            </a:srgbClr>
          </a:solidFill>
          <a:ln w="6350">
            <a:solidFill>
              <a:srgbClr val="B23B3B">
                <a:alpha val="50000"/>
              </a:srgbClr>
            </a:solidFill>
            <a:prstDash val="solid"/>
          </a:ln>
        </p:spPr>
      </p:sp>
      <p:sp>
        <p:nvSpPr>
          <p:cNvPr id="85" name="Shape 83"/>
          <p:cNvSpPr/>
          <p:nvPr/>
        </p:nvSpPr>
        <p:spPr>
          <a:xfrm>
            <a:off x="1984248" y="4178808"/>
            <a:ext cx="201168" cy="164592"/>
          </a:xfrm>
          <a:prstGeom prst="rect">
            <a:avLst/>
          </a:prstGeom>
          <a:solidFill>
            <a:srgbClr val="B23B3B">
              <a:alpha val="45000"/>
            </a:srgbClr>
          </a:solidFill>
          <a:ln w="6350">
            <a:solidFill>
              <a:srgbClr val="B23B3B">
                <a:alpha val="50000"/>
              </a:srgbClr>
            </a:solidFill>
            <a:prstDash val="solid"/>
          </a:ln>
        </p:spPr>
      </p:sp>
      <p:sp>
        <p:nvSpPr>
          <p:cNvPr id="86" name="Shape 84"/>
          <p:cNvSpPr/>
          <p:nvPr/>
        </p:nvSpPr>
        <p:spPr>
          <a:xfrm>
            <a:off x="2340864" y="4178808"/>
            <a:ext cx="201168" cy="164592"/>
          </a:xfrm>
          <a:prstGeom prst="rect">
            <a:avLst/>
          </a:prstGeom>
          <a:solidFill>
            <a:srgbClr val="B23B3B">
              <a:alpha val="45000"/>
            </a:srgbClr>
          </a:solidFill>
          <a:ln w="6350">
            <a:solidFill>
              <a:srgbClr val="B23B3B">
                <a:alpha val="50000"/>
              </a:srgbClr>
            </a:solidFill>
            <a:prstDash val="solid"/>
          </a:ln>
        </p:spPr>
      </p:sp>
      <p:sp>
        <p:nvSpPr>
          <p:cNvPr id="87" name="Shape 85"/>
          <p:cNvSpPr/>
          <p:nvPr/>
        </p:nvSpPr>
        <p:spPr>
          <a:xfrm>
            <a:off x="2697480" y="4178808"/>
            <a:ext cx="201168" cy="164592"/>
          </a:xfrm>
          <a:prstGeom prst="rect">
            <a:avLst/>
          </a:prstGeom>
          <a:solidFill>
            <a:srgbClr val="B23B3B">
              <a:alpha val="45000"/>
            </a:srgbClr>
          </a:solidFill>
          <a:ln w="6350">
            <a:solidFill>
              <a:srgbClr val="B23B3B">
                <a:alpha val="50000"/>
              </a:srgbClr>
            </a:solidFill>
            <a:prstDash val="solid"/>
          </a:ln>
        </p:spPr>
      </p:sp>
      <p:sp>
        <p:nvSpPr>
          <p:cNvPr id="88" name="Shape 86"/>
          <p:cNvSpPr/>
          <p:nvPr/>
        </p:nvSpPr>
        <p:spPr>
          <a:xfrm>
            <a:off x="3054096" y="4178808"/>
            <a:ext cx="201168" cy="164592"/>
          </a:xfrm>
          <a:prstGeom prst="rect">
            <a:avLst/>
          </a:prstGeom>
          <a:solidFill>
            <a:srgbClr val="B23B3B">
              <a:alpha val="45000"/>
            </a:srgbClr>
          </a:solidFill>
          <a:ln w="6350">
            <a:solidFill>
              <a:srgbClr val="B23B3B">
                <a:alpha val="50000"/>
              </a:srgbClr>
            </a:solidFill>
            <a:prstDash val="solid"/>
          </a:ln>
        </p:spPr>
      </p:sp>
      <p:sp>
        <p:nvSpPr>
          <p:cNvPr id="89" name="Shape 87"/>
          <p:cNvSpPr/>
          <p:nvPr/>
        </p:nvSpPr>
        <p:spPr>
          <a:xfrm>
            <a:off x="3410712" y="4178808"/>
            <a:ext cx="201168" cy="164592"/>
          </a:xfrm>
          <a:prstGeom prst="rect">
            <a:avLst/>
          </a:prstGeom>
          <a:solidFill>
            <a:srgbClr val="B23B3B">
              <a:alpha val="45000"/>
            </a:srgbClr>
          </a:solidFill>
          <a:ln w="6350">
            <a:solidFill>
              <a:srgbClr val="B23B3B">
                <a:alpha val="50000"/>
              </a:srgbClr>
            </a:solidFill>
            <a:prstDash val="solid"/>
          </a:ln>
        </p:spPr>
      </p:sp>
      <p:sp>
        <p:nvSpPr>
          <p:cNvPr id="90" name="Shape 88"/>
          <p:cNvSpPr/>
          <p:nvPr/>
        </p:nvSpPr>
        <p:spPr>
          <a:xfrm>
            <a:off x="3767328" y="4178808"/>
            <a:ext cx="201168" cy="164592"/>
          </a:xfrm>
          <a:prstGeom prst="rect">
            <a:avLst/>
          </a:prstGeom>
          <a:solidFill>
            <a:srgbClr val="B23B3B">
              <a:alpha val="45000"/>
            </a:srgbClr>
          </a:solidFill>
          <a:ln w="6350">
            <a:solidFill>
              <a:srgbClr val="B23B3B">
                <a:alpha val="50000"/>
              </a:srgbClr>
            </a:solidFill>
            <a:prstDash val="solid"/>
          </a:ln>
        </p:spPr>
      </p:sp>
      <p:sp>
        <p:nvSpPr>
          <p:cNvPr id="91" name="Shape 89"/>
          <p:cNvSpPr/>
          <p:nvPr/>
        </p:nvSpPr>
        <p:spPr>
          <a:xfrm>
            <a:off x="4123944" y="4178808"/>
            <a:ext cx="201168" cy="164592"/>
          </a:xfrm>
          <a:prstGeom prst="rect">
            <a:avLst/>
          </a:prstGeom>
          <a:solidFill>
            <a:srgbClr val="B23B3B">
              <a:alpha val="45000"/>
            </a:srgbClr>
          </a:solidFill>
          <a:ln w="6350">
            <a:solidFill>
              <a:srgbClr val="B23B3B">
                <a:alpha val="50000"/>
              </a:srgbClr>
            </a:solidFill>
            <a:prstDash val="solid"/>
          </a:ln>
        </p:spPr>
      </p:sp>
      <p:sp>
        <p:nvSpPr>
          <p:cNvPr id="92" name="Shape 90"/>
          <p:cNvSpPr/>
          <p:nvPr/>
        </p:nvSpPr>
        <p:spPr>
          <a:xfrm>
            <a:off x="4480560" y="4178808"/>
            <a:ext cx="201168" cy="164592"/>
          </a:xfrm>
          <a:prstGeom prst="rect">
            <a:avLst/>
          </a:prstGeom>
          <a:solidFill>
            <a:srgbClr val="B23B3B">
              <a:alpha val="45000"/>
            </a:srgbClr>
          </a:solidFill>
          <a:ln w="6350">
            <a:solidFill>
              <a:srgbClr val="B23B3B">
                <a:alpha val="50000"/>
              </a:srgbClr>
            </a:solidFill>
            <a:prstDash val="solid"/>
          </a:ln>
        </p:spPr>
      </p:sp>
      <p:sp>
        <p:nvSpPr>
          <p:cNvPr id="93" name="Shape 91"/>
          <p:cNvSpPr/>
          <p:nvPr/>
        </p:nvSpPr>
        <p:spPr>
          <a:xfrm>
            <a:off x="4837176" y="4178808"/>
            <a:ext cx="201168" cy="164592"/>
          </a:xfrm>
          <a:prstGeom prst="rect">
            <a:avLst/>
          </a:prstGeom>
          <a:solidFill>
            <a:srgbClr val="B23B3B">
              <a:alpha val="45000"/>
            </a:srgbClr>
          </a:solidFill>
          <a:ln w="6350">
            <a:solidFill>
              <a:srgbClr val="B23B3B">
                <a:alpha val="50000"/>
              </a:srgbClr>
            </a:solidFill>
            <a:prstDash val="solid"/>
          </a:ln>
        </p:spPr>
      </p:sp>
      <p:sp>
        <p:nvSpPr>
          <p:cNvPr id="94" name="Text 92"/>
          <p:cNvSpPr/>
          <p:nvPr/>
        </p:nvSpPr>
        <p:spPr>
          <a:xfrm>
            <a:off x="1234440" y="4919472"/>
            <a:ext cx="4114800" cy="320040"/>
          </a:xfrm>
          <a:prstGeom prst="rect">
            <a:avLst/>
          </a:prstGeom>
          <a:noFill/>
          <a:ln/>
        </p:spPr>
        <p:txBody>
          <a:bodyPr wrap="square" lIns="0" tIns="0" rIns="0" bIns="0" rtlCol="0" anchor="ctr">
            <a:normAutofit/>
          </a:bodyPr>
          <a:lstStyle/>
          <a:p>
            <a:pPr algn="ctr" indent="0" marL="0">
              <a:buNone/>
            </a:pPr>
            <a:r>
              <a:rPr lang="en-US" sz="1600" b="1" dirty="0">
                <a:solidFill>
                  <a:srgbClr val="B23B3B"/>
                </a:solidFill>
                <a:latin typeface="Liberation Sans" pitchFamily="34" charset="0"/>
                <a:ea typeface="Liberation Sans" pitchFamily="34" charset="-122"/>
                <a:cs typeface="Liberation Sans" pitchFamily="34" charset="-120"/>
              </a:rPr>
              <a:t>100,000 paths → metadata bottleneck</a:t>
            </a:r>
            <a:endParaRPr lang="en-US" sz="1600" dirty="0"/>
          </a:p>
        </p:txBody>
      </p:sp>
      <p:sp>
        <p:nvSpPr>
          <p:cNvPr id="95" name="Shape 93"/>
          <p:cNvSpPr/>
          <p:nvPr/>
        </p:nvSpPr>
        <p:spPr>
          <a:xfrm>
            <a:off x="6263640" y="1325880"/>
            <a:ext cx="5394960" cy="4343400"/>
          </a:xfrm>
          <a:prstGeom prst="roundRect">
            <a:avLst/>
          </a:prstGeom>
          <a:solidFill>
            <a:srgbClr val="F7FCF9"/>
          </a:solidFill>
          <a:ln w="15240">
            <a:solidFill>
              <a:srgbClr val="3A8D63"/>
            </a:solidFill>
            <a:prstDash val="solid"/>
          </a:ln>
        </p:spPr>
      </p:sp>
      <p:sp>
        <p:nvSpPr>
          <p:cNvPr id="96" name="Text 94"/>
          <p:cNvSpPr/>
          <p:nvPr/>
        </p:nvSpPr>
        <p:spPr>
          <a:xfrm>
            <a:off x="6583680" y="1600200"/>
            <a:ext cx="4754880" cy="320040"/>
          </a:xfrm>
          <a:prstGeom prst="rect">
            <a:avLst/>
          </a:prstGeom>
          <a:noFill/>
          <a:ln/>
        </p:spPr>
        <p:txBody>
          <a:bodyPr wrap="square" lIns="0" tIns="0" rIns="0" bIns="0" rtlCol="0" anchor="ctr">
            <a:normAutofit/>
          </a:bodyPr>
          <a:lstStyle/>
          <a:p>
            <a:pPr algn="ctr" indent="0" marL="0">
              <a:buNone/>
            </a:pPr>
            <a:r>
              <a:rPr lang="en-US" sz="2000" b="1" dirty="0">
                <a:solidFill>
                  <a:srgbClr val="3A8D63"/>
                </a:solidFill>
                <a:latin typeface="Liberation Sans" pitchFamily="34" charset="0"/>
                <a:ea typeface="Liberation Sans" pitchFamily="34" charset="-122"/>
                <a:cs typeface="Liberation Sans" pitchFamily="34" charset="-120"/>
              </a:rPr>
              <a:t>STRUCTURED HIERARCHY</a:t>
            </a:r>
            <a:endParaRPr lang="en-US" sz="2000" dirty="0"/>
          </a:p>
        </p:txBody>
      </p:sp>
      <p:sp>
        <p:nvSpPr>
          <p:cNvPr id="97" name="Text 95"/>
          <p:cNvSpPr/>
          <p:nvPr/>
        </p:nvSpPr>
        <p:spPr>
          <a:xfrm>
            <a:off x="7132320" y="2240280"/>
            <a:ext cx="3749040" cy="2606040"/>
          </a:xfrm>
          <a:prstGeom prst="rect">
            <a:avLst/>
          </a:prstGeom>
          <a:noFill/>
          <a:ln/>
        </p:spPr>
        <p:txBody>
          <a:bodyPr wrap="square" lIns="0" tIns="0" rIns="0" bIns="0" rtlCol="0" anchor="t">
            <a:normAutofit/>
          </a:bodyPr>
          <a:lstStyle/>
          <a:p>
            <a:pPr algn="l" indent="0" marL="0">
              <a:buNone/>
            </a:pPr>
            <a:r>
              <a:rPr lang="en-US" sz="1900" dirty="0">
                <a:solidFill>
                  <a:srgbClr val="1F2937"/>
                </a:solidFill>
                <a:latin typeface="Liberation Mono" pitchFamily="34" charset="0"/>
                <a:ea typeface="Liberation Mono" pitchFamily="34" charset="-122"/>
                <a:cs typeface="Liberation Mono" pitchFamily="34" charset="-120"/>
              </a:rPr>
              <a:t>project/</a:t>
            </a:r>
            <a:endParaRPr lang="en-US" sz="1900" dirty="0"/>
          </a:p>
          <a:p>
            <a:pPr algn="l" indent="0" marL="0">
              <a:buNone/>
            </a:pPr>
            <a:r>
              <a:rPr lang="en-US" sz="1900" dirty="0">
                <a:solidFill>
                  <a:srgbClr val="1F2937"/>
                </a:solidFill>
                <a:latin typeface="Liberation Mono" pitchFamily="34" charset="0"/>
                <a:ea typeface="Liberation Mono" pitchFamily="34" charset="-122"/>
                <a:cs typeface="Liberation Mono" pitchFamily="34" charset="-120"/>
              </a:rPr>
              <a:t>  batch_001/</a:t>
            </a:r>
            <a:endParaRPr lang="en-US" sz="1900" dirty="0"/>
          </a:p>
          <a:p>
            <a:pPr algn="l" indent="0" marL="0">
              <a:buNone/>
            </a:pPr>
            <a:r>
              <a:rPr lang="en-US" sz="1900" dirty="0">
                <a:solidFill>
                  <a:srgbClr val="1F2937"/>
                </a:solidFill>
                <a:latin typeface="Liberation Mono" pitchFamily="34" charset="0"/>
                <a:ea typeface="Liberation Mono" pitchFamily="34" charset="-122"/>
                <a:cs typeface="Liberation Mono" pitchFamily="34" charset="-120"/>
              </a:rPr>
              <a:t>    sample_001/</a:t>
            </a:r>
            <a:endParaRPr lang="en-US" sz="1900" dirty="0"/>
          </a:p>
          <a:p>
            <a:pPr algn="l" indent="0" marL="0">
              <a:buNone/>
            </a:pPr>
            <a:r>
              <a:rPr lang="en-US" sz="1900" dirty="0">
                <a:solidFill>
                  <a:srgbClr val="1F2937"/>
                </a:solidFill>
                <a:latin typeface="Liberation Mono" pitchFamily="34" charset="0"/>
                <a:ea typeface="Liberation Mono" pitchFamily="34" charset="-122"/>
                <a:cs typeface="Liberation Mono" pitchFamily="34" charset="-120"/>
              </a:rPr>
              <a:t>    sample_002/</a:t>
            </a:r>
            <a:endParaRPr lang="en-US" sz="1900" dirty="0"/>
          </a:p>
          <a:p>
            <a:pPr algn="l" indent="0" marL="0">
              <a:buNone/>
            </a:pPr>
            <a:r>
              <a:rPr lang="en-US" sz="1900" dirty="0">
                <a:solidFill>
                  <a:srgbClr val="1F2937"/>
                </a:solidFill>
                <a:latin typeface="Liberation Mono" pitchFamily="34" charset="0"/>
                <a:ea typeface="Liberation Mono" pitchFamily="34" charset="-122"/>
                <a:cs typeface="Liberation Mono" pitchFamily="34" charset="-120"/>
              </a:rPr>
              <a:t>  batch_002/</a:t>
            </a:r>
            <a:endParaRPr lang="en-US" sz="1900" dirty="0"/>
          </a:p>
          <a:p>
            <a:pPr algn="l" indent="0" marL="0">
              <a:buNone/>
            </a:pPr>
            <a:r>
              <a:rPr lang="en-US" sz="1900" dirty="0">
                <a:solidFill>
                  <a:srgbClr val="1F2937"/>
                </a:solidFill>
                <a:latin typeface="Liberation Mono" pitchFamily="34" charset="0"/>
                <a:ea typeface="Liberation Mono" pitchFamily="34" charset="-122"/>
                <a:cs typeface="Liberation Mono" pitchFamily="34" charset="-120"/>
              </a:rPr>
              <a:t>  archives/</a:t>
            </a:r>
            <a:endParaRPr lang="en-US" sz="1900" dirty="0"/>
          </a:p>
          <a:p>
            <a:pPr algn="l" indent="0" marL="0">
              <a:buNone/>
            </a:pPr>
            <a:r>
              <a:rPr lang="en-US" sz="1900" dirty="0">
                <a:solidFill>
                  <a:srgbClr val="1F2937"/>
                </a:solidFill>
                <a:latin typeface="Liberation Mono" pitchFamily="34" charset="0"/>
                <a:ea typeface="Liberation Mono" pitchFamily="34" charset="-122"/>
                <a:cs typeface="Liberation Mono" pitchFamily="34" charset="-120"/>
              </a:rPr>
              <a:t>  manifests/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9. Leave files compressed when the toolchain supports it</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Compression reduces storage and I/O - decompression costs CPU</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3</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10 / 14</a:t>
            </a:r>
            <a:endParaRPr lang="en-US" sz="900" dirty="0"/>
          </a:p>
        </p:txBody>
      </p:sp>
      <p:sp>
        <p:nvSpPr>
          <p:cNvPr id="7" name="Shape 5"/>
          <p:cNvSpPr/>
          <p:nvPr/>
        </p:nvSpPr>
        <p:spPr>
          <a:xfrm>
            <a:off x="411480" y="6510528"/>
            <a:ext cx="502920" cy="27432"/>
          </a:xfrm>
          <a:prstGeom prst="rect">
            <a:avLst/>
          </a:prstGeom>
          <a:solidFill>
            <a:srgbClr val="D15B47"/>
          </a:solidFill>
          <a:ln w="12700">
            <a:solidFill>
              <a:srgbClr val="D15B47">
                <a:alpha val="0"/>
              </a:srgbClr>
            </a:solidFill>
            <a:prstDash val="solid"/>
          </a:ln>
        </p:spPr>
      </p:sp>
      <p:sp>
        <p:nvSpPr>
          <p:cNvPr id="8" name="Shape 6"/>
          <p:cNvSpPr/>
          <p:nvPr/>
        </p:nvSpPr>
        <p:spPr>
          <a:xfrm>
            <a:off x="594360" y="1554480"/>
            <a:ext cx="2542032" cy="2514600"/>
          </a:xfrm>
          <a:prstGeom prst="roundRect">
            <a:avLst>
              <a:gd name="adj" fmla="val 2909"/>
            </a:avLst>
          </a:prstGeom>
          <a:solidFill>
            <a:srgbClr val="FFFFFF"/>
          </a:solidFill>
          <a:ln w="12700">
            <a:solidFill>
              <a:srgbClr val="D7E0E7"/>
            </a:solidFill>
            <a:prstDash val="solid"/>
          </a:ln>
        </p:spPr>
      </p:sp>
      <p:sp>
        <p:nvSpPr>
          <p:cNvPr id="9" name="Shape 7"/>
          <p:cNvSpPr/>
          <p:nvPr/>
        </p:nvSpPr>
        <p:spPr>
          <a:xfrm>
            <a:off x="594360" y="1554480"/>
            <a:ext cx="64008" cy="2514600"/>
          </a:xfrm>
          <a:prstGeom prst="rect">
            <a:avLst/>
          </a:prstGeom>
          <a:solidFill>
            <a:srgbClr val="D15B47"/>
          </a:solidFill>
          <a:ln w="12700">
            <a:solidFill>
              <a:srgbClr val="D15B47">
                <a:alpha val="0"/>
              </a:srgbClr>
            </a:solidFill>
            <a:prstDash val="solid"/>
          </a:ln>
        </p:spPr>
      </p:sp>
      <p:sp>
        <p:nvSpPr>
          <p:cNvPr id="10" name="Text 8"/>
          <p:cNvSpPr/>
          <p:nvPr/>
        </p:nvSpPr>
        <p:spPr>
          <a:xfrm>
            <a:off x="795528" y="170078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FASTQ.gz</a:t>
            </a:r>
            <a:endParaRPr lang="en-US" sz="1700" dirty="0"/>
          </a:p>
        </p:txBody>
      </p:sp>
      <p:sp>
        <p:nvSpPr>
          <p:cNvPr id="11" name="Text 9"/>
          <p:cNvSpPr/>
          <p:nvPr/>
        </p:nvSpPr>
        <p:spPr>
          <a:xfrm>
            <a:off x="795528" y="2084832"/>
            <a:ext cx="2194560" cy="185623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smaller transfer</a:t>
            </a:r>
            <a:endParaRPr lang="en-US" sz="1600" dirty="0"/>
          </a:p>
        </p:txBody>
      </p:sp>
      <p:sp>
        <p:nvSpPr>
          <p:cNvPr id="12" name="Shape 10"/>
          <p:cNvSpPr/>
          <p:nvPr/>
        </p:nvSpPr>
        <p:spPr>
          <a:xfrm>
            <a:off x="3136392" y="2816352"/>
            <a:ext cx="310896" cy="0"/>
          </a:xfrm>
          <a:prstGeom prst="line">
            <a:avLst/>
          </a:prstGeom>
          <a:noFill/>
          <a:ln w="25400">
            <a:solidFill>
              <a:srgbClr val="5E6B78"/>
            </a:solidFill>
            <a:prstDash val="solid"/>
            <a:headEnd type="none"/>
            <a:tailEnd type="triangle"/>
          </a:ln>
        </p:spPr>
      </p:sp>
      <p:sp>
        <p:nvSpPr>
          <p:cNvPr id="13" name="Shape 11"/>
          <p:cNvSpPr/>
          <p:nvPr/>
        </p:nvSpPr>
        <p:spPr>
          <a:xfrm>
            <a:off x="3474720" y="1554480"/>
            <a:ext cx="2542032" cy="2514600"/>
          </a:xfrm>
          <a:prstGeom prst="roundRect">
            <a:avLst>
              <a:gd name="adj" fmla="val 2909"/>
            </a:avLst>
          </a:prstGeom>
          <a:solidFill>
            <a:srgbClr val="FFFFFF"/>
          </a:solidFill>
          <a:ln w="12700">
            <a:solidFill>
              <a:srgbClr val="D7E0E7"/>
            </a:solidFill>
            <a:prstDash val="solid"/>
          </a:ln>
        </p:spPr>
      </p:sp>
      <p:sp>
        <p:nvSpPr>
          <p:cNvPr id="14" name="Shape 12"/>
          <p:cNvSpPr/>
          <p:nvPr/>
        </p:nvSpPr>
        <p:spPr>
          <a:xfrm>
            <a:off x="3474720" y="1554480"/>
            <a:ext cx="64008" cy="2514600"/>
          </a:xfrm>
          <a:prstGeom prst="rect">
            <a:avLst/>
          </a:prstGeom>
          <a:solidFill>
            <a:srgbClr val="D15B47"/>
          </a:solidFill>
          <a:ln w="12700">
            <a:solidFill>
              <a:srgbClr val="D15B47">
                <a:alpha val="0"/>
              </a:srgbClr>
            </a:solidFill>
            <a:prstDash val="solid"/>
          </a:ln>
        </p:spPr>
      </p:sp>
      <p:sp>
        <p:nvSpPr>
          <p:cNvPr id="15" name="Text 13"/>
          <p:cNvSpPr/>
          <p:nvPr/>
        </p:nvSpPr>
        <p:spPr>
          <a:xfrm>
            <a:off x="3675888" y="170078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tool reads gzip</a:t>
            </a:r>
            <a:endParaRPr lang="en-US" sz="1700" dirty="0"/>
          </a:p>
        </p:txBody>
      </p:sp>
      <p:sp>
        <p:nvSpPr>
          <p:cNvPr id="16" name="Text 14"/>
          <p:cNvSpPr/>
          <p:nvPr/>
        </p:nvSpPr>
        <p:spPr>
          <a:xfrm>
            <a:off x="3675888" y="2084832"/>
            <a:ext cx="2194560" cy="185623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CPU decompression</a:t>
            </a:r>
            <a:endParaRPr lang="en-US" sz="1600" dirty="0"/>
          </a:p>
        </p:txBody>
      </p:sp>
      <p:sp>
        <p:nvSpPr>
          <p:cNvPr id="17" name="Shape 15"/>
          <p:cNvSpPr/>
          <p:nvPr/>
        </p:nvSpPr>
        <p:spPr>
          <a:xfrm>
            <a:off x="6016752" y="2816352"/>
            <a:ext cx="310896" cy="0"/>
          </a:xfrm>
          <a:prstGeom prst="line">
            <a:avLst/>
          </a:prstGeom>
          <a:noFill/>
          <a:ln w="25400">
            <a:solidFill>
              <a:srgbClr val="5E6B78"/>
            </a:solidFill>
            <a:prstDash val="solid"/>
            <a:headEnd type="none"/>
            <a:tailEnd type="triangle"/>
          </a:ln>
        </p:spPr>
      </p:sp>
      <p:sp>
        <p:nvSpPr>
          <p:cNvPr id="18" name="Shape 16"/>
          <p:cNvSpPr/>
          <p:nvPr/>
        </p:nvSpPr>
        <p:spPr>
          <a:xfrm>
            <a:off x="6355080" y="1554480"/>
            <a:ext cx="2542032" cy="2514600"/>
          </a:xfrm>
          <a:prstGeom prst="roundRect">
            <a:avLst>
              <a:gd name="adj" fmla="val 2909"/>
            </a:avLst>
          </a:prstGeom>
          <a:solidFill>
            <a:srgbClr val="FFFFFF"/>
          </a:solidFill>
          <a:ln w="12700">
            <a:solidFill>
              <a:srgbClr val="D7E0E7"/>
            </a:solidFill>
            <a:prstDash val="solid"/>
          </a:ln>
        </p:spPr>
      </p:sp>
      <p:sp>
        <p:nvSpPr>
          <p:cNvPr id="19" name="Shape 17"/>
          <p:cNvSpPr/>
          <p:nvPr/>
        </p:nvSpPr>
        <p:spPr>
          <a:xfrm>
            <a:off x="6355080" y="1554480"/>
            <a:ext cx="64008" cy="2514600"/>
          </a:xfrm>
          <a:prstGeom prst="rect">
            <a:avLst/>
          </a:prstGeom>
          <a:solidFill>
            <a:srgbClr val="3A8D63"/>
          </a:solidFill>
          <a:ln w="12700">
            <a:solidFill>
              <a:srgbClr val="3A8D63">
                <a:alpha val="0"/>
              </a:srgbClr>
            </a:solidFill>
            <a:prstDash val="solid"/>
          </a:ln>
        </p:spPr>
      </p:sp>
      <p:sp>
        <p:nvSpPr>
          <p:cNvPr id="20" name="Text 18"/>
          <p:cNvSpPr/>
          <p:nvPr/>
        </p:nvSpPr>
        <p:spPr>
          <a:xfrm>
            <a:off x="6556248" y="170078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stream / pipe</a:t>
            </a:r>
            <a:endParaRPr lang="en-US" sz="1700" dirty="0"/>
          </a:p>
        </p:txBody>
      </p:sp>
      <p:sp>
        <p:nvSpPr>
          <p:cNvPr id="21" name="Text 19"/>
          <p:cNvSpPr/>
          <p:nvPr/>
        </p:nvSpPr>
        <p:spPr>
          <a:xfrm>
            <a:off x="6556248" y="2084832"/>
            <a:ext cx="2194560" cy="185623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no intermediate</a:t>
            </a:r>
            <a:endParaRPr lang="en-US" sz="1600" dirty="0"/>
          </a:p>
        </p:txBody>
      </p:sp>
      <p:sp>
        <p:nvSpPr>
          <p:cNvPr id="22" name="Shape 20"/>
          <p:cNvSpPr/>
          <p:nvPr/>
        </p:nvSpPr>
        <p:spPr>
          <a:xfrm>
            <a:off x="8897112" y="2816352"/>
            <a:ext cx="310896" cy="0"/>
          </a:xfrm>
          <a:prstGeom prst="line">
            <a:avLst/>
          </a:prstGeom>
          <a:noFill/>
          <a:ln w="25400">
            <a:solidFill>
              <a:srgbClr val="5E6B78"/>
            </a:solidFill>
            <a:prstDash val="solid"/>
            <a:headEnd type="none"/>
            <a:tailEnd type="triangle"/>
          </a:ln>
        </p:spPr>
      </p:sp>
      <p:sp>
        <p:nvSpPr>
          <p:cNvPr id="23" name="Shape 21"/>
          <p:cNvSpPr/>
          <p:nvPr/>
        </p:nvSpPr>
        <p:spPr>
          <a:xfrm>
            <a:off x="9235440" y="1554480"/>
            <a:ext cx="2542032" cy="2514600"/>
          </a:xfrm>
          <a:prstGeom prst="roundRect">
            <a:avLst>
              <a:gd name="adj" fmla="val 2909"/>
            </a:avLst>
          </a:prstGeom>
          <a:solidFill>
            <a:srgbClr val="FFFFFF"/>
          </a:solidFill>
          <a:ln w="12700">
            <a:solidFill>
              <a:srgbClr val="D7E0E7"/>
            </a:solidFill>
            <a:prstDash val="solid"/>
          </a:ln>
        </p:spPr>
      </p:sp>
      <p:sp>
        <p:nvSpPr>
          <p:cNvPr id="24" name="Shape 22"/>
          <p:cNvSpPr/>
          <p:nvPr/>
        </p:nvSpPr>
        <p:spPr>
          <a:xfrm>
            <a:off x="9235440" y="1554480"/>
            <a:ext cx="64008" cy="2514600"/>
          </a:xfrm>
          <a:prstGeom prst="rect">
            <a:avLst/>
          </a:prstGeom>
          <a:solidFill>
            <a:srgbClr val="D15B47"/>
          </a:solidFill>
          <a:ln w="12700">
            <a:solidFill>
              <a:srgbClr val="D15B47">
                <a:alpha val="0"/>
              </a:srgbClr>
            </a:solidFill>
            <a:prstDash val="solid"/>
          </a:ln>
        </p:spPr>
      </p:sp>
      <p:sp>
        <p:nvSpPr>
          <p:cNvPr id="25" name="Text 23"/>
          <p:cNvSpPr/>
          <p:nvPr/>
        </p:nvSpPr>
        <p:spPr>
          <a:xfrm>
            <a:off x="9436608" y="1700784"/>
            <a:ext cx="2194560"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BAM / report</a:t>
            </a:r>
            <a:endParaRPr lang="en-US" sz="1700" dirty="0"/>
          </a:p>
        </p:txBody>
      </p:sp>
      <p:sp>
        <p:nvSpPr>
          <p:cNvPr id="26" name="Text 24"/>
          <p:cNvSpPr/>
          <p:nvPr/>
        </p:nvSpPr>
        <p:spPr>
          <a:xfrm>
            <a:off x="9436608" y="2084832"/>
            <a:ext cx="2194560" cy="185623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required output</a:t>
            </a:r>
            <a:endParaRPr lang="en-US" sz="1600" dirty="0"/>
          </a:p>
        </p:txBody>
      </p:sp>
      <p:sp>
        <p:nvSpPr>
          <p:cNvPr id="27" name="Shape 25"/>
          <p:cNvSpPr/>
          <p:nvPr/>
        </p:nvSpPr>
        <p:spPr>
          <a:xfrm>
            <a:off x="1234440" y="4645152"/>
            <a:ext cx="9738360" cy="749808"/>
          </a:xfrm>
          <a:prstGeom prst="roundRect">
            <a:avLst/>
          </a:prstGeom>
          <a:solidFill>
            <a:srgbClr val="3A8D63">
              <a:alpha val="8000"/>
            </a:srgbClr>
          </a:solidFill>
          <a:ln w="12700">
            <a:solidFill>
              <a:srgbClr val="3A8D63">
                <a:alpha val="0"/>
              </a:srgbClr>
            </a:solidFill>
            <a:prstDash val="solid"/>
          </a:ln>
        </p:spPr>
      </p:sp>
      <p:sp>
        <p:nvSpPr>
          <p:cNvPr id="28" name="Text 26"/>
          <p:cNvSpPr/>
          <p:nvPr/>
        </p:nvSpPr>
        <p:spPr>
          <a:xfrm>
            <a:off x="1554480" y="4846320"/>
            <a:ext cx="9098280" cy="347472"/>
          </a:xfrm>
          <a:prstGeom prst="rect">
            <a:avLst/>
          </a:prstGeom>
          <a:noFill/>
          <a:ln/>
        </p:spPr>
        <p:txBody>
          <a:bodyPr wrap="square" lIns="0" tIns="0" rIns="0" bIns="0" rtlCol="0" anchor="ctr">
            <a:normAutofit/>
          </a:bodyPr>
          <a:lstStyle/>
          <a:p>
            <a:pPr algn="ctr" indent="0" marL="0">
              <a:buNone/>
            </a:pPr>
            <a:r>
              <a:rPr lang="en-US" sz="1800" b="1" dirty="0">
                <a:solidFill>
                  <a:srgbClr val="3A8D63"/>
                </a:solidFill>
                <a:latin typeface="Liberation Sans" pitchFamily="34" charset="0"/>
                <a:ea typeface="Liberation Sans" pitchFamily="34" charset="-122"/>
                <a:cs typeface="Liberation Sans" pitchFamily="34" charset="-120"/>
              </a:rPr>
              <a:t>Move fewer bytes. Avoid unnecessary expanded intermediates. Preserve indexable formats.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10. Use node-local scratch through Snakemake</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Stage active inputs locally, compute locally, return required outputs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3</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11 / 14</a:t>
            </a:r>
            <a:endParaRPr lang="en-US" sz="900" dirty="0"/>
          </a:p>
        </p:txBody>
      </p:sp>
      <p:sp>
        <p:nvSpPr>
          <p:cNvPr id="7" name="Shape 5"/>
          <p:cNvSpPr/>
          <p:nvPr/>
        </p:nvSpPr>
        <p:spPr>
          <a:xfrm>
            <a:off x="411480" y="6510528"/>
            <a:ext cx="502920" cy="27432"/>
          </a:xfrm>
          <a:prstGeom prst="rect">
            <a:avLst/>
          </a:prstGeom>
          <a:solidFill>
            <a:srgbClr val="D15B47"/>
          </a:solidFill>
          <a:ln w="12700">
            <a:solidFill>
              <a:srgbClr val="D15B47">
                <a:alpha val="0"/>
              </a:srgbClr>
            </a:solidFill>
            <a:prstDash val="solid"/>
          </a:ln>
        </p:spPr>
      </p:sp>
      <p:sp>
        <p:nvSpPr>
          <p:cNvPr id="8" name="Shape 6"/>
          <p:cNvSpPr/>
          <p:nvPr/>
        </p:nvSpPr>
        <p:spPr>
          <a:xfrm>
            <a:off x="475488" y="1389888"/>
            <a:ext cx="2057400" cy="2971800"/>
          </a:xfrm>
          <a:prstGeom prst="roundRect">
            <a:avLst>
              <a:gd name="adj" fmla="val 3556"/>
            </a:avLst>
          </a:prstGeom>
          <a:solidFill>
            <a:srgbClr val="FFFFFF"/>
          </a:solidFill>
          <a:ln w="12700">
            <a:solidFill>
              <a:srgbClr val="D7E0E7"/>
            </a:solidFill>
            <a:prstDash val="solid"/>
          </a:ln>
        </p:spPr>
      </p:sp>
      <p:sp>
        <p:nvSpPr>
          <p:cNvPr id="9" name="Shape 7"/>
          <p:cNvSpPr/>
          <p:nvPr/>
        </p:nvSpPr>
        <p:spPr>
          <a:xfrm>
            <a:off x="475488" y="1389888"/>
            <a:ext cx="64008" cy="2971800"/>
          </a:xfrm>
          <a:prstGeom prst="rect">
            <a:avLst/>
          </a:prstGeom>
          <a:solidFill>
            <a:srgbClr val="2C6EAF"/>
          </a:solidFill>
          <a:ln w="12700">
            <a:solidFill>
              <a:srgbClr val="2C6EAF">
                <a:alpha val="0"/>
              </a:srgbClr>
            </a:solidFill>
            <a:prstDash val="solid"/>
          </a:ln>
        </p:spPr>
      </p:sp>
      <p:sp>
        <p:nvSpPr>
          <p:cNvPr id="10" name="Text 8"/>
          <p:cNvSpPr/>
          <p:nvPr/>
        </p:nvSpPr>
        <p:spPr>
          <a:xfrm>
            <a:off x="676656" y="153619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Shared input</a:t>
            </a:r>
            <a:endParaRPr lang="en-US" sz="1700" dirty="0"/>
          </a:p>
        </p:txBody>
      </p:sp>
      <p:sp>
        <p:nvSpPr>
          <p:cNvPr id="11" name="Text 9"/>
          <p:cNvSpPr/>
          <p:nvPr/>
        </p:nvSpPr>
        <p:spPr>
          <a:xfrm>
            <a:off x="676656" y="1920240"/>
            <a:ext cx="1709928" cy="231343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durable</a:t>
            </a:r>
            <a:endParaRPr lang="en-US" sz="1600" dirty="0"/>
          </a:p>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compressed</a:t>
            </a:r>
            <a:endParaRPr lang="en-US" sz="1600" dirty="0"/>
          </a:p>
        </p:txBody>
      </p:sp>
      <p:sp>
        <p:nvSpPr>
          <p:cNvPr id="12" name="Shape 10"/>
          <p:cNvSpPr/>
          <p:nvPr/>
        </p:nvSpPr>
        <p:spPr>
          <a:xfrm>
            <a:off x="2532888" y="2880360"/>
            <a:ext cx="265176" cy="0"/>
          </a:xfrm>
          <a:prstGeom prst="line">
            <a:avLst/>
          </a:prstGeom>
          <a:noFill/>
          <a:ln w="25400">
            <a:solidFill>
              <a:srgbClr val="5E6B78"/>
            </a:solidFill>
            <a:prstDash val="solid"/>
            <a:headEnd type="none"/>
            <a:tailEnd type="triangle"/>
          </a:ln>
        </p:spPr>
      </p:sp>
      <p:sp>
        <p:nvSpPr>
          <p:cNvPr id="13" name="Shape 11"/>
          <p:cNvSpPr/>
          <p:nvPr/>
        </p:nvSpPr>
        <p:spPr>
          <a:xfrm>
            <a:off x="2807208" y="1389888"/>
            <a:ext cx="2057400" cy="2971800"/>
          </a:xfrm>
          <a:prstGeom prst="roundRect">
            <a:avLst>
              <a:gd name="adj" fmla="val 3556"/>
            </a:avLst>
          </a:prstGeom>
          <a:solidFill>
            <a:srgbClr val="FFFFFF"/>
          </a:solidFill>
          <a:ln w="12700">
            <a:solidFill>
              <a:srgbClr val="D7E0E7"/>
            </a:solidFill>
            <a:prstDash val="solid"/>
          </a:ln>
        </p:spPr>
      </p:sp>
      <p:sp>
        <p:nvSpPr>
          <p:cNvPr id="14" name="Shape 12"/>
          <p:cNvSpPr/>
          <p:nvPr/>
        </p:nvSpPr>
        <p:spPr>
          <a:xfrm>
            <a:off x="2807208" y="1389888"/>
            <a:ext cx="64008" cy="2971800"/>
          </a:xfrm>
          <a:prstGeom prst="rect">
            <a:avLst/>
          </a:prstGeom>
          <a:solidFill>
            <a:srgbClr val="2C6EAF"/>
          </a:solidFill>
          <a:ln w="12700">
            <a:solidFill>
              <a:srgbClr val="2C6EAF">
                <a:alpha val="0"/>
              </a:srgbClr>
            </a:solidFill>
            <a:prstDash val="solid"/>
          </a:ln>
        </p:spPr>
      </p:sp>
      <p:sp>
        <p:nvSpPr>
          <p:cNvPr id="15" name="Text 13"/>
          <p:cNvSpPr/>
          <p:nvPr/>
        </p:nvSpPr>
        <p:spPr>
          <a:xfrm>
            <a:off x="3008376" y="153619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Stage</a:t>
            </a:r>
            <a:endParaRPr lang="en-US" sz="1700" dirty="0"/>
          </a:p>
        </p:txBody>
      </p:sp>
      <p:sp>
        <p:nvSpPr>
          <p:cNvPr id="16" name="Text 14"/>
          <p:cNvSpPr/>
          <p:nvPr/>
        </p:nvSpPr>
        <p:spPr>
          <a:xfrm>
            <a:off x="3008376" y="1920240"/>
            <a:ext cx="1709928" cy="231343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copy selected</a:t>
            </a:r>
            <a:endParaRPr lang="en-US" sz="1600" dirty="0"/>
          </a:p>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inputs</a:t>
            </a:r>
            <a:endParaRPr lang="en-US" sz="1600" dirty="0"/>
          </a:p>
        </p:txBody>
      </p:sp>
      <p:sp>
        <p:nvSpPr>
          <p:cNvPr id="17" name="Shape 15"/>
          <p:cNvSpPr/>
          <p:nvPr/>
        </p:nvSpPr>
        <p:spPr>
          <a:xfrm>
            <a:off x="4864608" y="2880360"/>
            <a:ext cx="265176" cy="0"/>
          </a:xfrm>
          <a:prstGeom prst="line">
            <a:avLst/>
          </a:prstGeom>
          <a:noFill/>
          <a:ln w="25400">
            <a:solidFill>
              <a:srgbClr val="5E6B78"/>
            </a:solidFill>
            <a:prstDash val="solid"/>
            <a:headEnd type="none"/>
            <a:tailEnd type="triangle"/>
          </a:ln>
        </p:spPr>
      </p:sp>
      <p:sp>
        <p:nvSpPr>
          <p:cNvPr id="18" name="Shape 16"/>
          <p:cNvSpPr/>
          <p:nvPr/>
        </p:nvSpPr>
        <p:spPr>
          <a:xfrm>
            <a:off x="5138928" y="1389888"/>
            <a:ext cx="2057400" cy="2971800"/>
          </a:xfrm>
          <a:prstGeom prst="roundRect">
            <a:avLst>
              <a:gd name="adj" fmla="val 3556"/>
            </a:avLst>
          </a:prstGeom>
          <a:solidFill>
            <a:srgbClr val="FFFFFF"/>
          </a:solidFill>
          <a:ln w="12700">
            <a:solidFill>
              <a:srgbClr val="D7E0E7"/>
            </a:solidFill>
            <a:prstDash val="solid"/>
          </a:ln>
        </p:spPr>
      </p:sp>
      <p:sp>
        <p:nvSpPr>
          <p:cNvPr id="19" name="Shape 17"/>
          <p:cNvSpPr/>
          <p:nvPr/>
        </p:nvSpPr>
        <p:spPr>
          <a:xfrm>
            <a:off x="5138928" y="1389888"/>
            <a:ext cx="64008" cy="2971800"/>
          </a:xfrm>
          <a:prstGeom prst="rect">
            <a:avLst/>
          </a:prstGeom>
          <a:solidFill>
            <a:srgbClr val="D15B47"/>
          </a:solidFill>
          <a:ln w="12700">
            <a:solidFill>
              <a:srgbClr val="D15B47">
                <a:alpha val="0"/>
              </a:srgbClr>
            </a:solidFill>
            <a:prstDash val="solid"/>
          </a:ln>
        </p:spPr>
      </p:sp>
      <p:sp>
        <p:nvSpPr>
          <p:cNvPr id="20" name="Text 18"/>
          <p:cNvSpPr/>
          <p:nvPr/>
        </p:nvSpPr>
        <p:spPr>
          <a:xfrm>
            <a:off x="5340096" y="153619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Local scratch</a:t>
            </a:r>
            <a:endParaRPr lang="en-US" sz="1700" dirty="0"/>
          </a:p>
        </p:txBody>
      </p:sp>
      <p:sp>
        <p:nvSpPr>
          <p:cNvPr id="21" name="Text 19"/>
          <p:cNvSpPr/>
          <p:nvPr/>
        </p:nvSpPr>
        <p:spPr>
          <a:xfrm>
            <a:off x="5340096" y="1920240"/>
            <a:ext cx="1709928" cy="231343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random I/O +</a:t>
            </a:r>
            <a:endParaRPr lang="en-US" sz="1600" dirty="0"/>
          </a:p>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temporary files</a:t>
            </a:r>
            <a:endParaRPr lang="en-US" sz="1600" dirty="0"/>
          </a:p>
        </p:txBody>
      </p:sp>
      <p:sp>
        <p:nvSpPr>
          <p:cNvPr id="22" name="Shape 20"/>
          <p:cNvSpPr/>
          <p:nvPr/>
        </p:nvSpPr>
        <p:spPr>
          <a:xfrm>
            <a:off x="7196328" y="2880360"/>
            <a:ext cx="265176" cy="0"/>
          </a:xfrm>
          <a:prstGeom prst="line">
            <a:avLst/>
          </a:prstGeom>
          <a:noFill/>
          <a:ln w="25400">
            <a:solidFill>
              <a:srgbClr val="5E6B78"/>
            </a:solidFill>
            <a:prstDash val="solid"/>
            <a:headEnd type="none"/>
            <a:tailEnd type="triangle"/>
          </a:ln>
        </p:spPr>
      </p:sp>
      <p:sp>
        <p:nvSpPr>
          <p:cNvPr id="23" name="Shape 21"/>
          <p:cNvSpPr/>
          <p:nvPr/>
        </p:nvSpPr>
        <p:spPr>
          <a:xfrm>
            <a:off x="7470648" y="1389888"/>
            <a:ext cx="2057400" cy="2971800"/>
          </a:xfrm>
          <a:prstGeom prst="roundRect">
            <a:avLst>
              <a:gd name="adj" fmla="val 3556"/>
            </a:avLst>
          </a:prstGeom>
          <a:solidFill>
            <a:srgbClr val="FFFFFF"/>
          </a:solidFill>
          <a:ln w="12700">
            <a:solidFill>
              <a:srgbClr val="D7E0E7"/>
            </a:solidFill>
            <a:prstDash val="solid"/>
          </a:ln>
        </p:spPr>
      </p:sp>
      <p:sp>
        <p:nvSpPr>
          <p:cNvPr id="24" name="Shape 22"/>
          <p:cNvSpPr/>
          <p:nvPr/>
        </p:nvSpPr>
        <p:spPr>
          <a:xfrm>
            <a:off x="7470648" y="1389888"/>
            <a:ext cx="64008" cy="2971800"/>
          </a:xfrm>
          <a:prstGeom prst="rect">
            <a:avLst/>
          </a:prstGeom>
          <a:solidFill>
            <a:srgbClr val="2C6EAF"/>
          </a:solidFill>
          <a:ln w="12700">
            <a:solidFill>
              <a:srgbClr val="2C6EAF">
                <a:alpha val="0"/>
              </a:srgbClr>
            </a:solidFill>
            <a:prstDash val="solid"/>
          </a:ln>
        </p:spPr>
      </p:sp>
      <p:sp>
        <p:nvSpPr>
          <p:cNvPr id="25" name="Text 23"/>
          <p:cNvSpPr/>
          <p:nvPr/>
        </p:nvSpPr>
        <p:spPr>
          <a:xfrm>
            <a:off x="7671816" y="153619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Validate</a:t>
            </a:r>
            <a:endParaRPr lang="en-US" sz="1700" dirty="0"/>
          </a:p>
        </p:txBody>
      </p:sp>
      <p:sp>
        <p:nvSpPr>
          <p:cNvPr id="26" name="Text 24"/>
          <p:cNvSpPr/>
          <p:nvPr/>
        </p:nvSpPr>
        <p:spPr>
          <a:xfrm>
            <a:off x="7671816" y="1920240"/>
            <a:ext cx="1709928" cy="231343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exit status +</a:t>
            </a:r>
            <a:endParaRPr lang="en-US" sz="1600" dirty="0"/>
          </a:p>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expected output</a:t>
            </a:r>
            <a:endParaRPr lang="en-US" sz="1600" dirty="0"/>
          </a:p>
        </p:txBody>
      </p:sp>
      <p:sp>
        <p:nvSpPr>
          <p:cNvPr id="27" name="Shape 25"/>
          <p:cNvSpPr/>
          <p:nvPr/>
        </p:nvSpPr>
        <p:spPr>
          <a:xfrm>
            <a:off x="9528048" y="2880360"/>
            <a:ext cx="265176" cy="0"/>
          </a:xfrm>
          <a:prstGeom prst="line">
            <a:avLst/>
          </a:prstGeom>
          <a:noFill/>
          <a:ln w="25400">
            <a:solidFill>
              <a:srgbClr val="5E6B78"/>
            </a:solidFill>
            <a:prstDash val="solid"/>
            <a:headEnd type="none"/>
            <a:tailEnd type="triangle"/>
          </a:ln>
        </p:spPr>
      </p:sp>
      <p:sp>
        <p:nvSpPr>
          <p:cNvPr id="28" name="Shape 26"/>
          <p:cNvSpPr/>
          <p:nvPr/>
        </p:nvSpPr>
        <p:spPr>
          <a:xfrm>
            <a:off x="9802368" y="1389888"/>
            <a:ext cx="2057400" cy="2971800"/>
          </a:xfrm>
          <a:prstGeom prst="roundRect">
            <a:avLst>
              <a:gd name="adj" fmla="val 3556"/>
            </a:avLst>
          </a:prstGeom>
          <a:solidFill>
            <a:srgbClr val="FFFFFF"/>
          </a:solidFill>
          <a:ln w="12700">
            <a:solidFill>
              <a:srgbClr val="D7E0E7"/>
            </a:solidFill>
            <a:prstDash val="solid"/>
          </a:ln>
        </p:spPr>
      </p:sp>
      <p:sp>
        <p:nvSpPr>
          <p:cNvPr id="29" name="Shape 27"/>
          <p:cNvSpPr/>
          <p:nvPr/>
        </p:nvSpPr>
        <p:spPr>
          <a:xfrm>
            <a:off x="9802368" y="1389888"/>
            <a:ext cx="64008" cy="2971800"/>
          </a:xfrm>
          <a:prstGeom prst="rect">
            <a:avLst/>
          </a:prstGeom>
          <a:solidFill>
            <a:srgbClr val="3A8D63"/>
          </a:solidFill>
          <a:ln w="12700">
            <a:solidFill>
              <a:srgbClr val="3A8D63">
                <a:alpha val="0"/>
              </a:srgbClr>
            </a:solidFill>
            <a:prstDash val="solid"/>
          </a:ln>
        </p:spPr>
      </p:sp>
      <p:sp>
        <p:nvSpPr>
          <p:cNvPr id="30" name="Text 28"/>
          <p:cNvSpPr/>
          <p:nvPr/>
        </p:nvSpPr>
        <p:spPr>
          <a:xfrm>
            <a:off x="10003536" y="1536192"/>
            <a:ext cx="1709928" cy="320040"/>
          </a:xfrm>
          <a:prstGeom prst="rect">
            <a:avLst/>
          </a:prstGeom>
          <a:noFill/>
          <a:ln/>
        </p:spPr>
        <p:txBody>
          <a:bodyPr wrap="square" lIns="0" tIns="0" rIns="0" bIns="0" rtlCol="0" anchor="ctr">
            <a:normAutofit/>
          </a:bodyPr>
          <a:lstStyle/>
          <a:p>
            <a:pPr algn="l" indent="0" marL="0">
              <a:buNone/>
            </a:pPr>
            <a:r>
              <a:rPr lang="en-US" sz="1700" b="1" dirty="0">
                <a:solidFill>
                  <a:srgbClr val="17324D"/>
                </a:solidFill>
                <a:latin typeface="Liberation Sans" pitchFamily="34" charset="0"/>
                <a:ea typeface="Liberation Sans" pitchFamily="34" charset="-122"/>
                <a:cs typeface="Liberation Sans" pitchFamily="34" charset="-120"/>
              </a:rPr>
              <a:t>Return</a:t>
            </a:r>
            <a:endParaRPr lang="en-US" sz="1700" dirty="0"/>
          </a:p>
        </p:txBody>
      </p:sp>
      <p:sp>
        <p:nvSpPr>
          <p:cNvPr id="31" name="Text 29"/>
          <p:cNvSpPr/>
          <p:nvPr/>
        </p:nvSpPr>
        <p:spPr>
          <a:xfrm>
            <a:off x="10003536" y="1920240"/>
            <a:ext cx="1709928" cy="2313432"/>
          </a:xfrm>
          <a:prstGeom prst="rect">
            <a:avLst/>
          </a:prstGeom>
          <a:noFill/>
          <a:ln/>
        </p:spPr>
        <p:txBody>
          <a:bodyPr wrap="square" lIns="0" tIns="0" rIns="0" bIns="0" rtlCol="0" anchor="t">
            <a:normAutofit/>
          </a:bodyPr>
          <a:lstStyle/>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final outputs</a:t>
            </a:r>
            <a:endParaRPr lang="en-US" sz="1600" dirty="0"/>
          </a:p>
          <a:p>
            <a:pPr algn="l" indent="0" marL="0">
              <a:buNone/>
            </a:pPr>
            <a:r>
              <a:rPr lang="en-US" sz="1600" dirty="0">
                <a:solidFill>
                  <a:srgbClr val="1F2937"/>
                </a:solidFill>
                <a:latin typeface="Liberation Sans" pitchFamily="34" charset="0"/>
                <a:ea typeface="Liberation Sans" pitchFamily="34" charset="-122"/>
                <a:cs typeface="Liberation Sans" pitchFamily="34" charset="-120"/>
              </a:rPr>
              <a:t>to shared storage</a:t>
            </a:r>
            <a:endParaRPr lang="en-US" sz="1600" dirty="0"/>
          </a:p>
        </p:txBody>
      </p:sp>
      <p:sp>
        <p:nvSpPr>
          <p:cNvPr id="32" name="Text 30"/>
          <p:cNvSpPr/>
          <p:nvPr/>
        </p:nvSpPr>
        <p:spPr>
          <a:xfrm>
            <a:off x="1874520" y="4892040"/>
            <a:ext cx="8412480" cy="347472"/>
          </a:xfrm>
          <a:prstGeom prst="rect">
            <a:avLst/>
          </a:prstGeom>
          <a:noFill/>
          <a:ln/>
        </p:spPr>
        <p:txBody>
          <a:bodyPr wrap="square" lIns="0" tIns="0" rIns="0" bIns="0" rtlCol="0" anchor="ctr">
            <a:normAutofit/>
          </a:bodyPr>
          <a:lstStyle/>
          <a:p>
            <a:pPr algn="ctr" indent="0" marL="0">
              <a:buNone/>
            </a:pPr>
            <a:r>
              <a:rPr lang="en-US" sz="1900" b="1" dirty="0">
                <a:solidFill>
                  <a:srgbClr val="17324D"/>
                </a:solidFill>
                <a:latin typeface="Liberation Sans" pitchFamily="34" charset="0"/>
                <a:ea typeface="Liberation Sans" pitchFamily="34" charset="-122"/>
                <a:cs typeface="Liberation Sans" pitchFamily="34" charset="-120"/>
              </a:rPr>
              <a:t>Shared storage is for durable data; scratch is for active temporary work.</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11. Measure the bottleneck with the right tools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Observe job accounting, processes, disks, and GPUs together</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3</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12 / 14</a:t>
            </a:r>
            <a:endParaRPr lang="en-US" sz="900" dirty="0"/>
          </a:p>
        </p:txBody>
      </p:sp>
      <p:sp>
        <p:nvSpPr>
          <p:cNvPr id="7" name="Shape 5"/>
          <p:cNvSpPr/>
          <p:nvPr/>
        </p:nvSpPr>
        <p:spPr>
          <a:xfrm>
            <a:off x="411480" y="6510528"/>
            <a:ext cx="502920" cy="27432"/>
          </a:xfrm>
          <a:prstGeom prst="rect">
            <a:avLst/>
          </a:prstGeom>
          <a:solidFill>
            <a:srgbClr val="D15B47"/>
          </a:solidFill>
          <a:ln w="12700">
            <a:solidFill>
              <a:srgbClr val="D15B47">
                <a:alpha val="0"/>
              </a:srgbClr>
            </a:solidFill>
            <a:prstDash val="solid"/>
          </a:ln>
        </p:spPr>
      </p:sp>
      <p:sp>
        <p:nvSpPr>
          <p:cNvPr id="8" name="Shape 6"/>
          <p:cNvSpPr/>
          <p:nvPr/>
        </p:nvSpPr>
        <p:spPr>
          <a:xfrm>
            <a:off x="621792" y="1234440"/>
            <a:ext cx="10972800" cy="557784"/>
          </a:xfrm>
          <a:prstGeom prst="roundRect">
            <a:avLst/>
          </a:prstGeom>
          <a:solidFill>
            <a:srgbClr val="F3F6F8"/>
          </a:solidFill>
          <a:ln w="12700">
            <a:solidFill>
              <a:srgbClr val="E5EBF0"/>
            </a:solidFill>
            <a:prstDash val="solid"/>
          </a:ln>
        </p:spPr>
      </p:sp>
      <p:sp>
        <p:nvSpPr>
          <p:cNvPr id="9" name="Text 7"/>
          <p:cNvSpPr/>
          <p:nvPr/>
        </p:nvSpPr>
        <p:spPr>
          <a:xfrm>
            <a:off x="822960" y="1344168"/>
            <a:ext cx="2103120" cy="292608"/>
          </a:xfrm>
          <a:prstGeom prst="rect">
            <a:avLst/>
          </a:prstGeom>
          <a:noFill/>
          <a:ln/>
        </p:spPr>
        <p:txBody>
          <a:bodyPr wrap="square" lIns="0" tIns="0" rIns="0" bIns="0" rtlCol="0" anchor="ctr">
            <a:normAutofit/>
          </a:bodyPr>
          <a:lstStyle/>
          <a:p>
            <a:pPr algn="l" indent="0" marL="0">
              <a:buNone/>
            </a:pPr>
            <a:r>
              <a:rPr lang="en-US" sz="1500" b="1" dirty="0">
                <a:solidFill>
                  <a:srgbClr val="D15B47"/>
                </a:solidFill>
                <a:latin typeface="Liberation Mono" pitchFamily="34" charset="0"/>
                <a:ea typeface="Liberation Mono" pitchFamily="34" charset="-122"/>
                <a:cs typeface="Liberation Mono" pitchFamily="34" charset="-120"/>
              </a:rPr>
              <a:t>sacct</a:t>
            </a:r>
            <a:endParaRPr lang="en-US" sz="1500" dirty="0"/>
          </a:p>
        </p:txBody>
      </p:sp>
      <p:sp>
        <p:nvSpPr>
          <p:cNvPr id="10" name="Text 8"/>
          <p:cNvSpPr/>
          <p:nvPr/>
        </p:nvSpPr>
        <p:spPr>
          <a:xfrm>
            <a:off x="3063240" y="1344168"/>
            <a:ext cx="1508760" cy="292608"/>
          </a:xfrm>
          <a:prstGeom prst="rect">
            <a:avLst/>
          </a:prstGeom>
          <a:noFill/>
          <a:ln/>
        </p:spPr>
        <p:txBody>
          <a:bodyPr wrap="square" lIns="0" tIns="0" rIns="0" bIns="0" rtlCol="0" anchor="ctr">
            <a:normAutofit/>
          </a:bodyPr>
          <a:lstStyle/>
          <a:p>
            <a:pPr algn="l" indent="0" marL="0">
              <a:buNone/>
            </a:pPr>
            <a:r>
              <a:rPr lang="en-US" sz="1400" dirty="0">
                <a:solidFill>
                  <a:srgbClr val="5E6B78"/>
                </a:solidFill>
                <a:latin typeface="Liberation Sans" pitchFamily="34" charset="0"/>
                <a:ea typeface="Liberation Sans" pitchFamily="34" charset="-122"/>
                <a:cs typeface="Liberation Sans" pitchFamily="34" charset="-120"/>
              </a:rPr>
              <a:t>after job</a:t>
            </a:r>
            <a:endParaRPr lang="en-US" sz="1400" dirty="0"/>
          </a:p>
        </p:txBody>
      </p:sp>
      <p:sp>
        <p:nvSpPr>
          <p:cNvPr id="11" name="Text 9"/>
          <p:cNvSpPr/>
          <p:nvPr/>
        </p:nvSpPr>
        <p:spPr>
          <a:xfrm>
            <a:off x="4663440" y="1344168"/>
            <a:ext cx="6583680" cy="292608"/>
          </a:xfrm>
          <a:prstGeom prst="rect">
            <a:avLst/>
          </a:prstGeom>
          <a:noFill/>
          <a:ln/>
        </p:spPr>
        <p:txBody>
          <a:bodyPr wrap="square" lIns="0" tIns="0" rIns="0" bIns="0" rtlCol="0" anchor="ctr">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state, elapsed, MaxRSS, allocation</a:t>
            </a:r>
            <a:endParaRPr lang="en-US" sz="1500" dirty="0"/>
          </a:p>
        </p:txBody>
      </p:sp>
      <p:sp>
        <p:nvSpPr>
          <p:cNvPr id="12" name="Shape 10"/>
          <p:cNvSpPr/>
          <p:nvPr/>
        </p:nvSpPr>
        <p:spPr>
          <a:xfrm>
            <a:off x="621792" y="1947672"/>
            <a:ext cx="10972800" cy="557784"/>
          </a:xfrm>
          <a:prstGeom prst="roundRect">
            <a:avLst/>
          </a:prstGeom>
          <a:solidFill>
            <a:srgbClr val="FAFBFC"/>
          </a:solidFill>
          <a:ln w="12700">
            <a:solidFill>
              <a:srgbClr val="D7E0E7"/>
            </a:solidFill>
            <a:prstDash val="solid"/>
          </a:ln>
        </p:spPr>
      </p:sp>
      <p:sp>
        <p:nvSpPr>
          <p:cNvPr id="13" name="Text 11"/>
          <p:cNvSpPr/>
          <p:nvPr/>
        </p:nvSpPr>
        <p:spPr>
          <a:xfrm>
            <a:off x="822960" y="2057400"/>
            <a:ext cx="2103120" cy="292608"/>
          </a:xfrm>
          <a:prstGeom prst="rect">
            <a:avLst/>
          </a:prstGeom>
          <a:noFill/>
          <a:ln/>
        </p:spPr>
        <p:txBody>
          <a:bodyPr wrap="square" lIns="0" tIns="0" rIns="0" bIns="0" rtlCol="0" anchor="ctr">
            <a:normAutofit/>
          </a:bodyPr>
          <a:lstStyle/>
          <a:p>
            <a:pPr algn="l" indent="0" marL="0">
              <a:buNone/>
            </a:pPr>
            <a:r>
              <a:rPr lang="en-US" sz="1500" b="1" dirty="0">
                <a:solidFill>
                  <a:srgbClr val="D15B47"/>
                </a:solidFill>
                <a:latin typeface="Liberation Mono" pitchFamily="34" charset="0"/>
                <a:ea typeface="Liberation Mono" pitchFamily="34" charset="-122"/>
                <a:cs typeface="Liberation Mono" pitchFamily="34" charset="-120"/>
              </a:rPr>
              <a:t>sstat</a:t>
            </a:r>
            <a:endParaRPr lang="en-US" sz="1500" dirty="0"/>
          </a:p>
        </p:txBody>
      </p:sp>
      <p:sp>
        <p:nvSpPr>
          <p:cNvPr id="14" name="Text 12"/>
          <p:cNvSpPr/>
          <p:nvPr/>
        </p:nvSpPr>
        <p:spPr>
          <a:xfrm>
            <a:off x="3063240" y="2057400"/>
            <a:ext cx="1508760" cy="292608"/>
          </a:xfrm>
          <a:prstGeom prst="rect">
            <a:avLst/>
          </a:prstGeom>
          <a:noFill/>
          <a:ln/>
        </p:spPr>
        <p:txBody>
          <a:bodyPr wrap="square" lIns="0" tIns="0" rIns="0" bIns="0" rtlCol="0" anchor="ctr">
            <a:normAutofit/>
          </a:bodyPr>
          <a:lstStyle/>
          <a:p>
            <a:pPr algn="l" indent="0" marL="0">
              <a:buNone/>
            </a:pPr>
            <a:r>
              <a:rPr lang="en-US" sz="1400" dirty="0">
                <a:solidFill>
                  <a:srgbClr val="5E6B78"/>
                </a:solidFill>
                <a:latin typeface="Liberation Sans" pitchFamily="34" charset="0"/>
                <a:ea typeface="Liberation Sans" pitchFamily="34" charset="-122"/>
                <a:cs typeface="Liberation Sans" pitchFamily="34" charset="-120"/>
              </a:rPr>
              <a:t>during job</a:t>
            </a:r>
            <a:endParaRPr lang="en-US" sz="1400" dirty="0"/>
          </a:p>
        </p:txBody>
      </p:sp>
      <p:sp>
        <p:nvSpPr>
          <p:cNvPr id="15" name="Text 13"/>
          <p:cNvSpPr/>
          <p:nvPr/>
        </p:nvSpPr>
        <p:spPr>
          <a:xfrm>
            <a:off x="4663440" y="2057400"/>
            <a:ext cx="6583680" cy="292608"/>
          </a:xfrm>
          <a:prstGeom prst="rect">
            <a:avLst/>
          </a:prstGeom>
          <a:noFill/>
          <a:ln/>
        </p:spPr>
        <p:txBody>
          <a:bodyPr wrap="square" lIns="0" tIns="0" rIns="0" bIns="0" rtlCol="0" anchor="ctr">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live CPU and memory statistics</a:t>
            </a:r>
            <a:endParaRPr lang="en-US" sz="1500" dirty="0"/>
          </a:p>
        </p:txBody>
      </p:sp>
      <p:sp>
        <p:nvSpPr>
          <p:cNvPr id="16" name="Shape 14"/>
          <p:cNvSpPr/>
          <p:nvPr/>
        </p:nvSpPr>
        <p:spPr>
          <a:xfrm>
            <a:off x="621792" y="2660904"/>
            <a:ext cx="10972800" cy="557784"/>
          </a:xfrm>
          <a:prstGeom prst="roundRect">
            <a:avLst/>
          </a:prstGeom>
          <a:solidFill>
            <a:srgbClr val="F3F6F8"/>
          </a:solidFill>
          <a:ln w="12700">
            <a:solidFill>
              <a:srgbClr val="E5EBF0"/>
            </a:solidFill>
            <a:prstDash val="solid"/>
          </a:ln>
        </p:spPr>
      </p:sp>
      <p:sp>
        <p:nvSpPr>
          <p:cNvPr id="17" name="Text 15"/>
          <p:cNvSpPr/>
          <p:nvPr/>
        </p:nvSpPr>
        <p:spPr>
          <a:xfrm>
            <a:off x="822960" y="2770632"/>
            <a:ext cx="2103120" cy="292608"/>
          </a:xfrm>
          <a:prstGeom prst="rect">
            <a:avLst/>
          </a:prstGeom>
          <a:noFill/>
          <a:ln/>
        </p:spPr>
        <p:txBody>
          <a:bodyPr wrap="square" lIns="0" tIns="0" rIns="0" bIns="0" rtlCol="0" anchor="ctr">
            <a:normAutofit/>
          </a:bodyPr>
          <a:lstStyle/>
          <a:p>
            <a:pPr algn="l" indent="0" marL="0">
              <a:buNone/>
            </a:pPr>
            <a:r>
              <a:rPr lang="en-US" sz="1500" b="1" dirty="0">
                <a:solidFill>
                  <a:srgbClr val="D15B47"/>
                </a:solidFill>
                <a:latin typeface="Liberation Mono" pitchFamily="34" charset="0"/>
                <a:ea typeface="Liberation Mono" pitchFamily="34" charset="-122"/>
                <a:cs typeface="Liberation Mono" pitchFamily="34" charset="-120"/>
              </a:rPr>
              <a:t>time / pidstat</a:t>
            </a:r>
            <a:endParaRPr lang="en-US" sz="1500" dirty="0"/>
          </a:p>
        </p:txBody>
      </p:sp>
      <p:sp>
        <p:nvSpPr>
          <p:cNvPr id="18" name="Text 16"/>
          <p:cNvSpPr/>
          <p:nvPr/>
        </p:nvSpPr>
        <p:spPr>
          <a:xfrm>
            <a:off x="3063240" y="2770632"/>
            <a:ext cx="1508760" cy="292608"/>
          </a:xfrm>
          <a:prstGeom prst="rect">
            <a:avLst/>
          </a:prstGeom>
          <a:noFill/>
          <a:ln/>
        </p:spPr>
        <p:txBody>
          <a:bodyPr wrap="square" lIns="0" tIns="0" rIns="0" bIns="0" rtlCol="0" anchor="ctr">
            <a:normAutofit/>
          </a:bodyPr>
          <a:lstStyle/>
          <a:p>
            <a:pPr algn="l" indent="0" marL="0">
              <a:buNone/>
            </a:pPr>
            <a:r>
              <a:rPr lang="en-US" sz="1400" dirty="0">
                <a:solidFill>
                  <a:srgbClr val="5E6B78"/>
                </a:solidFill>
                <a:latin typeface="Liberation Sans" pitchFamily="34" charset="0"/>
                <a:ea typeface="Liberation Sans" pitchFamily="34" charset="-122"/>
                <a:cs typeface="Liberation Sans" pitchFamily="34" charset="-120"/>
              </a:rPr>
              <a:t>inside job</a:t>
            </a:r>
            <a:endParaRPr lang="en-US" sz="1400" dirty="0"/>
          </a:p>
        </p:txBody>
      </p:sp>
      <p:sp>
        <p:nvSpPr>
          <p:cNvPr id="19" name="Text 17"/>
          <p:cNvSpPr/>
          <p:nvPr/>
        </p:nvSpPr>
        <p:spPr>
          <a:xfrm>
            <a:off x="4663440" y="2770632"/>
            <a:ext cx="6583680" cy="292608"/>
          </a:xfrm>
          <a:prstGeom prst="rect">
            <a:avLst/>
          </a:prstGeom>
          <a:noFill/>
          <a:ln/>
        </p:spPr>
        <p:txBody>
          <a:bodyPr wrap="square" lIns="0" tIns="0" rIns="0" bIns="0" rtlCol="0" anchor="ctr">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CPU time and process behavior</a:t>
            </a:r>
            <a:endParaRPr lang="en-US" sz="1500" dirty="0"/>
          </a:p>
        </p:txBody>
      </p:sp>
      <p:sp>
        <p:nvSpPr>
          <p:cNvPr id="20" name="Shape 18"/>
          <p:cNvSpPr/>
          <p:nvPr/>
        </p:nvSpPr>
        <p:spPr>
          <a:xfrm>
            <a:off x="621792" y="3374136"/>
            <a:ext cx="10972800" cy="557784"/>
          </a:xfrm>
          <a:prstGeom prst="roundRect">
            <a:avLst/>
          </a:prstGeom>
          <a:solidFill>
            <a:srgbClr val="FAFBFC"/>
          </a:solidFill>
          <a:ln w="12700">
            <a:solidFill>
              <a:srgbClr val="D7E0E7"/>
            </a:solidFill>
            <a:prstDash val="solid"/>
          </a:ln>
        </p:spPr>
      </p:sp>
      <p:sp>
        <p:nvSpPr>
          <p:cNvPr id="21" name="Text 19"/>
          <p:cNvSpPr/>
          <p:nvPr/>
        </p:nvSpPr>
        <p:spPr>
          <a:xfrm>
            <a:off x="822960" y="3483864"/>
            <a:ext cx="2103120" cy="292608"/>
          </a:xfrm>
          <a:prstGeom prst="rect">
            <a:avLst/>
          </a:prstGeom>
          <a:noFill/>
          <a:ln/>
        </p:spPr>
        <p:txBody>
          <a:bodyPr wrap="square" lIns="0" tIns="0" rIns="0" bIns="0" rtlCol="0" anchor="ctr">
            <a:normAutofit/>
          </a:bodyPr>
          <a:lstStyle/>
          <a:p>
            <a:pPr algn="l" indent="0" marL="0">
              <a:buNone/>
            </a:pPr>
            <a:r>
              <a:rPr lang="en-US" sz="1500" b="1" dirty="0">
                <a:solidFill>
                  <a:srgbClr val="D15B47"/>
                </a:solidFill>
                <a:latin typeface="Liberation Mono" pitchFamily="34" charset="0"/>
                <a:ea typeface="Liberation Mono" pitchFamily="34" charset="-122"/>
                <a:cs typeface="Liberation Mono" pitchFamily="34" charset="-120"/>
              </a:rPr>
              <a:t>iostat / vmstat</a:t>
            </a:r>
            <a:endParaRPr lang="en-US" sz="1500" dirty="0"/>
          </a:p>
        </p:txBody>
      </p:sp>
      <p:sp>
        <p:nvSpPr>
          <p:cNvPr id="22" name="Text 20"/>
          <p:cNvSpPr/>
          <p:nvPr/>
        </p:nvSpPr>
        <p:spPr>
          <a:xfrm>
            <a:off x="3063240" y="3483864"/>
            <a:ext cx="1508760" cy="292608"/>
          </a:xfrm>
          <a:prstGeom prst="rect">
            <a:avLst/>
          </a:prstGeom>
          <a:noFill/>
          <a:ln/>
        </p:spPr>
        <p:txBody>
          <a:bodyPr wrap="square" lIns="0" tIns="0" rIns="0" bIns="0" rtlCol="0" anchor="ctr">
            <a:normAutofit/>
          </a:bodyPr>
          <a:lstStyle/>
          <a:p>
            <a:pPr algn="l" indent="0" marL="0">
              <a:buNone/>
            </a:pPr>
            <a:r>
              <a:rPr lang="en-US" sz="1400" dirty="0">
                <a:solidFill>
                  <a:srgbClr val="5E6B78"/>
                </a:solidFill>
                <a:latin typeface="Liberation Sans" pitchFamily="34" charset="0"/>
                <a:ea typeface="Liberation Sans" pitchFamily="34" charset="-122"/>
                <a:cs typeface="Liberation Sans" pitchFamily="34" charset="-120"/>
              </a:rPr>
              <a:t>inside job</a:t>
            </a:r>
            <a:endParaRPr lang="en-US" sz="1400" dirty="0"/>
          </a:p>
        </p:txBody>
      </p:sp>
      <p:sp>
        <p:nvSpPr>
          <p:cNvPr id="23" name="Text 21"/>
          <p:cNvSpPr/>
          <p:nvPr/>
        </p:nvSpPr>
        <p:spPr>
          <a:xfrm>
            <a:off x="4663440" y="3483864"/>
            <a:ext cx="6583680" cy="292608"/>
          </a:xfrm>
          <a:prstGeom prst="rect">
            <a:avLst/>
          </a:prstGeom>
          <a:noFill/>
          <a:ln/>
        </p:spPr>
        <p:txBody>
          <a:bodyPr wrap="square" lIns="0" tIns="0" rIns="0" bIns="0" rtlCol="0" anchor="ctr">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I/O wait, devices, memory pressure</a:t>
            </a:r>
            <a:endParaRPr lang="en-US" sz="1500" dirty="0"/>
          </a:p>
        </p:txBody>
      </p:sp>
      <p:sp>
        <p:nvSpPr>
          <p:cNvPr id="24" name="Shape 22"/>
          <p:cNvSpPr/>
          <p:nvPr/>
        </p:nvSpPr>
        <p:spPr>
          <a:xfrm>
            <a:off x="621792" y="4087368"/>
            <a:ext cx="10972800" cy="557784"/>
          </a:xfrm>
          <a:prstGeom prst="roundRect">
            <a:avLst/>
          </a:prstGeom>
          <a:solidFill>
            <a:srgbClr val="F3F6F8"/>
          </a:solidFill>
          <a:ln w="12700">
            <a:solidFill>
              <a:srgbClr val="E5EBF0"/>
            </a:solidFill>
            <a:prstDash val="solid"/>
          </a:ln>
        </p:spPr>
      </p:sp>
      <p:sp>
        <p:nvSpPr>
          <p:cNvPr id="25" name="Text 23"/>
          <p:cNvSpPr/>
          <p:nvPr/>
        </p:nvSpPr>
        <p:spPr>
          <a:xfrm>
            <a:off x="822960" y="4197096"/>
            <a:ext cx="2103120" cy="292608"/>
          </a:xfrm>
          <a:prstGeom prst="rect">
            <a:avLst/>
          </a:prstGeom>
          <a:noFill/>
          <a:ln/>
        </p:spPr>
        <p:txBody>
          <a:bodyPr wrap="square" lIns="0" tIns="0" rIns="0" bIns="0" rtlCol="0" anchor="ctr">
            <a:normAutofit/>
          </a:bodyPr>
          <a:lstStyle/>
          <a:p>
            <a:pPr algn="l" indent="0" marL="0">
              <a:buNone/>
            </a:pPr>
            <a:r>
              <a:rPr lang="en-US" sz="1500" b="1" dirty="0">
                <a:solidFill>
                  <a:srgbClr val="D15B47"/>
                </a:solidFill>
                <a:latin typeface="Liberation Mono" pitchFamily="34" charset="0"/>
                <a:ea typeface="Liberation Mono" pitchFamily="34" charset="-122"/>
                <a:cs typeface="Liberation Mono" pitchFamily="34" charset="-120"/>
              </a:rPr>
              <a:t>nvidia-smi</a:t>
            </a:r>
            <a:endParaRPr lang="en-US" sz="1500" dirty="0"/>
          </a:p>
        </p:txBody>
      </p:sp>
      <p:sp>
        <p:nvSpPr>
          <p:cNvPr id="26" name="Text 24"/>
          <p:cNvSpPr/>
          <p:nvPr/>
        </p:nvSpPr>
        <p:spPr>
          <a:xfrm>
            <a:off x="3063240" y="4197096"/>
            <a:ext cx="1508760" cy="292608"/>
          </a:xfrm>
          <a:prstGeom prst="rect">
            <a:avLst/>
          </a:prstGeom>
          <a:noFill/>
          <a:ln/>
        </p:spPr>
        <p:txBody>
          <a:bodyPr wrap="square" lIns="0" tIns="0" rIns="0" bIns="0" rtlCol="0" anchor="ctr">
            <a:normAutofit/>
          </a:bodyPr>
          <a:lstStyle/>
          <a:p>
            <a:pPr algn="l" indent="0" marL="0">
              <a:buNone/>
            </a:pPr>
            <a:r>
              <a:rPr lang="en-US" sz="1400" dirty="0">
                <a:solidFill>
                  <a:srgbClr val="5E6B78"/>
                </a:solidFill>
                <a:latin typeface="Liberation Sans" pitchFamily="34" charset="0"/>
                <a:ea typeface="Liberation Sans" pitchFamily="34" charset="-122"/>
                <a:cs typeface="Liberation Sans" pitchFamily="34" charset="-120"/>
              </a:rPr>
              <a:t>GPU job</a:t>
            </a:r>
            <a:endParaRPr lang="en-US" sz="1400" dirty="0"/>
          </a:p>
        </p:txBody>
      </p:sp>
      <p:sp>
        <p:nvSpPr>
          <p:cNvPr id="27" name="Text 25"/>
          <p:cNvSpPr/>
          <p:nvPr/>
        </p:nvSpPr>
        <p:spPr>
          <a:xfrm>
            <a:off x="4663440" y="4197096"/>
            <a:ext cx="6583680" cy="292608"/>
          </a:xfrm>
          <a:prstGeom prst="rect">
            <a:avLst/>
          </a:prstGeom>
          <a:noFill/>
          <a:ln/>
        </p:spPr>
        <p:txBody>
          <a:bodyPr wrap="square" lIns="0" tIns="0" rIns="0" bIns="0" rtlCol="0" anchor="ctr">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GPU use, memory, processes</a:t>
            </a:r>
            <a:endParaRPr lang="en-US" sz="1500" dirty="0"/>
          </a:p>
        </p:txBody>
      </p:sp>
      <p:sp>
        <p:nvSpPr>
          <p:cNvPr id="28" name="Shape 26"/>
          <p:cNvSpPr/>
          <p:nvPr/>
        </p:nvSpPr>
        <p:spPr>
          <a:xfrm>
            <a:off x="621792" y="4800600"/>
            <a:ext cx="10972800" cy="557784"/>
          </a:xfrm>
          <a:prstGeom prst="roundRect">
            <a:avLst/>
          </a:prstGeom>
          <a:solidFill>
            <a:srgbClr val="FAFBFC"/>
          </a:solidFill>
          <a:ln w="12700">
            <a:solidFill>
              <a:srgbClr val="D7E0E7"/>
            </a:solidFill>
            <a:prstDash val="solid"/>
          </a:ln>
        </p:spPr>
      </p:sp>
      <p:sp>
        <p:nvSpPr>
          <p:cNvPr id="29" name="Text 27"/>
          <p:cNvSpPr/>
          <p:nvPr/>
        </p:nvSpPr>
        <p:spPr>
          <a:xfrm>
            <a:off x="822960" y="4910328"/>
            <a:ext cx="2103120" cy="292608"/>
          </a:xfrm>
          <a:prstGeom prst="rect">
            <a:avLst/>
          </a:prstGeom>
          <a:noFill/>
          <a:ln/>
        </p:spPr>
        <p:txBody>
          <a:bodyPr wrap="square" lIns="0" tIns="0" rIns="0" bIns="0" rtlCol="0" anchor="ctr">
            <a:normAutofit/>
          </a:bodyPr>
          <a:lstStyle/>
          <a:p>
            <a:pPr algn="l" indent="0" marL="0">
              <a:buNone/>
            </a:pPr>
            <a:r>
              <a:rPr lang="en-US" sz="1500" b="1" dirty="0">
                <a:solidFill>
                  <a:srgbClr val="D15B47"/>
                </a:solidFill>
                <a:latin typeface="Liberation Mono" pitchFamily="34" charset="0"/>
                <a:ea typeface="Liberation Mono" pitchFamily="34" charset="-122"/>
                <a:cs typeface="Liberation Mono" pitchFamily="34" charset="-120"/>
              </a:rPr>
              <a:t>Snakemake benchmark</a:t>
            </a:r>
            <a:endParaRPr lang="en-US" sz="1500" dirty="0"/>
          </a:p>
        </p:txBody>
      </p:sp>
      <p:sp>
        <p:nvSpPr>
          <p:cNvPr id="30" name="Text 28"/>
          <p:cNvSpPr/>
          <p:nvPr/>
        </p:nvSpPr>
        <p:spPr>
          <a:xfrm>
            <a:off x="3063240" y="4910328"/>
            <a:ext cx="1508760" cy="292608"/>
          </a:xfrm>
          <a:prstGeom prst="rect">
            <a:avLst/>
          </a:prstGeom>
          <a:noFill/>
          <a:ln/>
        </p:spPr>
        <p:txBody>
          <a:bodyPr wrap="square" lIns="0" tIns="0" rIns="0" bIns="0" rtlCol="0" anchor="ctr">
            <a:normAutofit/>
          </a:bodyPr>
          <a:lstStyle/>
          <a:p>
            <a:pPr algn="l" indent="0" marL="0">
              <a:buNone/>
            </a:pPr>
            <a:r>
              <a:rPr lang="en-US" sz="1400" dirty="0">
                <a:solidFill>
                  <a:srgbClr val="5E6B78"/>
                </a:solidFill>
                <a:latin typeface="Liberation Sans" pitchFamily="34" charset="0"/>
                <a:ea typeface="Liberation Sans" pitchFamily="34" charset="-122"/>
                <a:cs typeface="Liberation Sans" pitchFamily="34" charset="-120"/>
              </a:rPr>
              <a:t>per rule</a:t>
            </a:r>
            <a:endParaRPr lang="en-US" sz="1400" dirty="0"/>
          </a:p>
        </p:txBody>
      </p:sp>
      <p:sp>
        <p:nvSpPr>
          <p:cNvPr id="31" name="Text 29"/>
          <p:cNvSpPr/>
          <p:nvPr/>
        </p:nvSpPr>
        <p:spPr>
          <a:xfrm>
            <a:off x="4663440" y="4910328"/>
            <a:ext cx="6583680" cy="292608"/>
          </a:xfrm>
          <a:prstGeom prst="rect">
            <a:avLst/>
          </a:prstGeom>
          <a:noFill/>
          <a:ln/>
        </p:spPr>
        <p:txBody>
          <a:bodyPr wrap="square" lIns="0" tIns="0" rIns="0" bIns="0" rtlCol="0" anchor="ctr">
            <a:normAutofit/>
          </a:bodyPr>
          <a:lstStyle/>
          <a:p>
            <a:pPr algn="l" indent="0" marL="0">
              <a:buNone/>
            </a:pPr>
            <a:r>
              <a:rPr lang="en-US" sz="1500" dirty="0">
                <a:solidFill>
                  <a:srgbClr val="1F2937"/>
                </a:solidFill>
                <a:latin typeface="Liberation Sans" pitchFamily="34" charset="0"/>
                <a:ea typeface="Liberation Sans" pitchFamily="34" charset="-122"/>
                <a:cs typeface="Liberation Sans" pitchFamily="34" charset="-120"/>
              </a:rPr>
              <a:t>repeatable rule-level evidence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12. A bottleneck diagnosis matrix</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Use symptoms to choose the next measurement</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3</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13 / 14</a:t>
            </a:r>
            <a:endParaRPr lang="en-US" sz="900" dirty="0"/>
          </a:p>
        </p:txBody>
      </p:sp>
      <p:sp>
        <p:nvSpPr>
          <p:cNvPr id="7" name="Shape 5"/>
          <p:cNvSpPr/>
          <p:nvPr/>
        </p:nvSpPr>
        <p:spPr>
          <a:xfrm>
            <a:off x="411480" y="6510528"/>
            <a:ext cx="502920" cy="27432"/>
          </a:xfrm>
          <a:prstGeom prst="rect">
            <a:avLst/>
          </a:prstGeom>
          <a:solidFill>
            <a:srgbClr val="D15B47"/>
          </a:solidFill>
          <a:ln w="12700">
            <a:solidFill>
              <a:srgbClr val="D15B47">
                <a:alpha val="0"/>
              </a:srgbClr>
            </a:solidFill>
            <a:prstDash val="solid"/>
          </a:ln>
        </p:spPr>
      </p:sp>
      <p:sp>
        <p:nvSpPr>
          <p:cNvPr id="8" name="Shape 6"/>
          <p:cNvSpPr/>
          <p:nvPr/>
        </p:nvSpPr>
        <p:spPr>
          <a:xfrm>
            <a:off x="594360" y="1234440"/>
            <a:ext cx="2423160" cy="566928"/>
          </a:xfrm>
          <a:prstGeom prst="rect">
            <a:avLst/>
          </a:prstGeom>
          <a:solidFill>
            <a:srgbClr val="D15B47"/>
          </a:solidFill>
          <a:ln w="12700">
            <a:solidFill>
              <a:srgbClr val="D15B47">
                <a:alpha val="0"/>
              </a:srgbClr>
            </a:solidFill>
            <a:prstDash val="solid"/>
          </a:ln>
        </p:spPr>
      </p:sp>
      <p:sp>
        <p:nvSpPr>
          <p:cNvPr id="9" name="Text 7"/>
          <p:cNvSpPr/>
          <p:nvPr/>
        </p:nvSpPr>
        <p:spPr>
          <a:xfrm>
            <a:off x="704088" y="1371600"/>
            <a:ext cx="2203704" cy="29260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Liberation Sans" pitchFamily="34" charset="0"/>
                <a:ea typeface="Liberation Sans" pitchFamily="34" charset="-122"/>
                <a:cs typeface="Liberation Sans" pitchFamily="34" charset="-120"/>
              </a:rPr>
              <a:t>Symptom</a:t>
            </a:r>
            <a:endParaRPr lang="en-US" sz="1600" dirty="0"/>
          </a:p>
        </p:txBody>
      </p:sp>
      <p:sp>
        <p:nvSpPr>
          <p:cNvPr id="10" name="Shape 8"/>
          <p:cNvSpPr/>
          <p:nvPr/>
        </p:nvSpPr>
        <p:spPr>
          <a:xfrm>
            <a:off x="3246120" y="1234440"/>
            <a:ext cx="4069080" cy="566928"/>
          </a:xfrm>
          <a:prstGeom prst="rect">
            <a:avLst/>
          </a:prstGeom>
          <a:solidFill>
            <a:srgbClr val="D15B47"/>
          </a:solidFill>
          <a:ln w="12700">
            <a:solidFill>
              <a:srgbClr val="D15B47">
                <a:alpha val="0"/>
              </a:srgbClr>
            </a:solidFill>
            <a:prstDash val="solid"/>
          </a:ln>
        </p:spPr>
      </p:sp>
      <p:sp>
        <p:nvSpPr>
          <p:cNvPr id="11" name="Text 9"/>
          <p:cNvSpPr/>
          <p:nvPr/>
        </p:nvSpPr>
        <p:spPr>
          <a:xfrm>
            <a:off x="3355848" y="1371600"/>
            <a:ext cx="3849624" cy="29260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Liberation Sans" pitchFamily="34" charset="0"/>
                <a:ea typeface="Liberation Sans" pitchFamily="34" charset="-122"/>
                <a:cs typeface="Liberation Sans" pitchFamily="34" charset="-120"/>
              </a:rPr>
              <a:t>Likely candidates</a:t>
            </a:r>
            <a:endParaRPr lang="en-US" sz="1600" dirty="0"/>
          </a:p>
        </p:txBody>
      </p:sp>
      <p:sp>
        <p:nvSpPr>
          <p:cNvPr id="12" name="Shape 10"/>
          <p:cNvSpPr/>
          <p:nvPr/>
        </p:nvSpPr>
        <p:spPr>
          <a:xfrm>
            <a:off x="7543800" y="1234440"/>
            <a:ext cx="4050792" cy="566928"/>
          </a:xfrm>
          <a:prstGeom prst="rect">
            <a:avLst/>
          </a:prstGeom>
          <a:solidFill>
            <a:srgbClr val="D15B47"/>
          </a:solidFill>
          <a:ln w="12700">
            <a:solidFill>
              <a:srgbClr val="D15B47">
                <a:alpha val="0"/>
              </a:srgbClr>
            </a:solidFill>
            <a:prstDash val="solid"/>
          </a:ln>
        </p:spPr>
      </p:sp>
      <p:sp>
        <p:nvSpPr>
          <p:cNvPr id="13" name="Text 11"/>
          <p:cNvSpPr/>
          <p:nvPr/>
        </p:nvSpPr>
        <p:spPr>
          <a:xfrm>
            <a:off x="7653528" y="1371600"/>
            <a:ext cx="3831336" cy="29260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Liberation Sans" pitchFamily="34" charset="0"/>
                <a:ea typeface="Liberation Sans" pitchFamily="34" charset="-122"/>
                <a:cs typeface="Liberation Sans" pitchFamily="34" charset="-120"/>
              </a:rPr>
              <a:t>Next evidence</a:t>
            </a:r>
            <a:endParaRPr lang="en-US" sz="1600" dirty="0"/>
          </a:p>
        </p:txBody>
      </p:sp>
      <p:sp>
        <p:nvSpPr>
          <p:cNvPr id="14" name="Shape 12"/>
          <p:cNvSpPr/>
          <p:nvPr/>
        </p:nvSpPr>
        <p:spPr>
          <a:xfrm>
            <a:off x="594360" y="1801368"/>
            <a:ext cx="2423160" cy="749808"/>
          </a:xfrm>
          <a:prstGeom prst="rect">
            <a:avLst/>
          </a:prstGeom>
          <a:solidFill>
            <a:srgbClr val="FFFFFF"/>
          </a:solidFill>
          <a:ln w="12700">
            <a:solidFill>
              <a:srgbClr val="D7E0E7"/>
            </a:solidFill>
            <a:prstDash val="solid"/>
          </a:ln>
        </p:spPr>
      </p:sp>
      <p:sp>
        <p:nvSpPr>
          <p:cNvPr id="15" name="Text 13"/>
          <p:cNvSpPr/>
          <p:nvPr/>
        </p:nvSpPr>
        <p:spPr>
          <a:xfrm>
            <a:off x="704088" y="1892808"/>
            <a:ext cx="2203704" cy="539496"/>
          </a:xfrm>
          <a:prstGeom prst="rect">
            <a:avLst/>
          </a:prstGeom>
          <a:noFill/>
          <a:ln/>
        </p:spPr>
        <p:txBody>
          <a:bodyPr wrap="square" lIns="0" tIns="0" rIns="0" bIns="0" rtlCol="0" anchor="ctr">
            <a:normAutofit/>
          </a:bodyPr>
          <a:lstStyle/>
          <a:p>
            <a:pPr algn="l" indent="0" marL="0">
              <a:buNone/>
            </a:pPr>
            <a:r>
              <a:rPr lang="en-US" sz="1450" b="1" dirty="0">
                <a:solidFill>
                  <a:srgbClr val="17324D"/>
                </a:solidFill>
                <a:latin typeface="Liberation Sans" pitchFamily="34" charset="0"/>
                <a:ea typeface="Liberation Sans" pitchFamily="34" charset="-122"/>
                <a:cs typeface="Liberation Sans" pitchFamily="34" charset="-120"/>
              </a:rPr>
              <a:t>Low CPU efficiency</a:t>
            </a:r>
            <a:endParaRPr lang="en-US" sz="1450" dirty="0"/>
          </a:p>
        </p:txBody>
      </p:sp>
      <p:sp>
        <p:nvSpPr>
          <p:cNvPr id="16" name="Shape 14"/>
          <p:cNvSpPr/>
          <p:nvPr/>
        </p:nvSpPr>
        <p:spPr>
          <a:xfrm>
            <a:off x="3246120" y="1801368"/>
            <a:ext cx="4069080" cy="749808"/>
          </a:xfrm>
          <a:prstGeom prst="rect">
            <a:avLst/>
          </a:prstGeom>
          <a:solidFill>
            <a:srgbClr val="FFFFFF"/>
          </a:solidFill>
          <a:ln w="12700">
            <a:solidFill>
              <a:srgbClr val="D7E0E7"/>
            </a:solidFill>
            <a:prstDash val="solid"/>
          </a:ln>
        </p:spPr>
      </p:sp>
      <p:sp>
        <p:nvSpPr>
          <p:cNvPr id="17" name="Text 15"/>
          <p:cNvSpPr/>
          <p:nvPr/>
        </p:nvSpPr>
        <p:spPr>
          <a:xfrm>
            <a:off x="3355848" y="1892808"/>
            <a:ext cx="3849624" cy="539496"/>
          </a:xfrm>
          <a:prstGeom prst="rect">
            <a:avLst/>
          </a:prstGeom>
          <a:noFill/>
          <a:ln/>
        </p:spPr>
        <p:txBody>
          <a:bodyPr wrap="square" lIns="0" tIns="0" rIns="0" bIns="0" rtlCol="0" anchor="ctr">
            <a:normAutofit/>
          </a:bodyPr>
          <a:lstStyle/>
          <a:p>
            <a:pPr algn="l" indent="0" marL="0">
              <a:buNone/>
            </a:pPr>
            <a:r>
              <a:rPr lang="en-US" sz="1400" dirty="0">
                <a:solidFill>
                  <a:srgbClr val="1F2937"/>
                </a:solidFill>
                <a:latin typeface="Liberation Sans" pitchFamily="34" charset="0"/>
                <a:ea typeface="Liberation Sans" pitchFamily="34" charset="-122"/>
                <a:cs typeface="Liberation Sans" pitchFamily="34" charset="-120"/>
              </a:rPr>
              <a:t>I/O wait · serial region · too many threads</a:t>
            </a:r>
            <a:endParaRPr lang="en-US" sz="1400" dirty="0"/>
          </a:p>
        </p:txBody>
      </p:sp>
      <p:sp>
        <p:nvSpPr>
          <p:cNvPr id="18" name="Shape 16"/>
          <p:cNvSpPr/>
          <p:nvPr/>
        </p:nvSpPr>
        <p:spPr>
          <a:xfrm>
            <a:off x="7543800" y="1801368"/>
            <a:ext cx="4050792" cy="749808"/>
          </a:xfrm>
          <a:prstGeom prst="rect">
            <a:avLst/>
          </a:prstGeom>
          <a:solidFill>
            <a:srgbClr val="FFFFFF"/>
          </a:solidFill>
          <a:ln w="12700">
            <a:solidFill>
              <a:srgbClr val="D7E0E7"/>
            </a:solidFill>
            <a:prstDash val="solid"/>
          </a:ln>
        </p:spPr>
      </p:sp>
      <p:sp>
        <p:nvSpPr>
          <p:cNvPr id="19" name="Text 17"/>
          <p:cNvSpPr/>
          <p:nvPr/>
        </p:nvSpPr>
        <p:spPr>
          <a:xfrm>
            <a:off x="7653528" y="1892808"/>
            <a:ext cx="3831336" cy="539496"/>
          </a:xfrm>
          <a:prstGeom prst="rect">
            <a:avLst/>
          </a:prstGeom>
          <a:noFill/>
          <a:ln/>
        </p:spPr>
        <p:txBody>
          <a:bodyPr wrap="square" lIns="0" tIns="0" rIns="0" bIns="0" rtlCol="0" anchor="ctr">
            <a:normAutofit/>
          </a:bodyPr>
          <a:lstStyle/>
          <a:p>
            <a:pPr algn="l" indent="0" marL="0">
              <a:buNone/>
            </a:pPr>
            <a:r>
              <a:rPr lang="en-US" sz="1400" dirty="0">
                <a:solidFill>
                  <a:srgbClr val="1F2937"/>
                </a:solidFill>
                <a:latin typeface="Liberation Sans" pitchFamily="34" charset="0"/>
                <a:ea typeface="Liberation Sans" pitchFamily="34" charset="-122"/>
                <a:cs typeface="Liberation Sans" pitchFamily="34" charset="-120"/>
              </a:rPr>
              <a:t>sstat, pidstat, iostat</a:t>
            </a:r>
            <a:endParaRPr lang="en-US" sz="1400" dirty="0"/>
          </a:p>
        </p:txBody>
      </p:sp>
      <p:sp>
        <p:nvSpPr>
          <p:cNvPr id="20" name="Shape 18"/>
          <p:cNvSpPr/>
          <p:nvPr/>
        </p:nvSpPr>
        <p:spPr>
          <a:xfrm>
            <a:off x="594360" y="2551176"/>
            <a:ext cx="2423160" cy="749808"/>
          </a:xfrm>
          <a:prstGeom prst="rect">
            <a:avLst/>
          </a:prstGeom>
          <a:solidFill>
            <a:srgbClr val="FAFBFC"/>
          </a:solidFill>
          <a:ln w="12700">
            <a:solidFill>
              <a:srgbClr val="D7E0E7"/>
            </a:solidFill>
            <a:prstDash val="solid"/>
          </a:ln>
        </p:spPr>
      </p:sp>
      <p:sp>
        <p:nvSpPr>
          <p:cNvPr id="21" name="Text 19"/>
          <p:cNvSpPr/>
          <p:nvPr/>
        </p:nvSpPr>
        <p:spPr>
          <a:xfrm>
            <a:off x="704088" y="2642616"/>
            <a:ext cx="2203704" cy="539496"/>
          </a:xfrm>
          <a:prstGeom prst="rect">
            <a:avLst/>
          </a:prstGeom>
          <a:noFill/>
          <a:ln/>
        </p:spPr>
        <p:txBody>
          <a:bodyPr wrap="square" lIns="0" tIns="0" rIns="0" bIns="0" rtlCol="0" anchor="ctr">
            <a:normAutofit/>
          </a:bodyPr>
          <a:lstStyle/>
          <a:p>
            <a:pPr algn="l" indent="0" marL="0">
              <a:buNone/>
            </a:pPr>
            <a:r>
              <a:rPr lang="en-US" sz="1450" b="1" dirty="0">
                <a:solidFill>
                  <a:srgbClr val="17324D"/>
                </a:solidFill>
                <a:latin typeface="Liberation Sans" pitchFamily="34" charset="0"/>
                <a:ea typeface="Liberation Sans" pitchFamily="34" charset="-122"/>
                <a:cs typeface="Liberation Sans" pitchFamily="34" charset="-120"/>
              </a:rPr>
              <a:t>OOM / killed</a:t>
            </a:r>
            <a:endParaRPr lang="en-US" sz="1450" dirty="0"/>
          </a:p>
        </p:txBody>
      </p:sp>
      <p:sp>
        <p:nvSpPr>
          <p:cNvPr id="22" name="Shape 20"/>
          <p:cNvSpPr/>
          <p:nvPr/>
        </p:nvSpPr>
        <p:spPr>
          <a:xfrm>
            <a:off x="3246120" y="2551176"/>
            <a:ext cx="4069080" cy="749808"/>
          </a:xfrm>
          <a:prstGeom prst="rect">
            <a:avLst/>
          </a:prstGeom>
          <a:solidFill>
            <a:srgbClr val="FAFBFC"/>
          </a:solidFill>
          <a:ln w="12700">
            <a:solidFill>
              <a:srgbClr val="D7E0E7"/>
            </a:solidFill>
            <a:prstDash val="solid"/>
          </a:ln>
        </p:spPr>
      </p:sp>
      <p:sp>
        <p:nvSpPr>
          <p:cNvPr id="23" name="Text 21"/>
          <p:cNvSpPr/>
          <p:nvPr/>
        </p:nvSpPr>
        <p:spPr>
          <a:xfrm>
            <a:off x="3355848" y="2642616"/>
            <a:ext cx="3849624" cy="539496"/>
          </a:xfrm>
          <a:prstGeom prst="rect">
            <a:avLst/>
          </a:prstGeom>
          <a:noFill/>
          <a:ln/>
        </p:spPr>
        <p:txBody>
          <a:bodyPr wrap="square" lIns="0" tIns="0" rIns="0" bIns="0" rtlCol="0" anchor="ctr">
            <a:normAutofit/>
          </a:bodyPr>
          <a:lstStyle/>
          <a:p>
            <a:pPr algn="l" indent="0" marL="0">
              <a:buNone/>
            </a:pPr>
            <a:r>
              <a:rPr lang="en-US" sz="1400" dirty="0">
                <a:solidFill>
                  <a:srgbClr val="1F2937"/>
                </a:solidFill>
                <a:latin typeface="Liberation Sans" pitchFamily="34" charset="0"/>
                <a:ea typeface="Liberation Sans" pitchFamily="34" charset="-122"/>
                <a:cs typeface="Liberation Sans" pitchFamily="34" charset="-120"/>
              </a:rPr>
              <a:t>working set too large · leak</a:t>
            </a:r>
            <a:endParaRPr lang="en-US" sz="1400" dirty="0"/>
          </a:p>
        </p:txBody>
      </p:sp>
      <p:sp>
        <p:nvSpPr>
          <p:cNvPr id="24" name="Shape 22"/>
          <p:cNvSpPr/>
          <p:nvPr/>
        </p:nvSpPr>
        <p:spPr>
          <a:xfrm>
            <a:off x="7543800" y="2551176"/>
            <a:ext cx="4050792" cy="749808"/>
          </a:xfrm>
          <a:prstGeom prst="rect">
            <a:avLst/>
          </a:prstGeom>
          <a:solidFill>
            <a:srgbClr val="FAFBFC"/>
          </a:solidFill>
          <a:ln w="12700">
            <a:solidFill>
              <a:srgbClr val="D7E0E7"/>
            </a:solidFill>
            <a:prstDash val="solid"/>
          </a:ln>
        </p:spPr>
      </p:sp>
      <p:sp>
        <p:nvSpPr>
          <p:cNvPr id="25" name="Text 23"/>
          <p:cNvSpPr/>
          <p:nvPr/>
        </p:nvSpPr>
        <p:spPr>
          <a:xfrm>
            <a:off x="7653528" y="2642616"/>
            <a:ext cx="3831336" cy="539496"/>
          </a:xfrm>
          <a:prstGeom prst="rect">
            <a:avLst/>
          </a:prstGeom>
          <a:noFill/>
          <a:ln/>
        </p:spPr>
        <p:txBody>
          <a:bodyPr wrap="square" lIns="0" tIns="0" rIns="0" bIns="0" rtlCol="0" anchor="ctr">
            <a:normAutofit/>
          </a:bodyPr>
          <a:lstStyle/>
          <a:p>
            <a:pPr algn="l" indent="0" marL="0">
              <a:buNone/>
            </a:pPr>
            <a:r>
              <a:rPr lang="en-US" sz="1400" dirty="0">
                <a:solidFill>
                  <a:srgbClr val="1F2937"/>
                </a:solidFill>
                <a:latin typeface="Liberation Sans" pitchFamily="34" charset="0"/>
                <a:ea typeface="Liberation Sans" pitchFamily="34" charset="-122"/>
                <a:cs typeface="Liberation Sans" pitchFamily="34" charset="-120"/>
              </a:rPr>
              <a:t>sacct MaxRSS, time series</a:t>
            </a:r>
            <a:endParaRPr lang="en-US" sz="1400" dirty="0"/>
          </a:p>
        </p:txBody>
      </p:sp>
      <p:sp>
        <p:nvSpPr>
          <p:cNvPr id="26" name="Shape 24"/>
          <p:cNvSpPr/>
          <p:nvPr/>
        </p:nvSpPr>
        <p:spPr>
          <a:xfrm>
            <a:off x="594360" y="3300984"/>
            <a:ext cx="2423160" cy="749808"/>
          </a:xfrm>
          <a:prstGeom prst="rect">
            <a:avLst/>
          </a:prstGeom>
          <a:solidFill>
            <a:srgbClr val="FFFFFF"/>
          </a:solidFill>
          <a:ln w="12700">
            <a:solidFill>
              <a:srgbClr val="D7E0E7"/>
            </a:solidFill>
            <a:prstDash val="solid"/>
          </a:ln>
        </p:spPr>
      </p:sp>
      <p:sp>
        <p:nvSpPr>
          <p:cNvPr id="27" name="Text 25"/>
          <p:cNvSpPr/>
          <p:nvPr/>
        </p:nvSpPr>
        <p:spPr>
          <a:xfrm>
            <a:off x="704088" y="3392424"/>
            <a:ext cx="2203704" cy="539496"/>
          </a:xfrm>
          <a:prstGeom prst="rect">
            <a:avLst/>
          </a:prstGeom>
          <a:noFill/>
          <a:ln/>
        </p:spPr>
        <p:txBody>
          <a:bodyPr wrap="square" lIns="0" tIns="0" rIns="0" bIns="0" rtlCol="0" anchor="ctr">
            <a:normAutofit/>
          </a:bodyPr>
          <a:lstStyle/>
          <a:p>
            <a:pPr algn="l" indent="0" marL="0">
              <a:buNone/>
            </a:pPr>
            <a:r>
              <a:rPr lang="en-US" sz="1450" b="1" dirty="0">
                <a:solidFill>
                  <a:srgbClr val="17324D"/>
                </a:solidFill>
                <a:latin typeface="Liberation Sans" pitchFamily="34" charset="0"/>
                <a:ea typeface="Liberation Sans" pitchFamily="34" charset="-122"/>
                <a:cs typeface="Liberation Sans" pitchFamily="34" charset="-120"/>
              </a:rPr>
              <a:t>Low GPU use</a:t>
            </a:r>
            <a:endParaRPr lang="en-US" sz="1450" dirty="0"/>
          </a:p>
        </p:txBody>
      </p:sp>
      <p:sp>
        <p:nvSpPr>
          <p:cNvPr id="28" name="Shape 26"/>
          <p:cNvSpPr/>
          <p:nvPr/>
        </p:nvSpPr>
        <p:spPr>
          <a:xfrm>
            <a:off x="3246120" y="3300984"/>
            <a:ext cx="4069080" cy="749808"/>
          </a:xfrm>
          <a:prstGeom prst="rect">
            <a:avLst/>
          </a:prstGeom>
          <a:solidFill>
            <a:srgbClr val="FFFFFF"/>
          </a:solidFill>
          <a:ln w="12700">
            <a:solidFill>
              <a:srgbClr val="D7E0E7"/>
            </a:solidFill>
            <a:prstDash val="solid"/>
          </a:ln>
        </p:spPr>
      </p:sp>
      <p:sp>
        <p:nvSpPr>
          <p:cNvPr id="29" name="Text 27"/>
          <p:cNvSpPr/>
          <p:nvPr/>
        </p:nvSpPr>
        <p:spPr>
          <a:xfrm>
            <a:off x="3355848" y="3392424"/>
            <a:ext cx="3849624" cy="539496"/>
          </a:xfrm>
          <a:prstGeom prst="rect">
            <a:avLst/>
          </a:prstGeom>
          <a:noFill/>
          <a:ln/>
        </p:spPr>
        <p:txBody>
          <a:bodyPr wrap="square" lIns="0" tIns="0" rIns="0" bIns="0" rtlCol="0" anchor="ctr">
            <a:normAutofit/>
          </a:bodyPr>
          <a:lstStyle/>
          <a:p>
            <a:pPr algn="l" indent="0" marL="0">
              <a:buNone/>
            </a:pPr>
            <a:r>
              <a:rPr lang="en-US" sz="1400" dirty="0">
                <a:solidFill>
                  <a:srgbClr val="1F2937"/>
                </a:solidFill>
                <a:latin typeface="Liberation Sans" pitchFamily="34" charset="0"/>
                <a:ea typeface="Liberation Sans" pitchFamily="34" charset="-122"/>
                <a:cs typeface="Liberation Sans" pitchFamily="34" charset="-120"/>
              </a:rPr>
              <a:t>CPU preprocessing · small batch · I/O</a:t>
            </a:r>
            <a:endParaRPr lang="en-US" sz="1400" dirty="0"/>
          </a:p>
        </p:txBody>
      </p:sp>
      <p:sp>
        <p:nvSpPr>
          <p:cNvPr id="30" name="Shape 28"/>
          <p:cNvSpPr/>
          <p:nvPr/>
        </p:nvSpPr>
        <p:spPr>
          <a:xfrm>
            <a:off x="7543800" y="3300984"/>
            <a:ext cx="4050792" cy="749808"/>
          </a:xfrm>
          <a:prstGeom prst="rect">
            <a:avLst/>
          </a:prstGeom>
          <a:solidFill>
            <a:srgbClr val="FFFFFF"/>
          </a:solidFill>
          <a:ln w="12700">
            <a:solidFill>
              <a:srgbClr val="D7E0E7"/>
            </a:solidFill>
            <a:prstDash val="solid"/>
          </a:ln>
        </p:spPr>
      </p:sp>
      <p:sp>
        <p:nvSpPr>
          <p:cNvPr id="31" name="Text 29"/>
          <p:cNvSpPr/>
          <p:nvPr/>
        </p:nvSpPr>
        <p:spPr>
          <a:xfrm>
            <a:off x="7653528" y="3392424"/>
            <a:ext cx="3831336" cy="539496"/>
          </a:xfrm>
          <a:prstGeom prst="rect">
            <a:avLst/>
          </a:prstGeom>
          <a:noFill/>
          <a:ln/>
        </p:spPr>
        <p:txBody>
          <a:bodyPr wrap="square" lIns="0" tIns="0" rIns="0" bIns="0" rtlCol="0" anchor="ctr">
            <a:normAutofit/>
          </a:bodyPr>
          <a:lstStyle/>
          <a:p>
            <a:pPr algn="l" indent="0" marL="0">
              <a:buNone/>
            </a:pPr>
            <a:r>
              <a:rPr lang="en-US" sz="1400" dirty="0">
                <a:solidFill>
                  <a:srgbClr val="1F2937"/>
                </a:solidFill>
                <a:latin typeface="Liberation Sans" pitchFamily="34" charset="0"/>
                <a:ea typeface="Liberation Sans" pitchFamily="34" charset="-122"/>
                <a:cs typeface="Liberation Sans" pitchFamily="34" charset="-120"/>
              </a:rPr>
              <a:t>nvidia-smi plus CPU/I/O</a:t>
            </a:r>
            <a:endParaRPr lang="en-US" sz="1400" dirty="0"/>
          </a:p>
        </p:txBody>
      </p:sp>
      <p:sp>
        <p:nvSpPr>
          <p:cNvPr id="32" name="Shape 30"/>
          <p:cNvSpPr/>
          <p:nvPr/>
        </p:nvSpPr>
        <p:spPr>
          <a:xfrm>
            <a:off x="594360" y="4050792"/>
            <a:ext cx="2423160" cy="749808"/>
          </a:xfrm>
          <a:prstGeom prst="rect">
            <a:avLst/>
          </a:prstGeom>
          <a:solidFill>
            <a:srgbClr val="FAFBFC"/>
          </a:solidFill>
          <a:ln w="12700">
            <a:solidFill>
              <a:srgbClr val="D7E0E7"/>
            </a:solidFill>
            <a:prstDash val="solid"/>
          </a:ln>
        </p:spPr>
      </p:sp>
      <p:sp>
        <p:nvSpPr>
          <p:cNvPr id="33" name="Text 31"/>
          <p:cNvSpPr/>
          <p:nvPr/>
        </p:nvSpPr>
        <p:spPr>
          <a:xfrm>
            <a:off x="704088" y="4142232"/>
            <a:ext cx="2203704" cy="539496"/>
          </a:xfrm>
          <a:prstGeom prst="rect">
            <a:avLst/>
          </a:prstGeom>
          <a:noFill/>
          <a:ln/>
        </p:spPr>
        <p:txBody>
          <a:bodyPr wrap="square" lIns="0" tIns="0" rIns="0" bIns="0" rtlCol="0" anchor="ctr">
            <a:normAutofit/>
          </a:bodyPr>
          <a:lstStyle/>
          <a:p>
            <a:pPr algn="l" indent="0" marL="0">
              <a:buNone/>
            </a:pPr>
            <a:r>
              <a:rPr lang="en-US" sz="1450" b="1" dirty="0">
                <a:solidFill>
                  <a:srgbClr val="17324D"/>
                </a:solidFill>
                <a:latin typeface="Liberation Sans" pitchFamily="34" charset="0"/>
                <a:ea typeface="Liberation Sans" pitchFamily="34" charset="-122"/>
                <a:cs typeface="Liberation Sans" pitchFamily="34" charset="-120"/>
              </a:rPr>
              <a:t>Long startup</a:t>
            </a:r>
            <a:endParaRPr lang="en-US" sz="1450" dirty="0"/>
          </a:p>
        </p:txBody>
      </p:sp>
      <p:sp>
        <p:nvSpPr>
          <p:cNvPr id="34" name="Shape 32"/>
          <p:cNvSpPr/>
          <p:nvPr/>
        </p:nvSpPr>
        <p:spPr>
          <a:xfrm>
            <a:off x="3246120" y="4050792"/>
            <a:ext cx="4069080" cy="749808"/>
          </a:xfrm>
          <a:prstGeom prst="rect">
            <a:avLst/>
          </a:prstGeom>
          <a:solidFill>
            <a:srgbClr val="FAFBFC"/>
          </a:solidFill>
          <a:ln w="12700">
            <a:solidFill>
              <a:srgbClr val="D7E0E7"/>
            </a:solidFill>
            <a:prstDash val="solid"/>
          </a:ln>
        </p:spPr>
      </p:sp>
      <p:sp>
        <p:nvSpPr>
          <p:cNvPr id="35" name="Text 33"/>
          <p:cNvSpPr/>
          <p:nvPr/>
        </p:nvSpPr>
        <p:spPr>
          <a:xfrm>
            <a:off x="3355848" y="4142232"/>
            <a:ext cx="3849624" cy="539496"/>
          </a:xfrm>
          <a:prstGeom prst="rect">
            <a:avLst/>
          </a:prstGeom>
          <a:noFill/>
          <a:ln/>
        </p:spPr>
        <p:txBody>
          <a:bodyPr wrap="square" lIns="0" tIns="0" rIns="0" bIns="0" rtlCol="0" anchor="ctr">
            <a:normAutofit/>
          </a:bodyPr>
          <a:lstStyle/>
          <a:p>
            <a:pPr algn="l" indent="0" marL="0">
              <a:buNone/>
            </a:pPr>
            <a:r>
              <a:rPr lang="en-US" sz="1400" dirty="0">
                <a:solidFill>
                  <a:srgbClr val="1F2937"/>
                </a:solidFill>
                <a:latin typeface="Liberation Sans" pitchFamily="34" charset="0"/>
                <a:ea typeface="Liberation Sans" pitchFamily="34" charset="-122"/>
                <a:cs typeface="Liberation Sans" pitchFamily="34" charset="-120"/>
              </a:rPr>
              <a:t>many files · environment metadata</a:t>
            </a:r>
            <a:endParaRPr lang="en-US" sz="1400" dirty="0"/>
          </a:p>
        </p:txBody>
      </p:sp>
      <p:sp>
        <p:nvSpPr>
          <p:cNvPr id="36" name="Shape 34"/>
          <p:cNvSpPr/>
          <p:nvPr/>
        </p:nvSpPr>
        <p:spPr>
          <a:xfrm>
            <a:off x="7543800" y="4050792"/>
            <a:ext cx="4050792" cy="749808"/>
          </a:xfrm>
          <a:prstGeom prst="rect">
            <a:avLst/>
          </a:prstGeom>
          <a:solidFill>
            <a:srgbClr val="FAFBFC"/>
          </a:solidFill>
          <a:ln w="12700">
            <a:solidFill>
              <a:srgbClr val="D7E0E7"/>
            </a:solidFill>
            <a:prstDash val="solid"/>
          </a:ln>
        </p:spPr>
      </p:sp>
      <p:sp>
        <p:nvSpPr>
          <p:cNvPr id="37" name="Text 35"/>
          <p:cNvSpPr/>
          <p:nvPr/>
        </p:nvSpPr>
        <p:spPr>
          <a:xfrm>
            <a:off x="7653528" y="4142232"/>
            <a:ext cx="3831336" cy="539496"/>
          </a:xfrm>
          <a:prstGeom prst="rect">
            <a:avLst/>
          </a:prstGeom>
          <a:noFill/>
          <a:ln/>
        </p:spPr>
        <p:txBody>
          <a:bodyPr wrap="square" lIns="0" tIns="0" rIns="0" bIns="0" rtlCol="0" anchor="ctr">
            <a:normAutofit/>
          </a:bodyPr>
          <a:lstStyle/>
          <a:p>
            <a:pPr algn="l" indent="0" marL="0">
              <a:buNone/>
            </a:pPr>
            <a:r>
              <a:rPr lang="en-US" sz="1400" dirty="0">
                <a:solidFill>
                  <a:srgbClr val="1F2937"/>
                </a:solidFill>
                <a:latin typeface="Liberation Sans" pitchFamily="34" charset="0"/>
                <a:ea typeface="Liberation Sans" pitchFamily="34" charset="-122"/>
                <a:cs typeface="Liberation Sans" pitchFamily="34" charset="-120"/>
              </a:rPr>
              <a:t>file counts, strace if supported</a:t>
            </a:r>
            <a:endParaRPr lang="en-US" sz="1400" dirty="0"/>
          </a:p>
        </p:txBody>
      </p:sp>
      <p:sp>
        <p:nvSpPr>
          <p:cNvPr id="38" name="Shape 36"/>
          <p:cNvSpPr/>
          <p:nvPr/>
        </p:nvSpPr>
        <p:spPr>
          <a:xfrm>
            <a:off x="594360" y="4800600"/>
            <a:ext cx="2423160" cy="749808"/>
          </a:xfrm>
          <a:prstGeom prst="rect">
            <a:avLst/>
          </a:prstGeom>
          <a:solidFill>
            <a:srgbClr val="FFFFFF"/>
          </a:solidFill>
          <a:ln w="12700">
            <a:solidFill>
              <a:srgbClr val="D7E0E7"/>
            </a:solidFill>
            <a:prstDash val="solid"/>
          </a:ln>
        </p:spPr>
      </p:sp>
      <p:sp>
        <p:nvSpPr>
          <p:cNvPr id="39" name="Text 37"/>
          <p:cNvSpPr/>
          <p:nvPr/>
        </p:nvSpPr>
        <p:spPr>
          <a:xfrm>
            <a:off x="704088" y="4892040"/>
            <a:ext cx="2203704" cy="539496"/>
          </a:xfrm>
          <a:prstGeom prst="rect">
            <a:avLst/>
          </a:prstGeom>
          <a:noFill/>
          <a:ln/>
        </p:spPr>
        <p:txBody>
          <a:bodyPr wrap="square" lIns="0" tIns="0" rIns="0" bIns="0" rtlCol="0" anchor="ctr">
            <a:normAutofit/>
          </a:bodyPr>
          <a:lstStyle/>
          <a:p>
            <a:pPr algn="l" indent="0" marL="0">
              <a:buNone/>
            </a:pPr>
            <a:r>
              <a:rPr lang="en-US" sz="1450" b="1" dirty="0">
                <a:solidFill>
                  <a:srgbClr val="17324D"/>
                </a:solidFill>
                <a:latin typeface="Liberation Sans" pitchFamily="34" charset="0"/>
                <a:ea typeface="Liberation Sans" pitchFamily="34" charset="-122"/>
                <a:cs typeface="Liberation Sans" pitchFamily="34" charset="-120"/>
              </a:rPr>
              <a:t>Fast compute, slow end</a:t>
            </a:r>
            <a:endParaRPr lang="en-US" sz="1450" dirty="0"/>
          </a:p>
        </p:txBody>
      </p:sp>
      <p:sp>
        <p:nvSpPr>
          <p:cNvPr id="40" name="Shape 38"/>
          <p:cNvSpPr/>
          <p:nvPr/>
        </p:nvSpPr>
        <p:spPr>
          <a:xfrm>
            <a:off x="3246120" y="4800600"/>
            <a:ext cx="4069080" cy="749808"/>
          </a:xfrm>
          <a:prstGeom prst="rect">
            <a:avLst/>
          </a:prstGeom>
          <a:solidFill>
            <a:srgbClr val="FFFFFF"/>
          </a:solidFill>
          <a:ln w="12700">
            <a:solidFill>
              <a:srgbClr val="D7E0E7"/>
            </a:solidFill>
            <a:prstDash val="solid"/>
          </a:ln>
        </p:spPr>
      </p:sp>
      <p:sp>
        <p:nvSpPr>
          <p:cNvPr id="41" name="Text 39"/>
          <p:cNvSpPr/>
          <p:nvPr/>
        </p:nvSpPr>
        <p:spPr>
          <a:xfrm>
            <a:off x="3355848" y="4892040"/>
            <a:ext cx="3849624" cy="539496"/>
          </a:xfrm>
          <a:prstGeom prst="rect">
            <a:avLst/>
          </a:prstGeom>
          <a:noFill/>
          <a:ln/>
        </p:spPr>
        <p:txBody>
          <a:bodyPr wrap="square" lIns="0" tIns="0" rIns="0" bIns="0" rtlCol="0" anchor="ctr">
            <a:normAutofit/>
          </a:bodyPr>
          <a:lstStyle/>
          <a:p>
            <a:pPr algn="l" indent="0" marL="0">
              <a:buNone/>
            </a:pPr>
            <a:r>
              <a:rPr lang="en-US" sz="1400" dirty="0">
                <a:solidFill>
                  <a:srgbClr val="1F2937"/>
                </a:solidFill>
                <a:latin typeface="Liberation Sans" pitchFamily="34" charset="0"/>
                <a:ea typeface="Liberation Sans" pitchFamily="34" charset="-122"/>
                <a:cs typeface="Liberation Sans" pitchFamily="34" charset="-120"/>
              </a:rPr>
              <a:t>large output · compression · network write</a:t>
            </a:r>
            <a:endParaRPr lang="en-US" sz="1400" dirty="0"/>
          </a:p>
        </p:txBody>
      </p:sp>
      <p:sp>
        <p:nvSpPr>
          <p:cNvPr id="42" name="Shape 40"/>
          <p:cNvSpPr/>
          <p:nvPr/>
        </p:nvSpPr>
        <p:spPr>
          <a:xfrm>
            <a:off x="7543800" y="4800600"/>
            <a:ext cx="4050792" cy="749808"/>
          </a:xfrm>
          <a:prstGeom prst="rect">
            <a:avLst/>
          </a:prstGeom>
          <a:solidFill>
            <a:srgbClr val="FFFFFF"/>
          </a:solidFill>
          <a:ln w="12700">
            <a:solidFill>
              <a:srgbClr val="D7E0E7"/>
            </a:solidFill>
            <a:prstDash val="solid"/>
          </a:ln>
        </p:spPr>
      </p:sp>
      <p:sp>
        <p:nvSpPr>
          <p:cNvPr id="43" name="Text 41"/>
          <p:cNvSpPr/>
          <p:nvPr/>
        </p:nvSpPr>
        <p:spPr>
          <a:xfrm>
            <a:off x="7653528" y="4892040"/>
            <a:ext cx="3831336" cy="539496"/>
          </a:xfrm>
          <a:prstGeom prst="rect">
            <a:avLst/>
          </a:prstGeom>
          <a:noFill/>
          <a:ln/>
        </p:spPr>
        <p:txBody>
          <a:bodyPr wrap="square" lIns="0" tIns="0" rIns="0" bIns="0" rtlCol="0" anchor="ctr">
            <a:normAutofit/>
          </a:bodyPr>
          <a:lstStyle/>
          <a:p>
            <a:pPr algn="l" indent="0" marL="0">
              <a:buNone/>
            </a:pPr>
            <a:r>
              <a:rPr lang="en-US" sz="1400" dirty="0">
                <a:solidFill>
                  <a:srgbClr val="1F2937"/>
                </a:solidFill>
                <a:latin typeface="Liberation Sans" pitchFamily="34" charset="0"/>
                <a:ea typeface="Liberation Sans" pitchFamily="34" charset="-122"/>
                <a:cs typeface="Liberation Sans" pitchFamily="34" charset="-120"/>
              </a:rPr>
              <a:t>bytes written, throughput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064240" cy="411480"/>
          </a:xfrm>
          <a:prstGeom prst="rect">
            <a:avLst/>
          </a:prstGeom>
          <a:noFill/>
          <a:ln/>
        </p:spPr>
        <p:txBody>
          <a:bodyPr wrap="square" lIns="0" tIns="0" rIns="0" bIns="0" rtlCol="0" anchor="ctr">
            <a:normAutofit/>
          </a:bodyPr>
          <a:lstStyle/>
          <a:p>
            <a:pPr algn="l" indent="0" marL="0">
              <a:buNone/>
            </a:pPr>
            <a:r>
              <a:rPr lang="en-US" sz="2700" b="1" dirty="0">
                <a:solidFill>
                  <a:srgbClr val="17324D"/>
                </a:solidFill>
                <a:latin typeface="Liberation Sans" pitchFamily="34" charset="0"/>
                <a:ea typeface="Liberation Sans" pitchFamily="34" charset="-122"/>
                <a:cs typeface="Liberation Sans" pitchFamily="34" charset="-120"/>
              </a:rPr>
              <a:t>13. Part Three operating rules</a:t>
            </a:r>
            <a:endParaRPr lang="en-US" sz="2700" dirty="0"/>
          </a:p>
        </p:txBody>
      </p:sp>
      <p:sp>
        <p:nvSpPr>
          <p:cNvPr id="3" name="Text 1"/>
          <p:cNvSpPr/>
          <p:nvPr/>
        </p:nvSpPr>
        <p:spPr>
          <a:xfrm>
            <a:off x="521208" y="713232"/>
            <a:ext cx="10972800" cy="274320"/>
          </a:xfrm>
          <a:prstGeom prst="rect">
            <a:avLst/>
          </a:prstGeom>
          <a:noFill/>
          <a:ln/>
        </p:spPr>
        <p:txBody>
          <a:bodyPr wrap="square" lIns="0" tIns="0" rIns="0" bIns="0" rtlCol="0" anchor="ctr">
            <a:normAutofit/>
          </a:bodyPr>
          <a:lstStyle/>
          <a:p>
            <a:pPr algn="l" indent="0" marL="0">
              <a:buNone/>
            </a:pPr>
            <a:r>
              <a:rPr lang="en-US" sz="1250" dirty="0">
                <a:solidFill>
                  <a:srgbClr val="5E6B78"/>
                </a:solidFill>
                <a:latin typeface="Liberation Sans" pitchFamily="34" charset="0"/>
                <a:ea typeface="Liberation Sans" pitchFamily="34" charset="-122"/>
                <a:cs typeface="Liberation Sans" pitchFamily="34" charset="-120"/>
              </a:rPr>
              <a:t>Efficient, measurable, and considerate use of shared resources</a:t>
            </a:r>
            <a:endParaRPr lang="en-US" sz="1250" dirty="0"/>
          </a:p>
        </p:txBody>
      </p:sp>
      <p:sp>
        <p:nvSpPr>
          <p:cNvPr id="4" name="Shape 2"/>
          <p:cNvSpPr/>
          <p:nvPr/>
        </p:nvSpPr>
        <p:spPr>
          <a:xfrm>
            <a:off x="411480" y="6510528"/>
            <a:ext cx="11356848" cy="0"/>
          </a:xfrm>
          <a:prstGeom prst="line">
            <a:avLst/>
          </a:prstGeom>
          <a:noFill/>
          <a:ln w="12700">
            <a:solidFill>
              <a:srgbClr val="D7E0E7"/>
            </a:solidFill>
            <a:prstDash val="solid"/>
          </a:ln>
        </p:spPr>
      </p:sp>
      <p:sp>
        <p:nvSpPr>
          <p:cNvPr id="5" name="Text 3"/>
          <p:cNvSpPr/>
          <p:nvPr/>
        </p:nvSpPr>
        <p:spPr>
          <a:xfrm>
            <a:off x="438912" y="6556248"/>
            <a:ext cx="3840480" cy="164592"/>
          </a:xfrm>
          <a:prstGeom prst="rect">
            <a:avLst/>
          </a:prstGeom>
          <a:noFill/>
          <a:ln/>
        </p:spPr>
        <p:txBody>
          <a:bodyPr wrap="square" lIns="0" tIns="0" rIns="0" bIns="0" rtlCol="0" anchor="ctr">
            <a:normAutofit/>
          </a:bodyPr>
          <a:lstStyle/>
          <a:p>
            <a:pPr algn="l" indent="0" marL="0">
              <a:buNone/>
            </a:pPr>
            <a:r>
              <a:rPr lang="en-US" sz="900" dirty="0">
                <a:solidFill>
                  <a:srgbClr val="5E6B78"/>
                </a:solidFill>
                <a:latin typeface="Liberation Sans" pitchFamily="34" charset="0"/>
                <a:ea typeface="Liberation Sans" pitchFamily="34" charset="-122"/>
                <a:cs typeface="Liberation Sans" pitchFamily="34" charset="-120"/>
              </a:rPr>
              <a:t>RCC onboarding · Part 3</a:t>
            </a:r>
            <a:endParaRPr lang="en-US" sz="900" dirty="0"/>
          </a:p>
        </p:txBody>
      </p:sp>
      <p:sp>
        <p:nvSpPr>
          <p:cNvPr id="6" name="Text 4"/>
          <p:cNvSpPr/>
          <p:nvPr/>
        </p:nvSpPr>
        <p:spPr>
          <a:xfrm>
            <a:off x="10881360" y="6556248"/>
            <a:ext cx="822960" cy="164592"/>
          </a:xfrm>
          <a:prstGeom prst="rect">
            <a:avLst/>
          </a:prstGeom>
          <a:noFill/>
          <a:ln/>
        </p:spPr>
        <p:txBody>
          <a:bodyPr wrap="square" lIns="0" tIns="0" rIns="0" bIns="0" rtlCol="0" anchor="ctr">
            <a:normAutofit/>
          </a:bodyPr>
          <a:lstStyle/>
          <a:p>
            <a:pPr algn="r" indent="0" marL="0">
              <a:buNone/>
            </a:pPr>
            <a:r>
              <a:rPr lang="en-US" sz="900" dirty="0">
                <a:solidFill>
                  <a:srgbClr val="5E6B78"/>
                </a:solidFill>
                <a:latin typeface="Liberation Sans" pitchFamily="34" charset="0"/>
                <a:ea typeface="Liberation Sans" pitchFamily="34" charset="-122"/>
                <a:cs typeface="Liberation Sans" pitchFamily="34" charset="-120"/>
              </a:rPr>
              <a:t>14 / 14</a:t>
            </a:r>
            <a:endParaRPr lang="en-US" sz="900" dirty="0"/>
          </a:p>
        </p:txBody>
      </p:sp>
      <p:sp>
        <p:nvSpPr>
          <p:cNvPr id="7" name="Shape 5"/>
          <p:cNvSpPr/>
          <p:nvPr/>
        </p:nvSpPr>
        <p:spPr>
          <a:xfrm>
            <a:off x="411480" y="6510528"/>
            <a:ext cx="502920" cy="27432"/>
          </a:xfrm>
          <a:prstGeom prst="rect">
            <a:avLst/>
          </a:prstGeom>
          <a:solidFill>
            <a:srgbClr val="D15B47"/>
          </a:solidFill>
          <a:ln w="12700">
            <a:solidFill>
              <a:srgbClr val="D15B47">
                <a:alpha val="0"/>
              </a:srgbClr>
            </a:solidFill>
            <a:prstDash val="solid"/>
          </a:ln>
        </p:spPr>
      </p:sp>
      <p:sp>
        <p:nvSpPr>
          <p:cNvPr id="8" name="Shape 6"/>
          <p:cNvSpPr/>
          <p:nvPr/>
        </p:nvSpPr>
        <p:spPr>
          <a:xfrm>
            <a:off x="502920" y="1234440"/>
            <a:ext cx="384048" cy="384048"/>
          </a:xfrm>
          <a:prstGeom prst="ellipse">
            <a:avLst/>
          </a:prstGeom>
          <a:solidFill>
            <a:srgbClr val="3A8D63"/>
          </a:solidFill>
          <a:ln w="12700">
            <a:solidFill>
              <a:srgbClr val="3A8D63">
                <a:alpha val="0"/>
              </a:srgbClr>
            </a:solidFill>
            <a:prstDash val="solid"/>
          </a:ln>
        </p:spPr>
      </p:sp>
      <p:sp>
        <p:nvSpPr>
          <p:cNvPr id="9" name="Text 7"/>
          <p:cNvSpPr/>
          <p:nvPr/>
        </p:nvSpPr>
        <p:spPr>
          <a:xfrm>
            <a:off x="502920" y="126187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10" name="Text 8"/>
          <p:cNvSpPr/>
          <p:nvPr/>
        </p:nvSpPr>
        <p:spPr>
          <a:xfrm>
            <a:off x="1033272" y="119786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Measure a representative pilot</a:t>
            </a:r>
            <a:endParaRPr lang="en-US" sz="1620" dirty="0"/>
          </a:p>
        </p:txBody>
      </p:sp>
      <p:sp>
        <p:nvSpPr>
          <p:cNvPr id="11" name="Shape 9"/>
          <p:cNvSpPr/>
          <p:nvPr/>
        </p:nvSpPr>
        <p:spPr>
          <a:xfrm>
            <a:off x="4389120" y="1234440"/>
            <a:ext cx="384048" cy="384048"/>
          </a:xfrm>
          <a:prstGeom prst="ellipse">
            <a:avLst/>
          </a:prstGeom>
          <a:solidFill>
            <a:srgbClr val="3A8D63"/>
          </a:solidFill>
          <a:ln w="12700">
            <a:solidFill>
              <a:srgbClr val="3A8D63">
                <a:alpha val="0"/>
              </a:srgbClr>
            </a:solidFill>
            <a:prstDash val="solid"/>
          </a:ln>
        </p:spPr>
      </p:sp>
      <p:sp>
        <p:nvSpPr>
          <p:cNvPr id="12" name="Text 10"/>
          <p:cNvSpPr/>
          <p:nvPr/>
        </p:nvSpPr>
        <p:spPr>
          <a:xfrm>
            <a:off x="4389120" y="126187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13" name="Text 11"/>
          <p:cNvSpPr/>
          <p:nvPr/>
        </p:nvSpPr>
        <p:spPr>
          <a:xfrm>
            <a:off x="4919472" y="119786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Align threads with allocated CPUs</a:t>
            </a:r>
            <a:endParaRPr lang="en-US" sz="1620" dirty="0"/>
          </a:p>
        </p:txBody>
      </p:sp>
      <p:sp>
        <p:nvSpPr>
          <p:cNvPr id="14" name="Shape 12"/>
          <p:cNvSpPr/>
          <p:nvPr/>
        </p:nvSpPr>
        <p:spPr>
          <a:xfrm>
            <a:off x="8275320" y="1234440"/>
            <a:ext cx="384048" cy="384048"/>
          </a:xfrm>
          <a:prstGeom prst="ellipse">
            <a:avLst/>
          </a:prstGeom>
          <a:solidFill>
            <a:srgbClr val="3A8D63"/>
          </a:solidFill>
          <a:ln w="12700">
            <a:solidFill>
              <a:srgbClr val="3A8D63">
                <a:alpha val="0"/>
              </a:srgbClr>
            </a:solidFill>
            <a:prstDash val="solid"/>
          </a:ln>
        </p:spPr>
      </p:sp>
      <p:sp>
        <p:nvSpPr>
          <p:cNvPr id="15" name="Text 13"/>
          <p:cNvSpPr/>
          <p:nvPr/>
        </p:nvSpPr>
        <p:spPr>
          <a:xfrm>
            <a:off x="8275320" y="126187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16" name="Text 14"/>
          <p:cNvSpPr/>
          <p:nvPr/>
        </p:nvSpPr>
        <p:spPr>
          <a:xfrm>
            <a:off x="8805672" y="119786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Right-size memory from MaxRSS</a:t>
            </a:r>
            <a:endParaRPr lang="en-US" sz="1620" dirty="0"/>
          </a:p>
        </p:txBody>
      </p:sp>
      <p:sp>
        <p:nvSpPr>
          <p:cNvPr id="17" name="Shape 15"/>
          <p:cNvSpPr/>
          <p:nvPr/>
        </p:nvSpPr>
        <p:spPr>
          <a:xfrm>
            <a:off x="502920" y="2468880"/>
            <a:ext cx="384048" cy="384048"/>
          </a:xfrm>
          <a:prstGeom prst="ellipse">
            <a:avLst/>
          </a:prstGeom>
          <a:solidFill>
            <a:srgbClr val="3A8D63"/>
          </a:solidFill>
          <a:ln w="12700">
            <a:solidFill>
              <a:srgbClr val="3A8D63">
                <a:alpha val="0"/>
              </a:srgbClr>
            </a:solidFill>
            <a:prstDash val="solid"/>
          </a:ln>
        </p:spPr>
      </p:sp>
      <p:sp>
        <p:nvSpPr>
          <p:cNvPr id="18" name="Text 16"/>
          <p:cNvSpPr/>
          <p:nvPr/>
        </p:nvSpPr>
        <p:spPr>
          <a:xfrm>
            <a:off x="502920" y="249631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19" name="Text 17"/>
          <p:cNvSpPr/>
          <p:nvPr/>
        </p:nvSpPr>
        <p:spPr>
          <a:xfrm>
            <a:off x="1033272" y="243230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Use GPUs only for GPU-enabled stages</a:t>
            </a:r>
            <a:endParaRPr lang="en-US" sz="1620" dirty="0"/>
          </a:p>
        </p:txBody>
      </p:sp>
      <p:sp>
        <p:nvSpPr>
          <p:cNvPr id="20" name="Shape 18"/>
          <p:cNvSpPr/>
          <p:nvPr/>
        </p:nvSpPr>
        <p:spPr>
          <a:xfrm>
            <a:off x="4389120" y="2468880"/>
            <a:ext cx="384048" cy="384048"/>
          </a:xfrm>
          <a:prstGeom prst="ellipse">
            <a:avLst/>
          </a:prstGeom>
          <a:solidFill>
            <a:srgbClr val="3A8D63"/>
          </a:solidFill>
          <a:ln w="12700">
            <a:solidFill>
              <a:srgbClr val="3A8D63">
                <a:alpha val="0"/>
              </a:srgbClr>
            </a:solidFill>
            <a:prstDash val="solid"/>
          </a:ln>
        </p:spPr>
      </p:sp>
      <p:sp>
        <p:nvSpPr>
          <p:cNvPr id="21" name="Text 19"/>
          <p:cNvSpPr/>
          <p:nvPr/>
        </p:nvSpPr>
        <p:spPr>
          <a:xfrm>
            <a:off x="4389120" y="249631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22" name="Text 20"/>
          <p:cNvSpPr/>
          <p:nvPr/>
        </p:nvSpPr>
        <p:spPr>
          <a:xfrm>
            <a:off x="4919472" y="243230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Keep source files compressed</a:t>
            </a:r>
            <a:endParaRPr lang="en-US" sz="1620" dirty="0"/>
          </a:p>
        </p:txBody>
      </p:sp>
      <p:sp>
        <p:nvSpPr>
          <p:cNvPr id="23" name="Shape 21"/>
          <p:cNvSpPr/>
          <p:nvPr/>
        </p:nvSpPr>
        <p:spPr>
          <a:xfrm>
            <a:off x="8275320" y="2468880"/>
            <a:ext cx="384048" cy="384048"/>
          </a:xfrm>
          <a:prstGeom prst="ellipse">
            <a:avLst/>
          </a:prstGeom>
          <a:solidFill>
            <a:srgbClr val="3A8D63"/>
          </a:solidFill>
          <a:ln w="12700">
            <a:solidFill>
              <a:srgbClr val="3A8D63">
                <a:alpha val="0"/>
              </a:srgbClr>
            </a:solidFill>
            <a:prstDash val="solid"/>
          </a:ln>
        </p:spPr>
      </p:sp>
      <p:sp>
        <p:nvSpPr>
          <p:cNvPr id="24" name="Text 22"/>
          <p:cNvSpPr/>
          <p:nvPr/>
        </p:nvSpPr>
        <p:spPr>
          <a:xfrm>
            <a:off x="8275320" y="249631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25" name="Text 23"/>
          <p:cNvSpPr/>
          <p:nvPr/>
        </p:nvSpPr>
        <p:spPr>
          <a:xfrm>
            <a:off x="8805672" y="243230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Prefer streaming over random I/O</a:t>
            </a:r>
            <a:endParaRPr lang="en-US" sz="1620" dirty="0"/>
          </a:p>
        </p:txBody>
      </p:sp>
      <p:sp>
        <p:nvSpPr>
          <p:cNvPr id="26" name="Shape 24"/>
          <p:cNvSpPr/>
          <p:nvPr/>
        </p:nvSpPr>
        <p:spPr>
          <a:xfrm>
            <a:off x="502920" y="3703320"/>
            <a:ext cx="384048" cy="384048"/>
          </a:xfrm>
          <a:prstGeom prst="ellipse">
            <a:avLst/>
          </a:prstGeom>
          <a:solidFill>
            <a:srgbClr val="3A8D63"/>
          </a:solidFill>
          <a:ln w="12700">
            <a:solidFill>
              <a:srgbClr val="3A8D63">
                <a:alpha val="0"/>
              </a:srgbClr>
            </a:solidFill>
            <a:prstDash val="solid"/>
          </a:ln>
        </p:spPr>
      </p:sp>
      <p:sp>
        <p:nvSpPr>
          <p:cNvPr id="27" name="Text 25"/>
          <p:cNvSpPr/>
          <p:nvPr/>
        </p:nvSpPr>
        <p:spPr>
          <a:xfrm>
            <a:off x="502920" y="373075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28" name="Text 26"/>
          <p:cNvSpPr/>
          <p:nvPr/>
        </p:nvSpPr>
        <p:spPr>
          <a:xfrm>
            <a:off x="1033272" y="366674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Use local scratch for active temporary work</a:t>
            </a:r>
            <a:endParaRPr lang="en-US" sz="1620" dirty="0"/>
          </a:p>
        </p:txBody>
      </p:sp>
      <p:sp>
        <p:nvSpPr>
          <p:cNvPr id="29" name="Shape 27"/>
          <p:cNvSpPr/>
          <p:nvPr/>
        </p:nvSpPr>
        <p:spPr>
          <a:xfrm>
            <a:off x="4389120" y="3703320"/>
            <a:ext cx="384048" cy="384048"/>
          </a:xfrm>
          <a:prstGeom prst="ellipse">
            <a:avLst/>
          </a:prstGeom>
          <a:solidFill>
            <a:srgbClr val="3A8D63"/>
          </a:solidFill>
          <a:ln w="12700">
            <a:solidFill>
              <a:srgbClr val="3A8D63">
                <a:alpha val="0"/>
              </a:srgbClr>
            </a:solidFill>
            <a:prstDash val="solid"/>
          </a:ln>
        </p:spPr>
      </p:sp>
      <p:sp>
        <p:nvSpPr>
          <p:cNvPr id="30" name="Text 28"/>
          <p:cNvSpPr/>
          <p:nvPr/>
        </p:nvSpPr>
        <p:spPr>
          <a:xfrm>
            <a:off x="4389120" y="373075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31" name="Text 29"/>
          <p:cNvSpPr/>
          <p:nvPr/>
        </p:nvSpPr>
        <p:spPr>
          <a:xfrm>
            <a:off x="4919472" y="366674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Control file and directory counts</a:t>
            </a:r>
            <a:endParaRPr lang="en-US" sz="1620" dirty="0"/>
          </a:p>
        </p:txBody>
      </p:sp>
      <p:sp>
        <p:nvSpPr>
          <p:cNvPr id="32" name="Shape 30"/>
          <p:cNvSpPr/>
          <p:nvPr/>
        </p:nvSpPr>
        <p:spPr>
          <a:xfrm>
            <a:off x="8275320" y="3703320"/>
            <a:ext cx="384048" cy="384048"/>
          </a:xfrm>
          <a:prstGeom prst="ellipse">
            <a:avLst/>
          </a:prstGeom>
          <a:solidFill>
            <a:srgbClr val="3A8D63"/>
          </a:solidFill>
          <a:ln w="12700">
            <a:solidFill>
              <a:srgbClr val="3A8D63">
                <a:alpha val="0"/>
              </a:srgbClr>
            </a:solidFill>
            <a:prstDash val="solid"/>
          </a:ln>
        </p:spPr>
      </p:sp>
      <p:sp>
        <p:nvSpPr>
          <p:cNvPr id="33" name="Text 31"/>
          <p:cNvSpPr/>
          <p:nvPr/>
        </p:nvSpPr>
        <p:spPr>
          <a:xfrm>
            <a:off x="8275320" y="3730752"/>
            <a:ext cx="384048" cy="27432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Liberation Sans" pitchFamily="34" charset="0"/>
                <a:ea typeface="Liberation Sans" pitchFamily="34" charset="-122"/>
                <a:cs typeface="Liberation Sans" pitchFamily="34" charset="-120"/>
              </a:rPr>
              <a:t>✓</a:t>
            </a:r>
            <a:endParaRPr lang="en-US" sz="1400" dirty="0"/>
          </a:p>
        </p:txBody>
      </p:sp>
      <p:sp>
        <p:nvSpPr>
          <p:cNvPr id="34" name="Text 32"/>
          <p:cNvSpPr/>
          <p:nvPr/>
        </p:nvSpPr>
        <p:spPr>
          <a:xfrm>
            <a:off x="8805672" y="3666744"/>
            <a:ext cx="3182112" cy="530352"/>
          </a:xfrm>
          <a:prstGeom prst="rect">
            <a:avLst/>
          </a:prstGeom>
          <a:noFill/>
          <a:ln/>
        </p:spPr>
        <p:txBody>
          <a:bodyPr wrap="square" lIns="0" tIns="0" rIns="0" bIns="0" rtlCol="0" anchor="ctr">
            <a:normAutofit/>
          </a:bodyPr>
          <a:lstStyle/>
          <a:p>
            <a:pPr algn="l" indent="0" marL="0">
              <a:buNone/>
            </a:pPr>
            <a:r>
              <a:rPr lang="en-US" sz="1620" b="1" dirty="0">
                <a:solidFill>
                  <a:srgbClr val="17324D"/>
                </a:solidFill>
                <a:latin typeface="Liberation Sans" pitchFamily="34" charset="0"/>
                <a:ea typeface="Liberation Sans" pitchFamily="34" charset="-122"/>
                <a:cs typeface="Liberation Sans" pitchFamily="34" charset="-120"/>
              </a:rPr>
              <a:t>Benchmark rules before full-scale launch</a:t>
            </a:r>
            <a:endParaRPr lang="en-US" sz="1620" dirty="0"/>
          </a:p>
        </p:txBody>
      </p:sp>
      <p:sp>
        <p:nvSpPr>
          <p:cNvPr id="35" name="Shape 33"/>
          <p:cNvSpPr/>
          <p:nvPr/>
        </p:nvSpPr>
        <p:spPr>
          <a:xfrm>
            <a:off x="1143000" y="5239512"/>
            <a:ext cx="9921240" cy="704088"/>
          </a:xfrm>
          <a:prstGeom prst="roundRect">
            <a:avLst/>
          </a:prstGeom>
          <a:solidFill>
            <a:srgbClr val="D15B47">
              <a:alpha val="8000"/>
            </a:srgbClr>
          </a:solidFill>
          <a:ln w="12700">
            <a:solidFill>
              <a:srgbClr val="D15B47">
                <a:alpha val="0"/>
              </a:srgbClr>
            </a:solidFill>
            <a:prstDash val="solid"/>
          </a:ln>
        </p:spPr>
      </p:sp>
      <p:sp>
        <p:nvSpPr>
          <p:cNvPr id="36" name="Text 34"/>
          <p:cNvSpPr/>
          <p:nvPr/>
        </p:nvSpPr>
        <p:spPr>
          <a:xfrm>
            <a:off x="1463040" y="5431536"/>
            <a:ext cx="9281160" cy="329184"/>
          </a:xfrm>
          <a:prstGeom prst="rect">
            <a:avLst/>
          </a:prstGeom>
          <a:noFill/>
          <a:ln/>
        </p:spPr>
        <p:txBody>
          <a:bodyPr wrap="square" lIns="0" tIns="0" rIns="0" bIns="0" rtlCol="0" anchor="ctr">
            <a:normAutofit/>
          </a:bodyPr>
          <a:lstStyle/>
          <a:p>
            <a:pPr algn="ctr" indent="0" marL="0">
              <a:buNone/>
            </a:pPr>
            <a:r>
              <a:rPr lang="en-US" sz="1900" b="1" dirty="0">
                <a:solidFill>
                  <a:srgbClr val="D15B47"/>
                </a:solidFill>
                <a:latin typeface="Liberation Sans" pitchFamily="34" charset="0"/>
                <a:ea typeface="Liberation Sans" pitchFamily="34" charset="-122"/>
                <a:cs typeface="Liberation Sans" pitchFamily="34" charset="-120"/>
              </a:rPr>
              <a:t>Bad structure scales into bad runtime: hours can become months.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eratio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eratio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Institute for AI in Medicine, University Hospital Essen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RCC Onboarding Part 3: Performance and efficient I/O</dc:title>
  <dc:subject>Match CPU, GPU, memory, storage, and data movement to the scientific workload.</dc:subject>
  <dc:creator>RCC / IKIM Essen</dc:creator>
  <cp:lastModifiedBy>RCC / IKIM Essen</cp:lastModifiedBy>
  <cp:revision>1</cp:revision>
  <dcterms:created xsi:type="dcterms:W3CDTF">2026-07-11T21:46:00Z</dcterms:created>
  <dcterms:modified xsi:type="dcterms:W3CDTF">2026-07-11T21:46:00Z</dcterms:modified>
</cp:coreProperties>
</file>